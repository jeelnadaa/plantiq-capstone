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66" r:id="rId5"/>
    <p:sldId id="263" r:id="rId6"/>
    <p:sldId id="265" r:id="rId7"/>
    <p:sldId id="260" r:id="rId8"/>
    <p:sldId id="267" r:id="rId9"/>
    <p:sldId id="261" r:id="rId10"/>
    <p:sldId id="268" r:id="rId11"/>
    <p:sldId id="262" r:id="rId12"/>
    <p:sldId id="271" r:id="rId13"/>
    <p:sldId id="270" r:id="rId14"/>
  </p:sldIdLst>
  <p:sldSz cx="14630400" cy="8229600"/>
  <p:notesSz cx="8229600" cy="146304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DFBF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0" d="100"/>
          <a:sy n="80" d="100"/>
        </p:scale>
        <p:origin x="580" y="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4440777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A6BEF3-9263-C129-2EE6-ACF2804AAD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007C55F-B4CC-4DAA-5404-BE80B363699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2F0E998-B183-6C76-00E1-79412527F3F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0A5051F-808A-900F-2F70-7D230A27550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817452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6DED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DFBF7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6DED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DFBF7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6DED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DFBF7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6DED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DFBF7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6DED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DFBF7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6DED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DFBF7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6DED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DFBF7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6DED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DFBF7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6DED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DFBF7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6DED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DFBF7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1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6DED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DFBF7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2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6DED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DFBF7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3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6DED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DFBF7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4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6DED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DFBF7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5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6DED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DFBF7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9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4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8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7" Type="http://schemas.openxmlformats.org/officeDocument/2006/relationships/image" Target="../media/image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4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807012"/>
            <a:ext cx="7386638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3A3A3A"/>
                </a:solidFill>
                <a:latin typeface="Satoshi" pitchFamily="50" charset="0"/>
                <a:ea typeface="Noto Serif Medium" pitchFamily="34" charset="-122"/>
                <a:cs typeface="Noto Serif Medium" pitchFamily="34" charset="-120"/>
              </a:rPr>
              <a:t>Project Progress Review #2</a:t>
            </a:r>
            <a:endParaRPr lang="en-US" sz="4450" b="1" dirty="0">
              <a:latin typeface="Satoshi" pitchFamily="50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793790" y="2969419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C4C4C"/>
                </a:solidFill>
                <a:highlight>
                  <a:srgbClr val="F0EEEA"/>
                </a:highlight>
                <a:latin typeface="Satoshi" pitchFamily="50" charset="0"/>
                <a:ea typeface="Consolas" pitchFamily="34" charset="-122"/>
                <a:cs typeface="Consolas" pitchFamily="34" charset="-120"/>
              </a:rPr>
              <a:t>UE23CS320B</a:t>
            </a:r>
            <a:r>
              <a:rPr lang="en-US" sz="1750" dirty="0">
                <a:solidFill>
                  <a:srgbClr val="4C4C4C"/>
                </a:solidFill>
                <a:latin typeface="Satoshi" pitchFamily="50" charset="0"/>
                <a:ea typeface="Noto Serif" pitchFamily="34" charset="-122"/>
                <a:cs typeface="Noto Serif" pitchFamily="34" charset="-120"/>
              </a:rPr>
              <a:t> – Capstone Project Phase – 2</a:t>
            </a:r>
            <a:endParaRPr lang="en-US" sz="1750" dirty="0">
              <a:latin typeface="Satoshi" pitchFamily="50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793790" y="3587472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C4C4C"/>
                </a:solidFill>
                <a:latin typeface="Satoshi" pitchFamily="50" charset="0"/>
                <a:ea typeface="Noto Serif" pitchFamily="34" charset="-122"/>
                <a:cs typeface="Noto Serif" pitchFamily="34" charset="-120"/>
              </a:rPr>
              <a:t>Project Title: PlantIQ – AI-Driven Platform for Coffee Farmers</a:t>
            </a:r>
            <a:endParaRPr lang="en-US" sz="1750" dirty="0">
              <a:latin typeface="Satoshi" pitchFamily="50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793790" y="4205526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C4C4C"/>
                </a:solidFill>
                <a:latin typeface="Satoshi" pitchFamily="50" charset="0"/>
                <a:ea typeface="Noto Serif" pitchFamily="34" charset="-122"/>
                <a:cs typeface="Noto Serif" pitchFamily="34" charset="-120"/>
              </a:rPr>
              <a:t>Project Guide: Prof. Deepti C</a:t>
            </a:r>
            <a:endParaRPr lang="en-US" sz="1750" dirty="0">
              <a:latin typeface="Satoshi" pitchFamily="50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793790" y="4823579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C4C4C"/>
                </a:solidFill>
                <a:latin typeface="Satoshi" pitchFamily="50" charset="0"/>
                <a:ea typeface="Noto Serif" pitchFamily="34" charset="-122"/>
                <a:cs typeface="Noto Serif" pitchFamily="34" charset="-120"/>
              </a:rPr>
              <a:t>Project Team:  Jeel Nada : PES2UG23CS357</a:t>
            </a:r>
            <a:endParaRPr lang="en-US" sz="1750" dirty="0">
              <a:latin typeface="Satoshi" pitchFamily="50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658617" y="5186482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C4C4C"/>
                </a:solidFill>
                <a:latin typeface="Satoshi" pitchFamily="50" charset="0"/>
                <a:ea typeface="Noto Serif" pitchFamily="34" charset="-122"/>
                <a:cs typeface="Noto Serif" pitchFamily="34" charset="-120"/>
              </a:rPr>
              <a:t>                          Nidhi N : PES2UG23CS384</a:t>
            </a:r>
            <a:endParaRPr lang="en-US" sz="1750" dirty="0">
              <a:latin typeface="Satoshi" pitchFamily="50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658616" y="5549385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C4C4C"/>
                </a:solidFill>
                <a:latin typeface="Satoshi" pitchFamily="50" charset="0"/>
                <a:ea typeface="Noto Serif" pitchFamily="34" charset="-122"/>
                <a:cs typeface="Noto Serif" pitchFamily="34" charset="-120"/>
              </a:rPr>
              <a:t>                          Mohammed Ayaan : PES2UG23AM058</a:t>
            </a:r>
            <a:endParaRPr lang="en-US" sz="1750" dirty="0">
              <a:latin typeface="Satoshi" pitchFamily="50" charset="0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4C77395-1627-BD76-724B-AEF35FE4FA03}"/>
              </a:ext>
            </a:extLst>
          </p:cNvPr>
          <p:cNvSpPr/>
          <p:nvPr/>
        </p:nvSpPr>
        <p:spPr>
          <a:xfrm>
            <a:off x="12833405" y="7776376"/>
            <a:ext cx="1709531" cy="362903"/>
          </a:xfrm>
          <a:prstGeom prst="rect">
            <a:avLst/>
          </a:prstGeom>
          <a:solidFill>
            <a:srgbClr val="FDFBF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D9A5AF4E-7248-3392-1F88-AFFB2340B91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658450" y="0"/>
            <a:ext cx="1971950" cy="838317"/>
          </a:xfrm>
          <a:prstGeom prst="rect">
            <a:avLst/>
          </a:prstGeom>
        </p:spPr>
      </p:pic>
    </p:spTree>
  </p:cSld>
  <p:clrMapOvr>
    <a:masterClrMapping/>
  </p:clrMapOvr>
  <p:transition spd="slow">
    <p:cover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984647"/>
            <a:ext cx="4536519" cy="5669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450"/>
              </a:lnSpc>
              <a:buNone/>
            </a:pPr>
            <a:r>
              <a:rPr lang="en-US" sz="3550" b="1" dirty="0">
                <a:solidFill>
                  <a:srgbClr val="3A3A3A"/>
                </a:solidFill>
                <a:latin typeface="Satoshi" pitchFamily="50" charset="0"/>
                <a:ea typeface="Noto Serif Medium" pitchFamily="34" charset="-122"/>
                <a:cs typeface="Noto Serif Medium" pitchFamily="34" charset="-120"/>
              </a:rPr>
              <a:t>Project Objectives</a:t>
            </a:r>
            <a:endParaRPr lang="en-US" sz="3550" b="1" dirty="0">
              <a:latin typeface="Satoshi" pitchFamily="50" charset="0"/>
            </a:endParaRPr>
          </a:p>
        </p:txBody>
      </p:sp>
      <p:sp>
        <p:nvSpPr>
          <p:cNvPr id="3" name="Shape 1"/>
          <p:cNvSpPr/>
          <p:nvPr/>
        </p:nvSpPr>
        <p:spPr>
          <a:xfrm>
            <a:off x="793790" y="1841897"/>
            <a:ext cx="13042821" cy="1362908"/>
          </a:xfrm>
          <a:prstGeom prst="roundRect">
            <a:avLst>
              <a:gd name="adj" fmla="val 5592"/>
            </a:avLst>
          </a:prstGeom>
          <a:solidFill>
            <a:srgbClr val="DDDAD4"/>
          </a:solidFill>
          <a:ln/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5241" y="2062520"/>
            <a:ext cx="283488" cy="22681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440180" y="2032397"/>
            <a:ext cx="2268260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50" b="1" dirty="0">
                <a:solidFill>
                  <a:srgbClr val="000000"/>
                </a:solidFill>
                <a:latin typeface="Satoshi" pitchFamily="50" charset="0"/>
                <a:ea typeface="Noto Serif Medium" pitchFamily="34" charset="-122"/>
                <a:cs typeface="Noto Serif Medium" pitchFamily="34" charset="-120"/>
              </a:rPr>
              <a:t>Primary Objective</a:t>
            </a:r>
            <a:endParaRPr lang="en-US" sz="1750" b="1" dirty="0">
              <a:latin typeface="Satoshi" pitchFamily="50" charset="0"/>
            </a:endParaRPr>
          </a:p>
        </p:txBody>
      </p:sp>
      <p:sp>
        <p:nvSpPr>
          <p:cNvPr id="6" name="Text 3"/>
          <p:cNvSpPr/>
          <p:nvPr/>
        </p:nvSpPr>
        <p:spPr>
          <a:xfrm>
            <a:off x="1440180" y="2461022"/>
            <a:ext cx="12214979" cy="5224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Satoshi" pitchFamily="50" charset="0"/>
                <a:ea typeface="Noto Serif" pitchFamily="34" charset="-122"/>
                <a:cs typeface="Noto Serif" pitchFamily="34" charset="-120"/>
              </a:rPr>
              <a:t>Develop an AI-driven platform (PlantIQ) that assists coffee farmers in disease detection, intelligent advisory, and direct market access, improving productivity and profitability.</a:t>
            </a:r>
            <a:endParaRPr lang="en-US" sz="1400" dirty="0">
              <a:latin typeface="Satoshi" pitchFamily="50" charset="0"/>
            </a:endParaRPr>
          </a:p>
        </p:txBody>
      </p:sp>
      <p:sp>
        <p:nvSpPr>
          <p:cNvPr id="7" name="Text 4"/>
          <p:cNvSpPr/>
          <p:nvPr/>
        </p:nvSpPr>
        <p:spPr>
          <a:xfrm>
            <a:off x="793790" y="3422452"/>
            <a:ext cx="3629144" cy="4536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550"/>
              </a:lnSpc>
              <a:buNone/>
            </a:pPr>
            <a:r>
              <a:rPr lang="en-US" sz="2850" b="1" dirty="0">
                <a:solidFill>
                  <a:srgbClr val="3A3A3A"/>
                </a:solidFill>
                <a:latin typeface="Satoshi" pitchFamily="50" charset="0"/>
                <a:ea typeface="Noto Serif Medium" pitchFamily="34" charset="-122"/>
                <a:cs typeface="Noto Serif Medium" pitchFamily="34" charset="-120"/>
              </a:rPr>
              <a:t>Specific Objectives</a:t>
            </a:r>
            <a:endParaRPr lang="en-US" sz="2850" b="1" dirty="0">
              <a:latin typeface="Satoshi" pitchFamily="50" charset="0"/>
            </a:endParaRPr>
          </a:p>
        </p:txBody>
      </p:sp>
      <p:sp>
        <p:nvSpPr>
          <p:cNvPr id="8" name="Shape 5"/>
          <p:cNvSpPr/>
          <p:nvPr/>
        </p:nvSpPr>
        <p:spPr>
          <a:xfrm>
            <a:off x="793790" y="4297799"/>
            <a:ext cx="13042821" cy="22860"/>
          </a:xfrm>
          <a:prstGeom prst="roundRect">
            <a:avLst>
              <a:gd name="adj" fmla="val 333395"/>
            </a:avLst>
          </a:prstGeom>
          <a:solidFill>
            <a:srgbClr val="000000">
              <a:alpha val="8000"/>
            </a:srgbClr>
          </a:solidFill>
          <a:ln/>
        </p:spPr>
      </p:sp>
      <p:sp>
        <p:nvSpPr>
          <p:cNvPr id="9" name="Shape 6"/>
          <p:cNvSpPr/>
          <p:nvPr/>
        </p:nvSpPr>
        <p:spPr>
          <a:xfrm>
            <a:off x="1793438" y="4297740"/>
            <a:ext cx="22860" cy="544354"/>
          </a:xfrm>
          <a:prstGeom prst="roundRect">
            <a:avLst>
              <a:gd name="adj" fmla="val 333395"/>
            </a:avLst>
          </a:prstGeom>
          <a:solidFill>
            <a:srgbClr val="CCC4B8"/>
          </a:solidFill>
          <a:ln/>
        </p:spPr>
      </p:sp>
      <p:sp>
        <p:nvSpPr>
          <p:cNvPr id="10" name="Shape 7"/>
          <p:cNvSpPr/>
          <p:nvPr/>
        </p:nvSpPr>
        <p:spPr>
          <a:xfrm>
            <a:off x="1600795" y="4093666"/>
            <a:ext cx="408265" cy="408265"/>
          </a:xfrm>
          <a:prstGeom prst="roundRect">
            <a:avLst>
              <a:gd name="adj" fmla="val 18668"/>
            </a:avLst>
          </a:prstGeom>
          <a:solidFill>
            <a:srgbClr val="E6DED2">
              <a:alpha val="50000"/>
            </a:srgbClr>
          </a:solidFill>
          <a:ln w="7620">
            <a:solidFill>
              <a:srgbClr val="CCC4B8"/>
            </a:solidFill>
            <a:prstDash val="solid"/>
          </a:ln>
          <a:effectLst>
            <a:outerShdw dist="22860" dir="2700000" algn="bl" rotWithShape="0">
              <a:srgbClr val="CCC4B8">
                <a:alpha val="100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1668780" y="4127659"/>
            <a:ext cx="272177" cy="3401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2100" dirty="0">
                <a:solidFill>
                  <a:srgbClr val="000000"/>
                </a:solidFill>
                <a:latin typeface="Satoshi" pitchFamily="50" charset="0"/>
                <a:ea typeface="Noto Serif Medium" pitchFamily="34" charset="-122"/>
                <a:cs typeface="Noto Serif Medium" pitchFamily="34" charset="-120"/>
              </a:rPr>
              <a:t>1</a:t>
            </a:r>
            <a:endParaRPr lang="en-US" sz="2100" dirty="0">
              <a:latin typeface="Satoshi" pitchFamily="50" charset="0"/>
            </a:endParaRPr>
          </a:p>
        </p:txBody>
      </p:sp>
      <p:sp>
        <p:nvSpPr>
          <p:cNvPr id="12" name="Text 9"/>
          <p:cNvSpPr/>
          <p:nvPr/>
        </p:nvSpPr>
        <p:spPr>
          <a:xfrm>
            <a:off x="975241" y="5023604"/>
            <a:ext cx="1659612" cy="566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200"/>
              </a:lnSpc>
              <a:buNone/>
            </a:pPr>
            <a:r>
              <a:rPr lang="en-US" sz="1750" dirty="0">
                <a:solidFill>
                  <a:srgbClr val="4C4C4C"/>
                </a:solidFill>
                <a:latin typeface="Satoshi" pitchFamily="50" charset="0"/>
                <a:ea typeface="Noto Serif Medium" pitchFamily="34" charset="-122"/>
                <a:cs typeface="Noto Serif Medium" pitchFamily="34" charset="-120"/>
              </a:rPr>
              <a:t>Disease Detection</a:t>
            </a:r>
            <a:endParaRPr lang="en-US" sz="1750" dirty="0">
              <a:latin typeface="Satoshi" pitchFamily="50" charset="0"/>
            </a:endParaRPr>
          </a:p>
        </p:txBody>
      </p:sp>
      <p:sp>
        <p:nvSpPr>
          <p:cNvPr id="13" name="Text 10"/>
          <p:cNvSpPr/>
          <p:nvPr/>
        </p:nvSpPr>
        <p:spPr>
          <a:xfrm>
            <a:off x="975241" y="5677614"/>
            <a:ext cx="1659612" cy="15673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050"/>
              </a:lnSpc>
              <a:buNone/>
            </a:pPr>
            <a:r>
              <a:rPr lang="en-US" sz="1400" dirty="0">
                <a:solidFill>
                  <a:srgbClr val="4C4C4C"/>
                </a:solidFill>
                <a:latin typeface="Satoshi" pitchFamily="50" charset="0"/>
                <a:ea typeface="Noto Serif" pitchFamily="34" charset="-122"/>
                <a:cs typeface="Noto Serif" pitchFamily="34" charset="-120"/>
              </a:rPr>
              <a:t>Detect coffee leaf diseases using CNN (ResNet50) architecture for accurate image classification</a:t>
            </a:r>
            <a:endParaRPr lang="en-US" sz="1400" dirty="0">
              <a:latin typeface="Satoshi" pitchFamily="50" charset="0"/>
            </a:endParaRPr>
          </a:p>
        </p:txBody>
      </p:sp>
      <p:sp>
        <p:nvSpPr>
          <p:cNvPr id="14" name="Shape 11"/>
          <p:cNvSpPr/>
          <p:nvPr/>
        </p:nvSpPr>
        <p:spPr>
          <a:xfrm>
            <a:off x="3997523" y="4297740"/>
            <a:ext cx="22860" cy="544354"/>
          </a:xfrm>
          <a:prstGeom prst="roundRect">
            <a:avLst>
              <a:gd name="adj" fmla="val 333395"/>
            </a:avLst>
          </a:prstGeom>
          <a:solidFill>
            <a:srgbClr val="CCC4B8"/>
          </a:solidFill>
          <a:ln/>
        </p:spPr>
      </p:sp>
      <p:sp>
        <p:nvSpPr>
          <p:cNvPr id="15" name="Shape 12"/>
          <p:cNvSpPr/>
          <p:nvPr/>
        </p:nvSpPr>
        <p:spPr>
          <a:xfrm>
            <a:off x="3804880" y="4093666"/>
            <a:ext cx="408265" cy="408265"/>
          </a:xfrm>
          <a:prstGeom prst="roundRect">
            <a:avLst>
              <a:gd name="adj" fmla="val 18668"/>
            </a:avLst>
          </a:prstGeom>
          <a:solidFill>
            <a:srgbClr val="E6DED2">
              <a:alpha val="50000"/>
            </a:srgbClr>
          </a:solidFill>
          <a:ln w="7620">
            <a:solidFill>
              <a:srgbClr val="CCC4B8"/>
            </a:solidFill>
            <a:prstDash val="solid"/>
          </a:ln>
          <a:effectLst>
            <a:outerShdw dist="22860" dir="2700000" algn="bl" rotWithShape="0">
              <a:srgbClr val="CCC4B8">
                <a:alpha val="100000"/>
              </a:srgbClr>
            </a:outerShdw>
          </a:effectLst>
        </p:spPr>
      </p:sp>
      <p:sp>
        <p:nvSpPr>
          <p:cNvPr id="16" name="Text 13"/>
          <p:cNvSpPr/>
          <p:nvPr/>
        </p:nvSpPr>
        <p:spPr>
          <a:xfrm>
            <a:off x="3872865" y="4127659"/>
            <a:ext cx="272177" cy="3401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2100" dirty="0">
                <a:solidFill>
                  <a:srgbClr val="000000"/>
                </a:solidFill>
                <a:latin typeface="Satoshi" pitchFamily="50" charset="0"/>
                <a:ea typeface="Noto Serif Medium" pitchFamily="34" charset="-122"/>
                <a:cs typeface="Noto Serif Medium" pitchFamily="34" charset="-120"/>
              </a:rPr>
              <a:t>2</a:t>
            </a:r>
            <a:endParaRPr lang="en-US" sz="2100" dirty="0">
              <a:latin typeface="Satoshi" pitchFamily="50" charset="0"/>
            </a:endParaRPr>
          </a:p>
        </p:txBody>
      </p:sp>
      <p:sp>
        <p:nvSpPr>
          <p:cNvPr id="17" name="Text 14"/>
          <p:cNvSpPr/>
          <p:nvPr/>
        </p:nvSpPr>
        <p:spPr>
          <a:xfrm>
            <a:off x="3179207" y="5023604"/>
            <a:ext cx="1659731" cy="566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200"/>
              </a:lnSpc>
              <a:buNone/>
            </a:pPr>
            <a:r>
              <a:rPr lang="en-US" sz="1750" dirty="0">
                <a:solidFill>
                  <a:srgbClr val="4C4C4C"/>
                </a:solidFill>
                <a:latin typeface="Satoshi" pitchFamily="50" charset="0"/>
                <a:ea typeface="Noto Serif Medium" pitchFamily="34" charset="-122"/>
                <a:cs typeface="Noto Serif Medium" pitchFamily="34" charset="-120"/>
              </a:rPr>
              <a:t>AI Advisory System</a:t>
            </a:r>
            <a:endParaRPr lang="en-US" sz="1750" dirty="0">
              <a:latin typeface="Satoshi" pitchFamily="50" charset="0"/>
            </a:endParaRPr>
          </a:p>
        </p:txBody>
      </p:sp>
      <p:sp>
        <p:nvSpPr>
          <p:cNvPr id="18" name="Text 15"/>
          <p:cNvSpPr/>
          <p:nvPr/>
        </p:nvSpPr>
        <p:spPr>
          <a:xfrm>
            <a:off x="3179207" y="5677614"/>
            <a:ext cx="1659731" cy="13061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050"/>
              </a:lnSpc>
              <a:buNone/>
            </a:pPr>
            <a:r>
              <a:rPr lang="en-US" sz="1400" dirty="0">
                <a:solidFill>
                  <a:srgbClr val="4C4C4C"/>
                </a:solidFill>
                <a:latin typeface="Satoshi" pitchFamily="50" charset="0"/>
                <a:ea typeface="Noto Serif" pitchFamily="34" charset="-122"/>
                <a:cs typeface="Noto Serif" pitchFamily="34" charset="-120"/>
              </a:rPr>
              <a:t>Provide intelligent, context-aware advisory using RAG + Knowledge Graph integration</a:t>
            </a:r>
            <a:endParaRPr lang="en-US" sz="1400" dirty="0">
              <a:latin typeface="Satoshi" pitchFamily="50" charset="0"/>
            </a:endParaRPr>
          </a:p>
        </p:txBody>
      </p:sp>
      <p:sp>
        <p:nvSpPr>
          <p:cNvPr id="19" name="Shape 16"/>
          <p:cNvSpPr/>
          <p:nvPr/>
        </p:nvSpPr>
        <p:spPr>
          <a:xfrm>
            <a:off x="6201608" y="4297740"/>
            <a:ext cx="22860" cy="544354"/>
          </a:xfrm>
          <a:prstGeom prst="roundRect">
            <a:avLst>
              <a:gd name="adj" fmla="val 333395"/>
            </a:avLst>
          </a:prstGeom>
          <a:solidFill>
            <a:srgbClr val="CCC4B8"/>
          </a:solidFill>
          <a:ln/>
        </p:spPr>
      </p:sp>
      <p:sp>
        <p:nvSpPr>
          <p:cNvPr id="20" name="Shape 17"/>
          <p:cNvSpPr/>
          <p:nvPr/>
        </p:nvSpPr>
        <p:spPr>
          <a:xfrm>
            <a:off x="6008965" y="4093666"/>
            <a:ext cx="408265" cy="408265"/>
          </a:xfrm>
          <a:prstGeom prst="roundRect">
            <a:avLst>
              <a:gd name="adj" fmla="val 18668"/>
            </a:avLst>
          </a:prstGeom>
          <a:solidFill>
            <a:srgbClr val="E6DED2">
              <a:alpha val="50000"/>
            </a:srgbClr>
          </a:solidFill>
          <a:ln w="7620">
            <a:solidFill>
              <a:srgbClr val="CCC4B8"/>
            </a:solidFill>
            <a:prstDash val="solid"/>
          </a:ln>
          <a:effectLst>
            <a:outerShdw dist="22860" dir="2700000" algn="bl" rotWithShape="0">
              <a:srgbClr val="CCC4B8">
                <a:alpha val="100000"/>
              </a:srgbClr>
            </a:outerShdw>
          </a:effectLst>
        </p:spPr>
      </p:sp>
      <p:sp>
        <p:nvSpPr>
          <p:cNvPr id="21" name="Text 18"/>
          <p:cNvSpPr/>
          <p:nvPr/>
        </p:nvSpPr>
        <p:spPr>
          <a:xfrm>
            <a:off x="6076950" y="4127659"/>
            <a:ext cx="272177" cy="3401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2100" dirty="0">
                <a:solidFill>
                  <a:srgbClr val="000000"/>
                </a:solidFill>
                <a:latin typeface="Satoshi" pitchFamily="50" charset="0"/>
                <a:ea typeface="Noto Serif Medium" pitchFamily="34" charset="-122"/>
                <a:cs typeface="Noto Serif Medium" pitchFamily="34" charset="-120"/>
              </a:rPr>
              <a:t>3</a:t>
            </a:r>
            <a:endParaRPr lang="en-US" sz="2100" dirty="0">
              <a:latin typeface="Satoshi" pitchFamily="50" charset="0"/>
            </a:endParaRPr>
          </a:p>
        </p:txBody>
      </p:sp>
      <p:sp>
        <p:nvSpPr>
          <p:cNvPr id="22" name="Text 19"/>
          <p:cNvSpPr/>
          <p:nvPr/>
        </p:nvSpPr>
        <p:spPr>
          <a:xfrm>
            <a:off x="5383292" y="5023604"/>
            <a:ext cx="1659731" cy="566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200"/>
              </a:lnSpc>
              <a:buNone/>
            </a:pPr>
            <a:r>
              <a:rPr lang="en-US" sz="1750" dirty="0">
                <a:solidFill>
                  <a:srgbClr val="4C4C4C"/>
                </a:solidFill>
                <a:latin typeface="Satoshi" pitchFamily="50" charset="0"/>
                <a:ea typeface="Noto Serif Medium" pitchFamily="34" charset="-122"/>
                <a:cs typeface="Noto Serif Medium" pitchFamily="34" charset="-120"/>
              </a:rPr>
              <a:t>Multilingual Chatbot</a:t>
            </a:r>
            <a:endParaRPr lang="en-US" sz="1750" dirty="0">
              <a:latin typeface="Satoshi" pitchFamily="50" charset="0"/>
            </a:endParaRPr>
          </a:p>
        </p:txBody>
      </p:sp>
      <p:sp>
        <p:nvSpPr>
          <p:cNvPr id="23" name="Text 20"/>
          <p:cNvSpPr/>
          <p:nvPr/>
        </p:nvSpPr>
        <p:spPr>
          <a:xfrm>
            <a:off x="5383292" y="5677614"/>
            <a:ext cx="1659731" cy="13061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050"/>
              </a:lnSpc>
              <a:buNone/>
            </a:pPr>
            <a:r>
              <a:rPr lang="en-US" sz="1400" dirty="0">
                <a:solidFill>
                  <a:srgbClr val="4C4C4C"/>
                </a:solidFill>
                <a:latin typeface="Satoshi" pitchFamily="50" charset="0"/>
                <a:ea typeface="Noto Serif" pitchFamily="34" charset="-122"/>
                <a:cs typeface="Noto Serif" pitchFamily="34" charset="-120"/>
              </a:rPr>
              <a:t>Enable voice-enabled chatbot supporting English and Kannada for accessibility</a:t>
            </a:r>
            <a:endParaRPr lang="en-US" sz="1400" dirty="0">
              <a:latin typeface="Satoshi" pitchFamily="50" charset="0"/>
            </a:endParaRPr>
          </a:p>
        </p:txBody>
      </p:sp>
      <p:sp>
        <p:nvSpPr>
          <p:cNvPr id="24" name="Shape 21"/>
          <p:cNvSpPr/>
          <p:nvPr/>
        </p:nvSpPr>
        <p:spPr>
          <a:xfrm>
            <a:off x="8405574" y="4297740"/>
            <a:ext cx="22860" cy="544354"/>
          </a:xfrm>
          <a:prstGeom prst="roundRect">
            <a:avLst>
              <a:gd name="adj" fmla="val 333395"/>
            </a:avLst>
          </a:prstGeom>
          <a:solidFill>
            <a:srgbClr val="CCC4B8"/>
          </a:solidFill>
          <a:ln/>
        </p:spPr>
      </p:sp>
      <p:sp>
        <p:nvSpPr>
          <p:cNvPr id="25" name="Shape 22"/>
          <p:cNvSpPr/>
          <p:nvPr/>
        </p:nvSpPr>
        <p:spPr>
          <a:xfrm>
            <a:off x="8212931" y="4093666"/>
            <a:ext cx="408265" cy="408265"/>
          </a:xfrm>
          <a:prstGeom prst="roundRect">
            <a:avLst>
              <a:gd name="adj" fmla="val 18668"/>
            </a:avLst>
          </a:prstGeom>
          <a:solidFill>
            <a:srgbClr val="E6DED2">
              <a:alpha val="50000"/>
            </a:srgbClr>
          </a:solidFill>
          <a:ln w="7620">
            <a:solidFill>
              <a:srgbClr val="CCC4B8"/>
            </a:solidFill>
            <a:prstDash val="solid"/>
          </a:ln>
          <a:effectLst>
            <a:outerShdw dist="22860" dir="2700000" algn="bl" rotWithShape="0">
              <a:srgbClr val="CCC4B8">
                <a:alpha val="100000"/>
              </a:srgbClr>
            </a:outerShdw>
          </a:effectLst>
        </p:spPr>
      </p:sp>
      <p:sp>
        <p:nvSpPr>
          <p:cNvPr id="26" name="Text 23"/>
          <p:cNvSpPr/>
          <p:nvPr/>
        </p:nvSpPr>
        <p:spPr>
          <a:xfrm>
            <a:off x="8280916" y="4127659"/>
            <a:ext cx="272177" cy="3401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2100" dirty="0">
                <a:solidFill>
                  <a:srgbClr val="000000"/>
                </a:solidFill>
                <a:latin typeface="Satoshi" pitchFamily="50" charset="0"/>
                <a:ea typeface="Noto Serif Medium" pitchFamily="34" charset="-122"/>
                <a:cs typeface="Noto Serif Medium" pitchFamily="34" charset="-120"/>
              </a:rPr>
              <a:t>4</a:t>
            </a:r>
            <a:endParaRPr lang="en-US" sz="2100" dirty="0">
              <a:latin typeface="Satoshi" pitchFamily="50" charset="0"/>
            </a:endParaRPr>
          </a:p>
        </p:txBody>
      </p:sp>
      <p:sp>
        <p:nvSpPr>
          <p:cNvPr id="27" name="Text 24"/>
          <p:cNvSpPr/>
          <p:nvPr/>
        </p:nvSpPr>
        <p:spPr>
          <a:xfrm>
            <a:off x="7587377" y="5023604"/>
            <a:ext cx="1659612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200"/>
              </a:lnSpc>
              <a:buNone/>
            </a:pPr>
            <a:r>
              <a:rPr lang="en-US" sz="1750" dirty="0">
                <a:solidFill>
                  <a:srgbClr val="4C4C4C"/>
                </a:solidFill>
                <a:latin typeface="Satoshi" pitchFamily="50" charset="0"/>
                <a:ea typeface="Noto Serif Medium" pitchFamily="34" charset="-122"/>
                <a:cs typeface="Noto Serif Medium" pitchFamily="34" charset="-120"/>
              </a:rPr>
              <a:t>Market Access</a:t>
            </a:r>
            <a:endParaRPr lang="en-US" sz="1750" dirty="0">
              <a:latin typeface="Satoshi" pitchFamily="50" charset="0"/>
            </a:endParaRPr>
          </a:p>
        </p:txBody>
      </p:sp>
      <p:sp>
        <p:nvSpPr>
          <p:cNvPr id="28" name="Text 25"/>
          <p:cNvSpPr/>
          <p:nvPr/>
        </p:nvSpPr>
        <p:spPr>
          <a:xfrm>
            <a:off x="7587377" y="5394127"/>
            <a:ext cx="1659612" cy="13061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050"/>
              </a:lnSpc>
              <a:buNone/>
            </a:pPr>
            <a:r>
              <a:rPr lang="en-US" sz="1400" dirty="0">
                <a:solidFill>
                  <a:srgbClr val="4C4C4C"/>
                </a:solidFill>
                <a:latin typeface="Satoshi" pitchFamily="50" charset="0"/>
                <a:ea typeface="Noto Serif" pitchFamily="34" charset="-122"/>
                <a:cs typeface="Noto Serif" pitchFamily="34" charset="-120"/>
              </a:rPr>
              <a:t>Allow farmers to list and sell coffee produce directly, bypassing intermediaries</a:t>
            </a:r>
            <a:endParaRPr lang="en-US" sz="1400" dirty="0">
              <a:latin typeface="Satoshi" pitchFamily="50" charset="0"/>
            </a:endParaRPr>
          </a:p>
        </p:txBody>
      </p:sp>
      <p:sp>
        <p:nvSpPr>
          <p:cNvPr id="29" name="Shape 26"/>
          <p:cNvSpPr/>
          <p:nvPr/>
        </p:nvSpPr>
        <p:spPr>
          <a:xfrm>
            <a:off x="10609659" y="4297740"/>
            <a:ext cx="22860" cy="544354"/>
          </a:xfrm>
          <a:prstGeom prst="roundRect">
            <a:avLst>
              <a:gd name="adj" fmla="val 333395"/>
            </a:avLst>
          </a:prstGeom>
          <a:solidFill>
            <a:srgbClr val="CCC4B8"/>
          </a:solidFill>
          <a:ln/>
        </p:spPr>
      </p:sp>
      <p:sp>
        <p:nvSpPr>
          <p:cNvPr id="30" name="Shape 27"/>
          <p:cNvSpPr/>
          <p:nvPr/>
        </p:nvSpPr>
        <p:spPr>
          <a:xfrm>
            <a:off x="10417016" y="4093666"/>
            <a:ext cx="408265" cy="408265"/>
          </a:xfrm>
          <a:prstGeom prst="roundRect">
            <a:avLst>
              <a:gd name="adj" fmla="val 18668"/>
            </a:avLst>
          </a:prstGeom>
          <a:solidFill>
            <a:srgbClr val="E6DED2">
              <a:alpha val="50000"/>
            </a:srgbClr>
          </a:solidFill>
          <a:ln w="7620">
            <a:solidFill>
              <a:srgbClr val="CCC4B8"/>
            </a:solidFill>
            <a:prstDash val="solid"/>
          </a:ln>
          <a:effectLst>
            <a:outerShdw dist="22860" dir="2700000" algn="bl" rotWithShape="0">
              <a:srgbClr val="CCC4B8">
                <a:alpha val="100000"/>
              </a:srgbClr>
            </a:outerShdw>
          </a:effectLst>
        </p:spPr>
      </p:sp>
      <p:sp>
        <p:nvSpPr>
          <p:cNvPr id="31" name="Text 28"/>
          <p:cNvSpPr/>
          <p:nvPr/>
        </p:nvSpPr>
        <p:spPr>
          <a:xfrm>
            <a:off x="10485001" y="4127659"/>
            <a:ext cx="272177" cy="3401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2100" dirty="0">
                <a:solidFill>
                  <a:srgbClr val="000000"/>
                </a:solidFill>
                <a:latin typeface="Satoshi" pitchFamily="50" charset="0"/>
                <a:ea typeface="Noto Serif Medium" pitchFamily="34" charset="-122"/>
                <a:cs typeface="Noto Serif Medium" pitchFamily="34" charset="-120"/>
              </a:rPr>
              <a:t>5</a:t>
            </a:r>
            <a:endParaRPr lang="en-US" sz="2100" dirty="0">
              <a:latin typeface="Satoshi" pitchFamily="50" charset="0"/>
            </a:endParaRPr>
          </a:p>
        </p:txBody>
      </p:sp>
      <p:sp>
        <p:nvSpPr>
          <p:cNvPr id="32" name="Text 29"/>
          <p:cNvSpPr/>
          <p:nvPr/>
        </p:nvSpPr>
        <p:spPr>
          <a:xfrm>
            <a:off x="9791343" y="5023604"/>
            <a:ext cx="1659731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200"/>
              </a:lnSpc>
              <a:buNone/>
            </a:pPr>
            <a:r>
              <a:rPr lang="en-US" sz="1750" dirty="0">
                <a:solidFill>
                  <a:srgbClr val="4C4C4C"/>
                </a:solidFill>
                <a:latin typeface="Satoshi" pitchFamily="50" charset="0"/>
                <a:ea typeface="Noto Serif Medium" pitchFamily="34" charset="-122"/>
                <a:cs typeface="Noto Serif Medium" pitchFamily="34" charset="-120"/>
              </a:rPr>
              <a:t>Map Discovery</a:t>
            </a:r>
            <a:endParaRPr lang="en-US" sz="1750" dirty="0">
              <a:latin typeface="Satoshi" pitchFamily="50" charset="0"/>
            </a:endParaRPr>
          </a:p>
        </p:txBody>
      </p:sp>
      <p:sp>
        <p:nvSpPr>
          <p:cNvPr id="33" name="Text 30"/>
          <p:cNvSpPr/>
          <p:nvPr/>
        </p:nvSpPr>
        <p:spPr>
          <a:xfrm>
            <a:off x="9791343" y="5394127"/>
            <a:ext cx="1659731" cy="13061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050"/>
              </a:lnSpc>
              <a:buNone/>
            </a:pPr>
            <a:r>
              <a:rPr lang="en-US" sz="1400" dirty="0">
                <a:solidFill>
                  <a:srgbClr val="4C4C4C"/>
                </a:solidFill>
                <a:latin typeface="Satoshi" pitchFamily="50" charset="0"/>
                <a:ea typeface="Noto Serif" pitchFamily="34" charset="-122"/>
                <a:cs typeface="Noto Serif" pitchFamily="34" charset="-120"/>
              </a:rPr>
              <a:t>Help buyers discover farmers via intuitive map-based system with location services</a:t>
            </a:r>
            <a:endParaRPr lang="en-US" sz="1400" dirty="0">
              <a:latin typeface="Satoshi" pitchFamily="50" charset="0"/>
            </a:endParaRPr>
          </a:p>
        </p:txBody>
      </p:sp>
      <p:sp>
        <p:nvSpPr>
          <p:cNvPr id="34" name="Shape 31"/>
          <p:cNvSpPr/>
          <p:nvPr/>
        </p:nvSpPr>
        <p:spPr>
          <a:xfrm>
            <a:off x="12813744" y="4297740"/>
            <a:ext cx="22860" cy="544354"/>
          </a:xfrm>
          <a:prstGeom prst="roundRect">
            <a:avLst>
              <a:gd name="adj" fmla="val 333395"/>
            </a:avLst>
          </a:prstGeom>
          <a:solidFill>
            <a:srgbClr val="CCC4B8"/>
          </a:solidFill>
          <a:ln/>
        </p:spPr>
      </p:sp>
      <p:sp>
        <p:nvSpPr>
          <p:cNvPr id="35" name="Shape 32"/>
          <p:cNvSpPr/>
          <p:nvPr/>
        </p:nvSpPr>
        <p:spPr>
          <a:xfrm>
            <a:off x="12621101" y="4093666"/>
            <a:ext cx="408265" cy="408265"/>
          </a:xfrm>
          <a:prstGeom prst="roundRect">
            <a:avLst>
              <a:gd name="adj" fmla="val 18668"/>
            </a:avLst>
          </a:prstGeom>
          <a:solidFill>
            <a:srgbClr val="E6DED2">
              <a:alpha val="50000"/>
            </a:srgbClr>
          </a:solidFill>
          <a:ln w="7620">
            <a:solidFill>
              <a:srgbClr val="CCC4B8"/>
            </a:solidFill>
            <a:prstDash val="solid"/>
          </a:ln>
          <a:effectLst>
            <a:outerShdw dist="22860" dir="2700000" algn="bl" rotWithShape="0">
              <a:srgbClr val="CCC4B8">
                <a:alpha val="100000"/>
              </a:srgbClr>
            </a:outerShdw>
          </a:effectLst>
        </p:spPr>
      </p:sp>
      <p:sp>
        <p:nvSpPr>
          <p:cNvPr id="36" name="Text 33"/>
          <p:cNvSpPr/>
          <p:nvPr/>
        </p:nvSpPr>
        <p:spPr>
          <a:xfrm>
            <a:off x="12689086" y="4127659"/>
            <a:ext cx="272177" cy="3401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2100" dirty="0">
                <a:solidFill>
                  <a:srgbClr val="000000"/>
                </a:solidFill>
                <a:latin typeface="Satoshi" pitchFamily="50" charset="0"/>
                <a:ea typeface="Noto Serif Medium" pitchFamily="34" charset="-122"/>
                <a:cs typeface="Noto Serif Medium" pitchFamily="34" charset="-120"/>
              </a:rPr>
              <a:t>6</a:t>
            </a:r>
            <a:endParaRPr lang="en-US" sz="2100" dirty="0">
              <a:latin typeface="Satoshi" pitchFamily="50" charset="0"/>
            </a:endParaRPr>
          </a:p>
        </p:txBody>
      </p:sp>
      <p:sp>
        <p:nvSpPr>
          <p:cNvPr id="37" name="Text 34"/>
          <p:cNvSpPr/>
          <p:nvPr/>
        </p:nvSpPr>
        <p:spPr>
          <a:xfrm>
            <a:off x="11995428" y="5023604"/>
            <a:ext cx="1659731" cy="566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200"/>
              </a:lnSpc>
              <a:buNone/>
            </a:pPr>
            <a:r>
              <a:rPr lang="en-US" sz="1750" dirty="0">
                <a:solidFill>
                  <a:srgbClr val="4C4C4C"/>
                </a:solidFill>
                <a:latin typeface="Satoshi" pitchFamily="50" charset="0"/>
                <a:ea typeface="Noto Serif Medium" pitchFamily="34" charset="-122"/>
                <a:cs typeface="Noto Serif Medium" pitchFamily="34" charset="-120"/>
              </a:rPr>
              <a:t>Localized Insights</a:t>
            </a:r>
            <a:endParaRPr lang="en-US" sz="1750" dirty="0">
              <a:latin typeface="Satoshi" pitchFamily="50" charset="0"/>
            </a:endParaRPr>
          </a:p>
        </p:txBody>
      </p:sp>
      <p:sp>
        <p:nvSpPr>
          <p:cNvPr id="38" name="Text 35"/>
          <p:cNvSpPr/>
          <p:nvPr/>
        </p:nvSpPr>
        <p:spPr>
          <a:xfrm>
            <a:off x="11995428" y="5677614"/>
            <a:ext cx="1659731" cy="13061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050"/>
              </a:lnSpc>
              <a:buNone/>
            </a:pPr>
            <a:r>
              <a:rPr lang="en-US" sz="1400" dirty="0">
                <a:solidFill>
                  <a:srgbClr val="4C4C4C"/>
                </a:solidFill>
                <a:latin typeface="Satoshi" pitchFamily="50" charset="0"/>
                <a:ea typeface="Noto Serif" pitchFamily="34" charset="-122"/>
                <a:cs typeface="Noto Serif" pitchFamily="34" charset="-120"/>
              </a:rPr>
              <a:t>Provide accurate, location-specific agricultural insights tailored to local conditions</a:t>
            </a:r>
            <a:endParaRPr lang="en-US" sz="1400" dirty="0">
              <a:latin typeface="Satoshi" pitchFamily="50" charset="0"/>
            </a:endParaRP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9F9452B3-704D-2B4F-6F65-A422F96A4937}"/>
              </a:ext>
            </a:extLst>
          </p:cNvPr>
          <p:cNvSpPr/>
          <p:nvPr/>
        </p:nvSpPr>
        <p:spPr>
          <a:xfrm>
            <a:off x="12833405" y="7776376"/>
            <a:ext cx="1709531" cy="362903"/>
          </a:xfrm>
          <a:prstGeom prst="rect">
            <a:avLst/>
          </a:prstGeom>
          <a:solidFill>
            <a:srgbClr val="FDFBF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0" name="Picture 39">
            <a:extLst>
              <a:ext uri="{FF2B5EF4-FFF2-40B4-BE49-F238E27FC236}">
                <a16:creationId xmlns:a16="http://schemas.microsoft.com/office/drawing/2014/main" id="{DE71866C-4FF4-0767-E5E6-AFC127FEF46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658450" y="0"/>
            <a:ext cx="1971950" cy="838317"/>
          </a:xfrm>
          <a:prstGeom prst="rect">
            <a:avLst/>
          </a:prstGeom>
        </p:spPr>
      </p:pic>
    </p:spTree>
  </p:cSld>
  <p:clrMapOvr>
    <a:masterClrMapping/>
  </p:clrMapOvr>
  <p:transition spd="slow">
    <p:cover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779621"/>
            <a:ext cx="4820007" cy="602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700"/>
              </a:lnSpc>
              <a:buNone/>
            </a:pPr>
            <a:r>
              <a:rPr lang="en-US" sz="3750" b="1" dirty="0">
                <a:solidFill>
                  <a:srgbClr val="3A3A3A"/>
                </a:solidFill>
                <a:latin typeface="Satoshi" pitchFamily="50" charset="0"/>
                <a:ea typeface="Noto Serif Medium" pitchFamily="34" charset="-122"/>
                <a:cs typeface="Noto Serif Medium" pitchFamily="34" charset="-120"/>
              </a:rPr>
              <a:t>Methodology</a:t>
            </a:r>
            <a:endParaRPr lang="en-US" sz="3750" b="1" dirty="0">
              <a:latin typeface="Satoshi" pitchFamily="50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793790" y="1447562"/>
            <a:ext cx="4426268" cy="4819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750"/>
              </a:lnSpc>
              <a:buNone/>
            </a:pPr>
            <a:r>
              <a:rPr lang="en-US" sz="3000" b="1" dirty="0">
                <a:solidFill>
                  <a:srgbClr val="3A3A3A"/>
                </a:solidFill>
                <a:latin typeface="Satoshi" pitchFamily="50" charset="0"/>
                <a:ea typeface="Noto Serif Medium" pitchFamily="34" charset="-122"/>
                <a:cs typeface="Noto Serif Medium" pitchFamily="34" charset="-120"/>
              </a:rPr>
              <a:t>Development Approach (basis)</a:t>
            </a:r>
            <a:endParaRPr lang="en-US" sz="3000" b="1" dirty="0">
              <a:latin typeface="Satoshi" pitchFamily="50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793790" y="2175272"/>
            <a:ext cx="13042821" cy="285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500" dirty="0">
                <a:solidFill>
                  <a:srgbClr val="4C4C4C"/>
                </a:solidFill>
                <a:latin typeface="Satoshi" pitchFamily="50" charset="0"/>
                <a:ea typeface="Noto Serif" pitchFamily="34" charset="-122"/>
                <a:cs typeface="Noto Serif" pitchFamily="34" charset="-120"/>
              </a:rPr>
              <a:t>The system is divided into </a:t>
            </a:r>
            <a:r>
              <a:rPr lang="en-US" sz="1500" b="1" dirty="0">
                <a:solidFill>
                  <a:srgbClr val="4C4C4C"/>
                </a:solidFill>
                <a:latin typeface="Satoshi" pitchFamily="50" charset="0"/>
                <a:ea typeface="Noto Serif" pitchFamily="34" charset="-122"/>
                <a:cs typeface="Noto Serif" pitchFamily="34" charset="-120"/>
              </a:rPr>
              <a:t>4 core modules</a:t>
            </a:r>
            <a:r>
              <a:rPr lang="en-US" sz="1500" dirty="0">
                <a:solidFill>
                  <a:srgbClr val="4C4C4C"/>
                </a:solidFill>
                <a:latin typeface="Satoshi" pitchFamily="50" charset="0"/>
                <a:ea typeface="Noto Serif" pitchFamily="34" charset="-122"/>
                <a:cs typeface="Noto Serif" pitchFamily="34" charset="-120"/>
              </a:rPr>
              <a:t>, each addressing specific aspects of the coffee farming ecosystem:</a:t>
            </a:r>
            <a:endParaRPr lang="en-US" sz="1500" dirty="0">
              <a:latin typeface="Satoshi" pitchFamily="50" charset="0"/>
            </a:endParaRPr>
          </a:p>
        </p:txBody>
      </p:sp>
      <p:sp>
        <p:nvSpPr>
          <p:cNvPr id="5" name="Shape 3"/>
          <p:cNvSpPr/>
          <p:nvPr/>
        </p:nvSpPr>
        <p:spPr>
          <a:xfrm>
            <a:off x="793790" y="2934057"/>
            <a:ext cx="4238387" cy="1952863"/>
          </a:xfrm>
          <a:prstGeom prst="roundRect">
            <a:avLst>
              <a:gd name="adj" fmla="val 5619"/>
            </a:avLst>
          </a:prstGeom>
          <a:solidFill>
            <a:srgbClr val="FDFBF7"/>
          </a:solidFill>
          <a:ln/>
          <a:effectLst>
            <a:outerShdw dist="25400" dir="2700000" algn="bl" rotWithShape="0">
              <a:srgbClr val="E6DED2">
                <a:alpha val="10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93790" y="2911197"/>
            <a:ext cx="4238387" cy="91440"/>
          </a:xfrm>
          <a:prstGeom prst="roundRect">
            <a:avLst>
              <a:gd name="adj" fmla="val 88558"/>
            </a:avLst>
          </a:prstGeom>
          <a:solidFill>
            <a:srgbClr val="E6DED2"/>
          </a:solidFill>
          <a:ln/>
        </p:spPr>
      </p:sp>
      <p:sp>
        <p:nvSpPr>
          <p:cNvPr id="7" name="Shape 5"/>
          <p:cNvSpPr/>
          <p:nvPr/>
        </p:nvSpPr>
        <p:spPr>
          <a:xfrm>
            <a:off x="2623780" y="2644854"/>
            <a:ext cx="578406" cy="578406"/>
          </a:xfrm>
          <a:prstGeom prst="roundRect">
            <a:avLst>
              <a:gd name="adj" fmla="val 158090"/>
            </a:avLst>
          </a:prstGeom>
          <a:solidFill>
            <a:srgbClr val="E6DED2">
              <a:alpha val="50000"/>
            </a:srgbClr>
          </a:solidFill>
          <a:ln/>
        </p:spPr>
      </p:sp>
      <p:sp>
        <p:nvSpPr>
          <p:cNvPr id="8" name="Text 6"/>
          <p:cNvSpPr/>
          <p:nvPr/>
        </p:nvSpPr>
        <p:spPr>
          <a:xfrm>
            <a:off x="2797254" y="2789396"/>
            <a:ext cx="231338" cy="2892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650"/>
              </a:lnSpc>
              <a:buNone/>
            </a:pPr>
            <a:r>
              <a:rPr lang="en-US" sz="1800" dirty="0">
                <a:solidFill>
                  <a:srgbClr val="000000"/>
                </a:solidFill>
                <a:latin typeface="Satoshi" pitchFamily="50" charset="0"/>
                <a:ea typeface="Noto Serif Medium" pitchFamily="34" charset="-122"/>
                <a:cs typeface="Noto Serif Medium" pitchFamily="34" charset="-120"/>
              </a:rPr>
              <a:t>1</a:t>
            </a:r>
            <a:endParaRPr lang="en-US" sz="1800" dirty="0">
              <a:latin typeface="Satoshi" pitchFamily="50" charset="0"/>
            </a:endParaRPr>
          </a:p>
        </p:txBody>
      </p:sp>
      <p:sp>
        <p:nvSpPr>
          <p:cNvPr id="9" name="Text 7"/>
          <p:cNvSpPr/>
          <p:nvPr/>
        </p:nvSpPr>
        <p:spPr>
          <a:xfrm>
            <a:off x="1707952" y="3416022"/>
            <a:ext cx="2409944" cy="3012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350"/>
              </a:lnSpc>
              <a:buNone/>
            </a:pPr>
            <a:r>
              <a:rPr lang="en-US" sz="1850" b="1" dirty="0">
                <a:solidFill>
                  <a:srgbClr val="4C4C4C"/>
                </a:solidFill>
                <a:latin typeface="Satoshi" pitchFamily="50" charset="0"/>
                <a:ea typeface="Noto Serif Medium" pitchFamily="34" charset="-122"/>
                <a:cs typeface="Noto Serif Medium" pitchFamily="34" charset="-120"/>
              </a:rPr>
              <a:t>Disease Detection</a:t>
            </a:r>
            <a:endParaRPr lang="en-US" sz="1850" b="1" dirty="0">
              <a:latin typeface="Satoshi" pitchFamily="50" charset="0"/>
            </a:endParaRPr>
          </a:p>
        </p:txBody>
      </p:sp>
      <p:sp>
        <p:nvSpPr>
          <p:cNvPr id="10" name="Text 8"/>
          <p:cNvSpPr/>
          <p:nvPr/>
        </p:nvSpPr>
        <p:spPr>
          <a:xfrm>
            <a:off x="1009412" y="3815477"/>
            <a:ext cx="3807143" cy="8558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200"/>
              </a:lnSpc>
              <a:buNone/>
            </a:pPr>
            <a:r>
              <a:rPr lang="en-US" sz="1500" dirty="0">
                <a:solidFill>
                  <a:srgbClr val="4C4C4C"/>
                </a:solidFill>
                <a:latin typeface="Satoshi" pitchFamily="50" charset="0"/>
                <a:ea typeface="Noto Serif" pitchFamily="34" charset="-122"/>
                <a:cs typeface="Noto Serif" pitchFamily="34" charset="-120"/>
              </a:rPr>
              <a:t>Computer vision-based disease identification using deep learning models</a:t>
            </a:r>
            <a:endParaRPr lang="en-US" sz="1500" dirty="0">
              <a:latin typeface="Satoshi" pitchFamily="50" charset="0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5196007" y="2934057"/>
            <a:ext cx="4238387" cy="1952863"/>
          </a:xfrm>
          <a:prstGeom prst="roundRect">
            <a:avLst>
              <a:gd name="adj" fmla="val 5619"/>
            </a:avLst>
          </a:prstGeom>
          <a:solidFill>
            <a:srgbClr val="FDFBF7"/>
          </a:solidFill>
          <a:ln/>
          <a:effectLst>
            <a:outerShdw dist="25400" dir="2700000" algn="bl" rotWithShape="0">
              <a:srgbClr val="E6DED2">
                <a:alpha val="10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5196007" y="2911197"/>
            <a:ext cx="4238387" cy="91440"/>
          </a:xfrm>
          <a:prstGeom prst="roundRect">
            <a:avLst>
              <a:gd name="adj" fmla="val 88558"/>
            </a:avLst>
          </a:prstGeom>
          <a:solidFill>
            <a:srgbClr val="E6DED2"/>
          </a:solidFill>
          <a:ln/>
        </p:spPr>
      </p:sp>
      <p:sp>
        <p:nvSpPr>
          <p:cNvPr id="13" name="Shape 11"/>
          <p:cNvSpPr/>
          <p:nvPr/>
        </p:nvSpPr>
        <p:spPr>
          <a:xfrm>
            <a:off x="7025997" y="2644854"/>
            <a:ext cx="578406" cy="578406"/>
          </a:xfrm>
          <a:prstGeom prst="roundRect">
            <a:avLst>
              <a:gd name="adj" fmla="val 158090"/>
            </a:avLst>
          </a:prstGeom>
          <a:solidFill>
            <a:srgbClr val="E6DED2">
              <a:alpha val="50000"/>
            </a:srgbClr>
          </a:solidFill>
          <a:ln/>
        </p:spPr>
      </p:sp>
      <p:sp>
        <p:nvSpPr>
          <p:cNvPr id="14" name="Text 12"/>
          <p:cNvSpPr/>
          <p:nvPr/>
        </p:nvSpPr>
        <p:spPr>
          <a:xfrm>
            <a:off x="7199471" y="2789396"/>
            <a:ext cx="231338" cy="2892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650"/>
              </a:lnSpc>
              <a:buNone/>
            </a:pPr>
            <a:r>
              <a:rPr lang="en-US" sz="1800" dirty="0">
                <a:solidFill>
                  <a:srgbClr val="000000"/>
                </a:solidFill>
                <a:latin typeface="Satoshi" pitchFamily="50" charset="0"/>
                <a:ea typeface="Noto Serif Medium" pitchFamily="34" charset="-122"/>
                <a:cs typeface="Noto Serif Medium" pitchFamily="34" charset="-120"/>
              </a:rPr>
              <a:t>2</a:t>
            </a:r>
            <a:endParaRPr lang="en-US" sz="1800" dirty="0">
              <a:latin typeface="Satoshi" pitchFamily="50" charset="0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6110168" y="3416022"/>
            <a:ext cx="2409944" cy="3012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350"/>
              </a:lnSpc>
              <a:buNone/>
            </a:pPr>
            <a:r>
              <a:rPr lang="en-US" sz="1850" b="1" dirty="0">
                <a:solidFill>
                  <a:srgbClr val="4C4C4C"/>
                </a:solidFill>
                <a:latin typeface="Satoshi" pitchFamily="50" charset="0"/>
                <a:ea typeface="Noto Serif Medium" pitchFamily="34" charset="-122"/>
                <a:cs typeface="Noto Serif Medium" pitchFamily="34" charset="-120"/>
              </a:rPr>
              <a:t>Advisory System</a:t>
            </a:r>
            <a:endParaRPr lang="en-US" sz="1850" b="1" dirty="0">
              <a:latin typeface="Satoshi" pitchFamily="50" charset="0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5411629" y="3815477"/>
            <a:ext cx="3807143" cy="5705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200"/>
              </a:lnSpc>
              <a:buNone/>
            </a:pPr>
            <a:r>
              <a:rPr lang="en-US" sz="1500" dirty="0">
                <a:solidFill>
                  <a:srgbClr val="4C4C4C"/>
                </a:solidFill>
                <a:latin typeface="Satoshi" pitchFamily="50" charset="0"/>
                <a:ea typeface="Noto Serif" pitchFamily="34" charset="-122"/>
                <a:cs typeface="Noto Serif" pitchFamily="34" charset="-120"/>
              </a:rPr>
              <a:t>AI-powered recommendations based on location, weather, and crop conditions</a:t>
            </a:r>
            <a:endParaRPr lang="en-US" sz="1500" dirty="0">
              <a:latin typeface="Satoshi" pitchFamily="50" charset="0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9598223" y="2934057"/>
            <a:ext cx="4238387" cy="1952863"/>
          </a:xfrm>
          <a:prstGeom prst="roundRect">
            <a:avLst>
              <a:gd name="adj" fmla="val 5619"/>
            </a:avLst>
          </a:prstGeom>
          <a:solidFill>
            <a:srgbClr val="FDFBF7"/>
          </a:solidFill>
          <a:ln/>
          <a:effectLst>
            <a:outerShdw dist="25400" dir="2700000" algn="bl" rotWithShape="0">
              <a:srgbClr val="E6DED2">
                <a:alpha val="10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9598223" y="2911197"/>
            <a:ext cx="4238387" cy="91440"/>
          </a:xfrm>
          <a:prstGeom prst="roundRect">
            <a:avLst>
              <a:gd name="adj" fmla="val 88558"/>
            </a:avLst>
          </a:prstGeom>
          <a:solidFill>
            <a:srgbClr val="E6DED2"/>
          </a:solidFill>
          <a:ln/>
        </p:spPr>
      </p:sp>
      <p:sp>
        <p:nvSpPr>
          <p:cNvPr id="19" name="Shape 17"/>
          <p:cNvSpPr/>
          <p:nvPr/>
        </p:nvSpPr>
        <p:spPr>
          <a:xfrm>
            <a:off x="11428214" y="2644854"/>
            <a:ext cx="578406" cy="578406"/>
          </a:xfrm>
          <a:prstGeom prst="roundRect">
            <a:avLst>
              <a:gd name="adj" fmla="val 158090"/>
            </a:avLst>
          </a:prstGeom>
          <a:solidFill>
            <a:srgbClr val="E6DED2">
              <a:alpha val="50000"/>
            </a:srgbClr>
          </a:solidFill>
          <a:ln/>
        </p:spPr>
      </p:sp>
      <p:sp>
        <p:nvSpPr>
          <p:cNvPr id="20" name="Text 18"/>
          <p:cNvSpPr/>
          <p:nvPr/>
        </p:nvSpPr>
        <p:spPr>
          <a:xfrm>
            <a:off x="11601688" y="2789396"/>
            <a:ext cx="231338" cy="2892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650"/>
              </a:lnSpc>
              <a:buNone/>
            </a:pPr>
            <a:r>
              <a:rPr lang="en-US" sz="1800" dirty="0">
                <a:solidFill>
                  <a:srgbClr val="000000"/>
                </a:solidFill>
                <a:latin typeface="Satoshi" pitchFamily="50" charset="0"/>
                <a:ea typeface="Noto Serif Medium" pitchFamily="34" charset="-122"/>
                <a:cs typeface="Noto Serif Medium" pitchFamily="34" charset="-120"/>
              </a:rPr>
              <a:t>3</a:t>
            </a:r>
            <a:endParaRPr lang="en-US" sz="1800" dirty="0">
              <a:latin typeface="Satoshi" pitchFamily="50" charset="0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10512385" y="3416022"/>
            <a:ext cx="2409944" cy="3012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350"/>
              </a:lnSpc>
              <a:buNone/>
            </a:pPr>
            <a:r>
              <a:rPr lang="en-US" sz="1850" b="1" dirty="0">
                <a:solidFill>
                  <a:srgbClr val="4C4C4C"/>
                </a:solidFill>
                <a:latin typeface="Satoshi" pitchFamily="50" charset="0"/>
                <a:ea typeface="Noto Serif Medium" pitchFamily="34" charset="-122"/>
                <a:cs typeface="Noto Serif Medium" pitchFamily="34" charset="-120"/>
              </a:rPr>
              <a:t>Chatbot Interface</a:t>
            </a:r>
            <a:endParaRPr lang="en-US" sz="1850" b="1" dirty="0">
              <a:latin typeface="Satoshi" pitchFamily="50" charset="0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9813846" y="3815477"/>
            <a:ext cx="3807143" cy="5705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200"/>
              </a:lnSpc>
              <a:buNone/>
            </a:pPr>
            <a:r>
              <a:rPr lang="en-US" sz="1500" dirty="0">
                <a:solidFill>
                  <a:srgbClr val="4C4C4C"/>
                </a:solidFill>
                <a:latin typeface="Satoshi" pitchFamily="50" charset="0"/>
                <a:ea typeface="Noto Serif" pitchFamily="34" charset="-122"/>
                <a:cs typeface="Noto Serif" pitchFamily="34" charset="-120"/>
              </a:rPr>
              <a:t>Voice and text-based multilingual communication channel</a:t>
            </a:r>
            <a:endParaRPr lang="en-US" sz="1500" dirty="0">
              <a:latin typeface="Satoshi" pitchFamily="50" charset="0"/>
            </a:endParaRPr>
          </a:p>
        </p:txBody>
      </p:sp>
      <p:sp>
        <p:nvSpPr>
          <p:cNvPr id="23" name="Shape 21"/>
          <p:cNvSpPr/>
          <p:nvPr/>
        </p:nvSpPr>
        <p:spPr>
          <a:xfrm>
            <a:off x="793790" y="5339953"/>
            <a:ext cx="13042821" cy="1382316"/>
          </a:xfrm>
          <a:prstGeom prst="roundRect">
            <a:avLst>
              <a:gd name="adj" fmla="val 7938"/>
            </a:avLst>
          </a:prstGeom>
          <a:solidFill>
            <a:srgbClr val="FDFBF7"/>
          </a:solidFill>
          <a:ln/>
          <a:effectLst>
            <a:outerShdw dist="25400" dir="2700000" algn="bl" rotWithShape="0">
              <a:srgbClr val="E6DED2">
                <a:alpha val="10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793790" y="5317093"/>
            <a:ext cx="13042821" cy="91440"/>
          </a:xfrm>
          <a:prstGeom prst="roundRect">
            <a:avLst>
              <a:gd name="adj" fmla="val 88558"/>
            </a:avLst>
          </a:prstGeom>
          <a:solidFill>
            <a:srgbClr val="E6DED2"/>
          </a:solidFill>
          <a:ln/>
        </p:spPr>
      </p:sp>
      <p:sp>
        <p:nvSpPr>
          <p:cNvPr id="25" name="Shape 23"/>
          <p:cNvSpPr/>
          <p:nvPr/>
        </p:nvSpPr>
        <p:spPr>
          <a:xfrm>
            <a:off x="7025997" y="5050750"/>
            <a:ext cx="578406" cy="578406"/>
          </a:xfrm>
          <a:prstGeom prst="roundRect">
            <a:avLst>
              <a:gd name="adj" fmla="val 158090"/>
            </a:avLst>
          </a:prstGeom>
          <a:solidFill>
            <a:srgbClr val="E6DED2">
              <a:alpha val="50000"/>
            </a:srgbClr>
          </a:solidFill>
          <a:ln/>
        </p:spPr>
      </p:sp>
      <p:sp>
        <p:nvSpPr>
          <p:cNvPr id="26" name="Text 24"/>
          <p:cNvSpPr/>
          <p:nvPr/>
        </p:nvSpPr>
        <p:spPr>
          <a:xfrm>
            <a:off x="7199471" y="5195292"/>
            <a:ext cx="231338" cy="2892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650"/>
              </a:lnSpc>
              <a:buNone/>
            </a:pPr>
            <a:r>
              <a:rPr lang="en-US" sz="1800" dirty="0">
                <a:solidFill>
                  <a:srgbClr val="000000"/>
                </a:solidFill>
                <a:latin typeface="Satoshi" pitchFamily="50" charset="0"/>
                <a:ea typeface="Noto Serif Medium" pitchFamily="34" charset="-122"/>
                <a:cs typeface="Noto Serif Medium" pitchFamily="34" charset="-120"/>
              </a:rPr>
              <a:t>4</a:t>
            </a:r>
            <a:endParaRPr lang="en-US" sz="1800" dirty="0">
              <a:latin typeface="Satoshi" pitchFamily="50" charset="0"/>
            </a:endParaRPr>
          </a:p>
        </p:txBody>
      </p:sp>
      <p:sp>
        <p:nvSpPr>
          <p:cNvPr id="27" name="Text 25"/>
          <p:cNvSpPr/>
          <p:nvPr/>
        </p:nvSpPr>
        <p:spPr>
          <a:xfrm>
            <a:off x="6110168" y="5821918"/>
            <a:ext cx="2409944" cy="3012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350"/>
              </a:lnSpc>
              <a:buNone/>
            </a:pPr>
            <a:r>
              <a:rPr lang="en-US" sz="1850" b="1" dirty="0">
                <a:solidFill>
                  <a:srgbClr val="4C4C4C"/>
                </a:solidFill>
                <a:latin typeface="Satoshi" pitchFamily="50" charset="0"/>
                <a:ea typeface="Noto Serif Medium" pitchFamily="34" charset="-122"/>
                <a:cs typeface="Noto Serif Medium" pitchFamily="34" charset="-120"/>
              </a:rPr>
              <a:t>Market Discovery</a:t>
            </a:r>
            <a:endParaRPr lang="en-US" sz="1850" b="1" dirty="0">
              <a:latin typeface="Satoshi" pitchFamily="50" charset="0"/>
            </a:endParaRPr>
          </a:p>
        </p:txBody>
      </p:sp>
      <p:sp>
        <p:nvSpPr>
          <p:cNvPr id="28" name="Text 26"/>
          <p:cNvSpPr/>
          <p:nvPr/>
        </p:nvSpPr>
        <p:spPr>
          <a:xfrm>
            <a:off x="1009412" y="6221373"/>
            <a:ext cx="12611576" cy="285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200"/>
              </a:lnSpc>
              <a:buNone/>
            </a:pPr>
            <a:r>
              <a:rPr lang="en-US" sz="1500" dirty="0">
                <a:solidFill>
                  <a:srgbClr val="4C4C4C"/>
                </a:solidFill>
                <a:latin typeface="Satoshi" pitchFamily="50" charset="0"/>
                <a:ea typeface="Noto Serif" pitchFamily="34" charset="-122"/>
                <a:cs typeface="Noto Serif" pitchFamily="34" charset="-120"/>
              </a:rPr>
              <a:t>Direct farmer-to-buyer marketplace with map integration</a:t>
            </a:r>
            <a:endParaRPr lang="en-US" sz="1500" dirty="0">
              <a:latin typeface="Satoshi" pitchFamily="50" charset="0"/>
            </a:endParaRPr>
          </a:p>
        </p:txBody>
      </p:sp>
      <p:sp>
        <p:nvSpPr>
          <p:cNvPr id="29" name="Text 27"/>
          <p:cNvSpPr/>
          <p:nvPr/>
        </p:nvSpPr>
        <p:spPr>
          <a:xfrm>
            <a:off x="793790" y="6968014"/>
            <a:ext cx="3855958" cy="4819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750"/>
              </a:lnSpc>
              <a:buNone/>
            </a:pPr>
            <a:endParaRPr lang="en-US" sz="3000" dirty="0">
              <a:latin typeface="Satoshi" pitchFamily="50" charset="0"/>
            </a:endParaRP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2AAA46CE-935F-DAB8-1131-E7A187F96050}"/>
              </a:ext>
            </a:extLst>
          </p:cNvPr>
          <p:cNvSpPr/>
          <p:nvPr/>
        </p:nvSpPr>
        <p:spPr>
          <a:xfrm>
            <a:off x="12833405" y="7776376"/>
            <a:ext cx="1709531" cy="362903"/>
          </a:xfrm>
          <a:prstGeom prst="rect">
            <a:avLst/>
          </a:prstGeom>
          <a:solidFill>
            <a:srgbClr val="FDFBF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1" name="Picture 30">
            <a:extLst>
              <a:ext uri="{FF2B5EF4-FFF2-40B4-BE49-F238E27FC236}">
                <a16:creationId xmlns:a16="http://schemas.microsoft.com/office/drawing/2014/main" id="{3DCF461F-8CE6-521C-72A3-79D5D99C399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658450" y="0"/>
            <a:ext cx="1971950" cy="838317"/>
          </a:xfrm>
          <a:prstGeom prst="rect">
            <a:avLst/>
          </a:prstGeom>
        </p:spPr>
      </p:pic>
    </p:spTree>
  </p:cSld>
  <p:clrMapOvr>
    <a:masterClrMapping/>
  </p:clrMapOvr>
  <p:transition spd="slow">
    <p:cover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800219"/>
            <a:ext cx="12214384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3A3A3A"/>
                </a:solidFill>
                <a:latin typeface="Satoshi" pitchFamily="50" charset="0"/>
                <a:ea typeface="Noto Serif Medium" pitchFamily="34" charset="-122"/>
                <a:cs typeface="Noto Serif Medium" pitchFamily="34" charset="-120"/>
              </a:rPr>
              <a:t>Development Progress – Team Contributions</a:t>
            </a:r>
            <a:endParaRPr lang="en-US" sz="4450" b="1" dirty="0">
              <a:latin typeface="Satoshi" pitchFamily="50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793790" y="1962626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C4C4C"/>
                </a:solidFill>
                <a:latin typeface="Satoshi" pitchFamily="50" charset="0"/>
                <a:ea typeface="Noto Serif" pitchFamily="34" charset="-122"/>
                <a:cs typeface="Noto Serif" pitchFamily="34" charset="-120"/>
              </a:rPr>
              <a:t>Current implementation status showing individual contributions and time investment:</a:t>
            </a:r>
            <a:endParaRPr lang="en-US" sz="1750" dirty="0">
              <a:latin typeface="Satoshi" pitchFamily="50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793790" y="2580680"/>
            <a:ext cx="13042821" cy="3629739"/>
          </a:xfrm>
          <a:prstGeom prst="roundRect">
            <a:avLst>
              <a:gd name="adj" fmla="val 2625"/>
            </a:avLst>
          </a:prstGeom>
          <a:noFill/>
          <a:ln w="7620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01410" y="2588300"/>
            <a:ext cx="13027581" cy="650319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1028343" y="2732008"/>
            <a:ext cx="410217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4C4C4C"/>
                </a:solidFill>
                <a:latin typeface="Satoshi" pitchFamily="50" charset="0"/>
                <a:ea typeface="Noto Serif" pitchFamily="34" charset="-122"/>
                <a:cs typeface="Noto Serif" pitchFamily="34" charset="-120"/>
              </a:rPr>
              <a:t>Team Member</a:t>
            </a:r>
            <a:endParaRPr lang="en-US" sz="1750" dirty="0">
              <a:latin typeface="Satoshi" pitchFamily="50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5591770" y="2732008"/>
            <a:ext cx="801040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4C4C4C"/>
                </a:solidFill>
                <a:latin typeface="Satoshi" pitchFamily="50" charset="0"/>
                <a:ea typeface="Noto Serif" pitchFamily="34" charset="-122"/>
                <a:cs typeface="Noto Serif" pitchFamily="34" charset="-120"/>
              </a:rPr>
              <a:t>Tasks / Modules Assigned</a:t>
            </a:r>
            <a:endParaRPr lang="en-US" sz="1750" dirty="0">
              <a:latin typeface="Satoshi" pitchFamily="50" charset="0"/>
            </a:endParaRPr>
          </a:p>
        </p:txBody>
      </p:sp>
      <p:sp>
        <p:nvSpPr>
          <p:cNvPr id="8" name="Shape 6"/>
          <p:cNvSpPr/>
          <p:nvPr/>
        </p:nvSpPr>
        <p:spPr>
          <a:xfrm>
            <a:off x="801410" y="3238619"/>
            <a:ext cx="13027581" cy="650319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9" name="Text 7"/>
          <p:cNvSpPr/>
          <p:nvPr/>
        </p:nvSpPr>
        <p:spPr>
          <a:xfrm>
            <a:off x="1028343" y="3382328"/>
            <a:ext cx="410217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C4C4C"/>
                </a:solidFill>
                <a:latin typeface="Satoshi" pitchFamily="50" charset="0"/>
                <a:ea typeface="Noto Serif" pitchFamily="34" charset="-122"/>
                <a:cs typeface="Noto Serif" pitchFamily="34" charset="-120"/>
              </a:rPr>
              <a:t>Mohammed Ayaan</a:t>
            </a:r>
            <a:endParaRPr lang="en-US" sz="1750" dirty="0">
              <a:latin typeface="Satoshi" pitchFamily="50" charset="0"/>
            </a:endParaRPr>
          </a:p>
        </p:txBody>
      </p:sp>
      <p:sp>
        <p:nvSpPr>
          <p:cNvPr id="10" name="Text 8"/>
          <p:cNvSpPr/>
          <p:nvPr/>
        </p:nvSpPr>
        <p:spPr>
          <a:xfrm>
            <a:off x="5591770" y="3382328"/>
            <a:ext cx="801040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C4C4C"/>
                </a:solidFill>
                <a:latin typeface="Satoshi" pitchFamily="50" charset="0"/>
                <a:ea typeface="Noto Serif" pitchFamily="34" charset="-122"/>
                <a:cs typeface="Noto Serif" pitchFamily="34" charset="-120"/>
              </a:rPr>
              <a:t>CNN model to identify leaf disease</a:t>
            </a:r>
            <a:endParaRPr lang="en-US" sz="1750" dirty="0">
              <a:latin typeface="Satoshi" pitchFamily="50" charset="0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801410" y="3888938"/>
            <a:ext cx="13027581" cy="650319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12" name="Text 10"/>
          <p:cNvSpPr/>
          <p:nvPr/>
        </p:nvSpPr>
        <p:spPr>
          <a:xfrm>
            <a:off x="1028343" y="4032647"/>
            <a:ext cx="410217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C4C4C"/>
                </a:solidFill>
                <a:latin typeface="Satoshi" pitchFamily="50" charset="0"/>
                <a:ea typeface="Noto Serif" pitchFamily="34" charset="-122"/>
                <a:cs typeface="Noto Serif" pitchFamily="34" charset="-120"/>
              </a:rPr>
              <a:t>Jeel Nada</a:t>
            </a:r>
            <a:endParaRPr lang="en-US" sz="1750" dirty="0">
              <a:latin typeface="Satoshi" pitchFamily="50" charset="0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5591770" y="4032647"/>
            <a:ext cx="801040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C4C4C"/>
                </a:solidFill>
                <a:latin typeface="Satoshi" pitchFamily="50" charset="0"/>
                <a:ea typeface="Noto Serif" pitchFamily="34" charset="-122"/>
                <a:cs typeface="Noto Serif" pitchFamily="34" charset="-120"/>
              </a:rPr>
              <a:t>RAG advisory model.</a:t>
            </a:r>
            <a:endParaRPr lang="en-US" sz="1750" dirty="0">
              <a:latin typeface="Satoshi" pitchFamily="50" charset="0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801410" y="4539258"/>
            <a:ext cx="13027581" cy="650319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15" name="Text 13"/>
          <p:cNvSpPr/>
          <p:nvPr/>
        </p:nvSpPr>
        <p:spPr>
          <a:xfrm>
            <a:off x="1028343" y="4682966"/>
            <a:ext cx="410217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C4C4C"/>
                </a:solidFill>
                <a:latin typeface="Satoshi" pitchFamily="50" charset="0"/>
                <a:ea typeface="Noto Serif" pitchFamily="34" charset="-122"/>
                <a:cs typeface="Noto Serif" pitchFamily="34" charset="-120"/>
              </a:rPr>
              <a:t>Nidhi N</a:t>
            </a:r>
            <a:endParaRPr lang="en-US" sz="1750" dirty="0">
              <a:latin typeface="Satoshi" pitchFamily="50" charset="0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5591770" y="4682966"/>
            <a:ext cx="801040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C4C4C"/>
                </a:solidFill>
                <a:latin typeface="Satoshi" pitchFamily="50" charset="0"/>
                <a:ea typeface="Noto Serif" pitchFamily="34" charset="-122"/>
                <a:cs typeface="Noto Serif" pitchFamily="34" charset="-120"/>
              </a:rPr>
              <a:t>Chatbot Module (UI + API Integration with RAG system)</a:t>
            </a:r>
            <a:endParaRPr lang="en-US" sz="1750" dirty="0">
              <a:latin typeface="Satoshi" pitchFamily="50" charset="0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801410" y="5189577"/>
            <a:ext cx="13027581" cy="1013222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18" name="Text 16"/>
          <p:cNvSpPr/>
          <p:nvPr/>
        </p:nvSpPr>
        <p:spPr>
          <a:xfrm>
            <a:off x="1028343" y="5333286"/>
            <a:ext cx="410217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C4C4C"/>
                </a:solidFill>
                <a:latin typeface="Satoshi" pitchFamily="50" charset="0"/>
                <a:ea typeface="Noto Serif" pitchFamily="34" charset="-122"/>
                <a:cs typeface="Noto Serif" pitchFamily="34" charset="-120"/>
              </a:rPr>
              <a:t>Nidhi N</a:t>
            </a:r>
            <a:endParaRPr lang="en-US" sz="1750" dirty="0">
              <a:latin typeface="Satoshi" pitchFamily="50" charset="0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5591770" y="5333286"/>
            <a:ext cx="8010406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C4C4C"/>
                </a:solidFill>
                <a:latin typeface="Satoshi" pitchFamily="50" charset="0"/>
                <a:ea typeface="Noto Serif" pitchFamily="34" charset="-122"/>
                <a:cs typeface="Noto Serif" pitchFamily="34" charset="-120"/>
              </a:rPr>
              <a:t>Market Discovery Module (Product listing, backend integration, map navigation)</a:t>
            </a:r>
            <a:endParaRPr lang="en-US" sz="1750" dirty="0">
              <a:latin typeface="Satoshi" pitchFamily="50" charset="0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793790" y="6465570"/>
            <a:ext cx="13042821" cy="963811"/>
          </a:xfrm>
          <a:prstGeom prst="roundRect">
            <a:avLst>
              <a:gd name="adj" fmla="val 9884"/>
            </a:avLst>
          </a:prstGeom>
          <a:solidFill>
            <a:srgbClr val="DDDAD4"/>
          </a:solidFill>
          <a:ln/>
        </p:spPr>
      </p:sp>
      <p:pic>
        <p:nvPicPr>
          <p:cNvPr id="21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0604" y="6817281"/>
            <a:ext cx="283488" cy="226814"/>
          </a:xfrm>
          <a:prstGeom prst="rect">
            <a:avLst/>
          </a:prstGeom>
        </p:spPr>
      </p:pic>
      <p:sp>
        <p:nvSpPr>
          <p:cNvPr id="22" name="Text 19"/>
          <p:cNvSpPr/>
          <p:nvPr/>
        </p:nvSpPr>
        <p:spPr>
          <a:xfrm>
            <a:off x="1530906" y="6749058"/>
            <a:ext cx="1207889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000000"/>
                </a:solidFill>
                <a:latin typeface="Satoshi" pitchFamily="50" charset="0"/>
                <a:ea typeface="Noto Serif" pitchFamily="34" charset="-122"/>
                <a:cs typeface="Noto Serif" pitchFamily="34" charset="-120"/>
              </a:rPr>
              <a:t>Current Focus:</a:t>
            </a:r>
            <a:r>
              <a:rPr lang="en-US" sz="1750" dirty="0">
                <a:solidFill>
                  <a:srgbClr val="000000"/>
                </a:solidFill>
                <a:latin typeface="Satoshi" pitchFamily="50" charset="0"/>
                <a:ea typeface="Noto Serif" pitchFamily="34" charset="-122"/>
                <a:cs typeface="Noto Serif" pitchFamily="34" charset="-120"/>
              </a:rPr>
              <a:t> Develop module separately and integrating it after development of all the modules</a:t>
            </a:r>
            <a:endParaRPr lang="en-US" sz="1750" dirty="0">
              <a:latin typeface="Satoshi" pitchFamily="50" charset="0"/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337D24B0-0D4A-5966-EF9C-7C101740A60A}"/>
              </a:ext>
            </a:extLst>
          </p:cNvPr>
          <p:cNvSpPr/>
          <p:nvPr/>
        </p:nvSpPr>
        <p:spPr>
          <a:xfrm>
            <a:off x="12833405" y="7776376"/>
            <a:ext cx="1709531" cy="362903"/>
          </a:xfrm>
          <a:prstGeom prst="rect">
            <a:avLst/>
          </a:prstGeom>
          <a:solidFill>
            <a:srgbClr val="FDFBF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DC0D08C0-68D2-FAAA-3197-863CCFF12A1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658450" y="0"/>
            <a:ext cx="1971950" cy="838317"/>
          </a:xfrm>
          <a:prstGeom prst="rect">
            <a:avLst/>
          </a:prstGeom>
        </p:spPr>
      </p:pic>
    </p:spTree>
  </p:cSld>
  <p:clrMapOvr>
    <a:masterClrMapping/>
  </p:clrMapOvr>
  <p:transition spd="slow">
    <p:cover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793790" y="1175147"/>
            <a:ext cx="6825853" cy="6379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000"/>
              </a:lnSpc>
              <a:buNone/>
            </a:pPr>
            <a:r>
              <a:rPr lang="en-US" sz="4000" b="1" dirty="0">
                <a:solidFill>
                  <a:srgbClr val="3A3A3A"/>
                </a:solidFill>
                <a:latin typeface="Satoshi" pitchFamily="50" charset="0"/>
                <a:ea typeface="Noto Serif Medium" pitchFamily="34" charset="-122"/>
                <a:cs typeface="Noto Serif Medium" pitchFamily="34" charset="-120"/>
              </a:rPr>
              <a:t>Data Preparation &amp; Sources</a:t>
            </a:r>
            <a:endParaRPr lang="en-US" sz="4000" b="1" dirty="0">
              <a:latin typeface="Satoshi" pitchFamily="50" charset="0"/>
            </a:endParaRPr>
          </a:p>
        </p:txBody>
      </p:sp>
      <p:sp>
        <p:nvSpPr>
          <p:cNvPr id="5" name="Shape 3"/>
          <p:cNvSpPr/>
          <p:nvPr/>
        </p:nvSpPr>
        <p:spPr>
          <a:xfrm>
            <a:off x="793790" y="2394704"/>
            <a:ext cx="4225052" cy="2471618"/>
          </a:xfrm>
          <a:prstGeom prst="roundRect">
            <a:avLst>
              <a:gd name="adj" fmla="val 4440"/>
            </a:avLst>
          </a:prstGeom>
          <a:solidFill>
            <a:srgbClr val="FDFBF7"/>
          </a:solidFill>
          <a:ln/>
          <a:effectLst>
            <a:outerShdw dist="26670" dir="2700000" algn="bl" rotWithShape="0">
              <a:srgbClr val="E6DED2">
                <a:alpha val="10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93790" y="2371844"/>
            <a:ext cx="4225052" cy="91440"/>
          </a:xfrm>
          <a:prstGeom prst="roundRect">
            <a:avLst>
              <a:gd name="adj" fmla="val 93767"/>
            </a:avLst>
          </a:prstGeom>
          <a:solidFill>
            <a:srgbClr val="E6DED2"/>
          </a:solidFill>
          <a:ln/>
        </p:spPr>
      </p:sp>
      <p:sp>
        <p:nvSpPr>
          <p:cNvPr id="7" name="Shape 5"/>
          <p:cNvSpPr/>
          <p:nvPr/>
        </p:nvSpPr>
        <p:spPr>
          <a:xfrm>
            <a:off x="2600146" y="2088594"/>
            <a:ext cx="612338" cy="612338"/>
          </a:xfrm>
          <a:prstGeom prst="roundRect">
            <a:avLst>
              <a:gd name="adj" fmla="val 149329"/>
            </a:avLst>
          </a:prstGeom>
          <a:solidFill>
            <a:srgbClr val="E6DED2">
              <a:alpha val="50000"/>
            </a:srgbClr>
          </a:solidFill>
          <a:ln/>
        </p:spPr>
      </p:sp>
      <p:sp>
        <p:nvSpPr>
          <p:cNvPr id="8" name="Text 6"/>
          <p:cNvSpPr/>
          <p:nvPr/>
        </p:nvSpPr>
        <p:spPr>
          <a:xfrm>
            <a:off x="2783860" y="2241709"/>
            <a:ext cx="244912" cy="3061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900"/>
              </a:lnSpc>
              <a:buNone/>
            </a:pPr>
            <a:r>
              <a:rPr lang="en-US" sz="1900" dirty="0">
                <a:solidFill>
                  <a:srgbClr val="000000"/>
                </a:solidFill>
                <a:latin typeface="Satoshi" pitchFamily="50" charset="0"/>
                <a:ea typeface="Noto Serif Medium" pitchFamily="34" charset="-122"/>
                <a:cs typeface="Noto Serif Medium" pitchFamily="34" charset="-120"/>
              </a:rPr>
              <a:t>1</a:t>
            </a:r>
            <a:endParaRPr lang="en-US" sz="1900" dirty="0">
              <a:latin typeface="Satoshi" pitchFamily="50" charset="0"/>
            </a:endParaRPr>
          </a:p>
        </p:txBody>
      </p:sp>
      <p:sp>
        <p:nvSpPr>
          <p:cNvPr id="9" name="Text 7"/>
          <p:cNvSpPr/>
          <p:nvPr/>
        </p:nvSpPr>
        <p:spPr>
          <a:xfrm>
            <a:off x="1630442" y="2905006"/>
            <a:ext cx="2551748" cy="318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500"/>
              </a:lnSpc>
              <a:buNone/>
            </a:pPr>
            <a:r>
              <a:rPr lang="en-US" sz="2000" b="1" dirty="0">
                <a:solidFill>
                  <a:srgbClr val="4C4C4C"/>
                </a:solidFill>
                <a:latin typeface="Satoshi" pitchFamily="50" charset="0"/>
                <a:ea typeface="Noto Serif Medium" pitchFamily="34" charset="-122"/>
                <a:cs typeface="Noto Serif Medium" pitchFamily="34" charset="-120"/>
              </a:rPr>
              <a:t>PlantVillage Dataset</a:t>
            </a:r>
            <a:endParaRPr lang="en-US" sz="2000" b="1" dirty="0">
              <a:latin typeface="Satoshi" pitchFamily="50" charset="0"/>
            </a:endParaRPr>
          </a:p>
        </p:txBody>
      </p:sp>
      <p:sp>
        <p:nvSpPr>
          <p:cNvPr id="10" name="Text 8"/>
          <p:cNvSpPr/>
          <p:nvPr/>
        </p:nvSpPr>
        <p:spPr>
          <a:xfrm>
            <a:off x="1020723" y="3333988"/>
            <a:ext cx="3771186" cy="3102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400"/>
              </a:lnSpc>
              <a:buNone/>
            </a:pPr>
            <a:r>
              <a:rPr lang="en-US" sz="1600" dirty="0">
                <a:solidFill>
                  <a:srgbClr val="4C4C4C"/>
                </a:solidFill>
                <a:latin typeface="Satoshi" pitchFamily="50" charset="0"/>
                <a:ea typeface="Noto Serif" pitchFamily="34" charset="-122"/>
                <a:cs typeface="Noto Serif" pitchFamily="34" charset="-120"/>
              </a:rPr>
              <a:t>50,000+ annotated leaf images</a:t>
            </a:r>
            <a:endParaRPr lang="en-US" sz="1600" dirty="0">
              <a:latin typeface="Satoshi" pitchFamily="50" charset="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1020723" y="3754398"/>
            <a:ext cx="3771186" cy="6205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400"/>
              </a:lnSpc>
              <a:buNone/>
            </a:pPr>
            <a:r>
              <a:rPr lang="en-US" sz="1600" dirty="0">
                <a:solidFill>
                  <a:srgbClr val="4C4C4C"/>
                </a:solidFill>
                <a:latin typeface="Satoshi" pitchFamily="50" charset="0"/>
                <a:ea typeface="Noto Serif" pitchFamily="34" charset="-122"/>
                <a:cs typeface="Noto Serif" pitchFamily="34" charset="-120"/>
              </a:rPr>
              <a:t>High-quality controlled environment photos for model training</a:t>
            </a:r>
            <a:endParaRPr lang="en-US" sz="1600" dirty="0">
              <a:latin typeface="Satoshi" pitchFamily="50" charset="0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5202555" y="2394704"/>
            <a:ext cx="4225171" cy="2471618"/>
          </a:xfrm>
          <a:prstGeom prst="roundRect">
            <a:avLst>
              <a:gd name="adj" fmla="val 4440"/>
            </a:avLst>
          </a:prstGeom>
          <a:solidFill>
            <a:srgbClr val="FDFBF7"/>
          </a:solidFill>
          <a:ln/>
          <a:effectLst>
            <a:outerShdw dist="26670" dir="2700000" algn="bl" rotWithShape="0">
              <a:srgbClr val="E6DED2">
                <a:alpha val="10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5202555" y="2371844"/>
            <a:ext cx="4225171" cy="91440"/>
          </a:xfrm>
          <a:prstGeom prst="roundRect">
            <a:avLst>
              <a:gd name="adj" fmla="val 93767"/>
            </a:avLst>
          </a:prstGeom>
          <a:solidFill>
            <a:srgbClr val="E6DED2"/>
          </a:solidFill>
          <a:ln/>
        </p:spPr>
      </p:sp>
      <p:sp>
        <p:nvSpPr>
          <p:cNvPr id="14" name="Shape 12"/>
          <p:cNvSpPr/>
          <p:nvPr/>
        </p:nvSpPr>
        <p:spPr>
          <a:xfrm>
            <a:off x="7008912" y="2088594"/>
            <a:ext cx="612338" cy="612338"/>
          </a:xfrm>
          <a:prstGeom prst="roundRect">
            <a:avLst>
              <a:gd name="adj" fmla="val 149329"/>
            </a:avLst>
          </a:prstGeom>
          <a:solidFill>
            <a:srgbClr val="E6DED2">
              <a:alpha val="50000"/>
            </a:srgbClr>
          </a:solidFill>
          <a:ln/>
        </p:spPr>
      </p:sp>
      <p:sp>
        <p:nvSpPr>
          <p:cNvPr id="15" name="Text 13"/>
          <p:cNvSpPr/>
          <p:nvPr/>
        </p:nvSpPr>
        <p:spPr>
          <a:xfrm>
            <a:off x="7192625" y="2241709"/>
            <a:ext cx="244912" cy="3061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900"/>
              </a:lnSpc>
              <a:buNone/>
            </a:pPr>
            <a:r>
              <a:rPr lang="en-US" sz="1900" dirty="0">
                <a:solidFill>
                  <a:srgbClr val="000000"/>
                </a:solidFill>
                <a:latin typeface="Satoshi" pitchFamily="50" charset="0"/>
                <a:ea typeface="Noto Serif Medium" pitchFamily="34" charset="-122"/>
                <a:cs typeface="Noto Serif Medium" pitchFamily="34" charset="-120"/>
              </a:rPr>
              <a:t>2</a:t>
            </a:r>
            <a:endParaRPr lang="en-US" sz="1900" dirty="0">
              <a:latin typeface="Satoshi" pitchFamily="50" charset="0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5884069" y="2905006"/>
            <a:ext cx="2862024" cy="318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500"/>
              </a:lnSpc>
              <a:buNone/>
            </a:pPr>
            <a:r>
              <a:rPr lang="en-US" sz="2000" b="1" dirty="0">
                <a:solidFill>
                  <a:srgbClr val="4C4C4C"/>
                </a:solidFill>
                <a:latin typeface="Satoshi" pitchFamily="50" charset="0"/>
                <a:ea typeface="Noto Serif Medium" pitchFamily="34" charset="-122"/>
                <a:cs typeface="Noto Serif Medium" pitchFamily="34" charset="-120"/>
              </a:rPr>
              <a:t>JMuBEN Coffee Dataset</a:t>
            </a:r>
            <a:endParaRPr lang="en-US" sz="2000" b="1" dirty="0">
              <a:latin typeface="Satoshi" pitchFamily="50" charset="0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5429488" y="3333988"/>
            <a:ext cx="3771305" cy="13054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400"/>
              </a:lnSpc>
              <a:buSzPct val="100000"/>
              <a:buChar char="•"/>
            </a:pPr>
            <a:r>
              <a:rPr lang="en-US" sz="1600" dirty="0">
                <a:solidFill>
                  <a:srgbClr val="4C4C4C"/>
                </a:solidFill>
                <a:latin typeface="Satoshi" pitchFamily="50" charset="0"/>
                <a:ea typeface="Noto Serif" pitchFamily="34" charset="-122"/>
                <a:cs typeface="Noto Serif" pitchFamily="34" charset="-120"/>
              </a:rPr>
              <a:t>Arabica coffee leaf images for disease detection</a:t>
            </a:r>
            <a:endParaRPr lang="en-US" sz="1600" dirty="0">
              <a:latin typeface="Satoshi" pitchFamily="50" charset="0"/>
            </a:endParaRPr>
          </a:p>
          <a:p>
            <a:pPr marL="342900" indent="-342900" algn="l">
              <a:lnSpc>
                <a:spcPts val="2400"/>
              </a:lnSpc>
              <a:buSzPct val="100000"/>
              <a:buChar char="•"/>
            </a:pPr>
            <a:r>
              <a:rPr lang="en-US" sz="1600" dirty="0">
                <a:solidFill>
                  <a:srgbClr val="4C4C4C"/>
                </a:solidFill>
                <a:latin typeface="Satoshi" pitchFamily="50" charset="0"/>
                <a:ea typeface="Noto Serif" pitchFamily="34" charset="-122"/>
                <a:cs typeface="Noto Serif" pitchFamily="34" charset="-120"/>
              </a:rPr>
              <a:t>Includes annotated healthy and diseased leaf samples</a:t>
            </a:r>
            <a:endParaRPr lang="en-US" sz="1600" dirty="0">
              <a:latin typeface="Satoshi" pitchFamily="50" charset="0"/>
            </a:endParaRPr>
          </a:p>
        </p:txBody>
      </p:sp>
      <p:sp>
        <p:nvSpPr>
          <p:cNvPr id="18" name="Shape 16"/>
          <p:cNvSpPr/>
          <p:nvPr/>
        </p:nvSpPr>
        <p:spPr>
          <a:xfrm>
            <a:off x="9611439" y="2394704"/>
            <a:ext cx="4225171" cy="2471618"/>
          </a:xfrm>
          <a:prstGeom prst="roundRect">
            <a:avLst>
              <a:gd name="adj" fmla="val 4440"/>
            </a:avLst>
          </a:prstGeom>
          <a:solidFill>
            <a:srgbClr val="FDFBF7"/>
          </a:solidFill>
          <a:ln/>
          <a:effectLst>
            <a:outerShdw dist="26670" dir="2700000" algn="bl" rotWithShape="0">
              <a:srgbClr val="E6DED2">
                <a:alpha val="10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9611439" y="2371844"/>
            <a:ext cx="4225171" cy="91440"/>
          </a:xfrm>
          <a:prstGeom prst="roundRect">
            <a:avLst>
              <a:gd name="adj" fmla="val 93767"/>
            </a:avLst>
          </a:prstGeom>
          <a:solidFill>
            <a:srgbClr val="E6DED2"/>
          </a:solidFill>
          <a:ln/>
        </p:spPr>
      </p:sp>
      <p:sp>
        <p:nvSpPr>
          <p:cNvPr id="20" name="Shape 18"/>
          <p:cNvSpPr/>
          <p:nvPr/>
        </p:nvSpPr>
        <p:spPr>
          <a:xfrm>
            <a:off x="11417796" y="2088594"/>
            <a:ext cx="612338" cy="612338"/>
          </a:xfrm>
          <a:prstGeom prst="roundRect">
            <a:avLst>
              <a:gd name="adj" fmla="val 149329"/>
            </a:avLst>
          </a:prstGeom>
          <a:solidFill>
            <a:srgbClr val="E6DED2">
              <a:alpha val="50000"/>
            </a:srgbClr>
          </a:solidFill>
          <a:ln/>
        </p:spPr>
      </p:sp>
      <p:sp>
        <p:nvSpPr>
          <p:cNvPr id="21" name="Text 19"/>
          <p:cNvSpPr/>
          <p:nvPr/>
        </p:nvSpPr>
        <p:spPr>
          <a:xfrm>
            <a:off x="11601510" y="2241709"/>
            <a:ext cx="244912" cy="3061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900"/>
              </a:lnSpc>
              <a:buNone/>
            </a:pPr>
            <a:r>
              <a:rPr lang="en-US" sz="1900" dirty="0">
                <a:solidFill>
                  <a:srgbClr val="000000"/>
                </a:solidFill>
                <a:latin typeface="Satoshi" pitchFamily="50" charset="0"/>
                <a:ea typeface="Noto Serif Medium" pitchFamily="34" charset="-122"/>
                <a:cs typeface="Noto Serif Medium" pitchFamily="34" charset="-120"/>
              </a:rPr>
              <a:t>3</a:t>
            </a:r>
            <a:endParaRPr lang="en-US" sz="1900" dirty="0">
              <a:latin typeface="Satoshi" pitchFamily="50" charset="0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10448092" y="2905006"/>
            <a:ext cx="2551748" cy="318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500"/>
              </a:lnSpc>
              <a:buNone/>
            </a:pPr>
            <a:r>
              <a:rPr lang="en-US" sz="2000" b="1" dirty="0">
                <a:solidFill>
                  <a:srgbClr val="4C4C4C"/>
                </a:solidFill>
                <a:latin typeface="Satoshi" pitchFamily="50" charset="0"/>
                <a:ea typeface="Noto Serif Medium" pitchFamily="34" charset="-122"/>
                <a:cs typeface="Noto Serif Medium" pitchFamily="34" charset="-120"/>
              </a:rPr>
              <a:t>PlantDoc Dataset</a:t>
            </a:r>
            <a:endParaRPr lang="en-US" sz="2000" b="1" dirty="0">
              <a:latin typeface="Satoshi" pitchFamily="50" charset="0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9838373" y="3333988"/>
            <a:ext cx="3771305" cy="3102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400"/>
              </a:lnSpc>
              <a:buNone/>
            </a:pPr>
            <a:r>
              <a:rPr lang="en-US" sz="1600" dirty="0">
                <a:solidFill>
                  <a:srgbClr val="4C4C4C"/>
                </a:solidFill>
                <a:latin typeface="Satoshi" pitchFamily="50" charset="0"/>
                <a:ea typeface="Noto Serif" pitchFamily="34" charset="-122"/>
                <a:cs typeface="Noto Serif" pitchFamily="34" charset="-120"/>
              </a:rPr>
              <a:t>Real-world noisy images from Kaggle</a:t>
            </a:r>
            <a:endParaRPr lang="en-US" sz="1600" dirty="0">
              <a:latin typeface="Satoshi" pitchFamily="50" charset="0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9838373" y="3754398"/>
            <a:ext cx="3771305" cy="6205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400"/>
              </a:lnSpc>
              <a:buNone/>
            </a:pPr>
            <a:r>
              <a:rPr lang="en-US" sz="1600" dirty="0">
                <a:solidFill>
                  <a:srgbClr val="4C4C4C"/>
                </a:solidFill>
                <a:latin typeface="Satoshi" pitchFamily="50" charset="0"/>
                <a:ea typeface="Noto Serif" pitchFamily="34" charset="-122"/>
                <a:cs typeface="Noto Serif" pitchFamily="34" charset="-120"/>
              </a:rPr>
              <a:t>Field conditions with varying lighting and backgrounds</a:t>
            </a:r>
            <a:endParaRPr lang="en-US" sz="1600" dirty="0">
              <a:latin typeface="Satoshi" pitchFamily="50" charset="0"/>
            </a:endParaRPr>
          </a:p>
        </p:txBody>
      </p:sp>
      <p:sp>
        <p:nvSpPr>
          <p:cNvPr id="25" name="Shape 23"/>
          <p:cNvSpPr/>
          <p:nvPr/>
        </p:nvSpPr>
        <p:spPr>
          <a:xfrm>
            <a:off x="793790" y="5073015"/>
            <a:ext cx="13042821" cy="1613535"/>
          </a:xfrm>
          <a:prstGeom prst="roundRect">
            <a:avLst>
              <a:gd name="adj" fmla="val 5314"/>
            </a:avLst>
          </a:prstGeom>
          <a:solidFill>
            <a:srgbClr val="FDFBF7"/>
          </a:solidFill>
          <a:ln w="22860">
            <a:solidFill>
              <a:srgbClr val="E6DED2"/>
            </a:solidFill>
            <a:prstDash val="solid"/>
          </a:ln>
          <a:effectLst>
            <a:outerShdw dist="26670" dir="2700000" algn="bl" rotWithShape="0">
              <a:srgbClr val="E6DED2">
                <a:alpha val="100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1020723" y="5299948"/>
            <a:ext cx="2709743" cy="318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b="1" dirty="0">
                <a:solidFill>
                  <a:srgbClr val="4C4C4C"/>
                </a:solidFill>
                <a:latin typeface="Satoshi" pitchFamily="50" charset="0"/>
                <a:ea typeface="Noto Serif Medium" pitchFamily="34" charset="-122"/>
                <a:cs typeface="Noto Serif Medium" pitchFamily="34" charset="-120"/>
              </a:rPr>
              <a:t>Text Symptom Corpus</a:t>
            </a:r>
            <a:endParaRPr lang="en-US" sz="2000" b="1" dirty="0">
              <a:latin typeface="Satoshi" pitchFamily="50" charset="0"/>
            </a:endParaRPr>
          </a:p>
        </p:txBody>
      </p:sp>
      <p:sp>
        <p:nvSpPr>
          <p:cNvPr id="27" name="Text 25"/>
          <p:cNvSpPr/>
          <p:nvPr/>
        </p:nvSpPr>
        <p:spPr>
          <a:xfrm>
            <a:off x="1020723" y="5728930"/>
            <a:ext cx="12588954" cy="3102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600" dirty="0">
                <a:solidFill>
                  <a:srgbClr val="4C4C4C"/>
                </a:solidFill>
                <a:latin typeface="Satoshi" pitchFamily="50" charset="0"/>
                <a:ea typeface="Noto Serif" pitchFamily="34" charset="-122"/>
                <a:cs typeface="Noto Serif" pitchFamily="34" charset="-120"/>
              </a:rPr>
              <a:t>Agricultural forums &amp; research papers</a:t>
            </a:r>
            <a:endParaRPr lang="en-US" sz="1600" dirty="0">
              <a:latin typeface="Satoshi" pitchFamily="50" charset="0"/>
            </a:endParaRPr>
          </a:p>
        </p:txBody>
      </p:sp>
      <p:sp>
        <p:nvSpPr>
          <p:cNvPr id="28" name="Text 26"/>
          <p:cNvSpPr/>
          <p:nvPr/>
        </p:nvSpPr>
        <p:spPr>
          <a:xfrm>
            <a:off x="1020723" y="6149340"/>
            <a:ext cx="12588954" cy="3102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600" dirty="0">
                <a:solidFill>
                  <a:srgbClr val="4C4C4C"/>
                </a:solidFill>
                <a:latin typeface="Satoshi" pitchFamily="50" charset="0"/>
                <a:ea typeface="Noto Serif" pitchFamily="34" charset="-122"/>
                <a:cs typeface="Noto Serif" pitchFamily="34" charset="-120"/>
              </a:rPr>
              <a:t>Natural language descriptions of plant diseases and symptoms</a:t>
            </a:r>
            <a:endParaRPr lang="en-US" sz="1600" dirty="0">
              <a:latin typeface="Satoshi" pitchFamily="50" charset="0"/>
            </a:endParaRPr>
          </a:p>
        </p:txBody>
      </p:sp>
      <p:sp>
        <p:nvSpPr>
          <p:cNvPr id="29" name="Text 27"/>
          <p:cNvSpPr/>
          <p:nvPr/>
        </p:nvSpPr>
        <p:spPr>
          <a:xfrm>
            <a:off x="793790" y="6893243"/>
            <a:ext cx="13042821" cy="6205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600" dirty="0">
                <a:solidFill>
                  <a:srgbClr val="4C4C4C"/>
                </a:solidFill>
                <a:latin typeface="Satoshi" pitchFamily="50" charset="0"/>
                <a:ea typeface="Noto Serif" pitchFamily="34" charset="-122"/>
                <a:cs typeface="Noto Serif" pitchFamily="34" charset="-120"/>
              </a:rPr>
              <a:t>Data preprocessing included image augmentation, cleaning, and train-validation splits to ensure robust model performance across diverse conditions.</a:t>
            </a:r>
            <a:endParaRPr lang="en-US" sz="1600" dirty="0">
              <a:latin typeface="Satoshi" pitchFamily="50" charset="0"/>
            </a:endParaRP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FC671408-4E58-8A89-DFA6-AA0DFADD64D4}"/>
              </a:ext>
            </a:extLst>
          </p:cNvPr>
          <p:cNvSpPr/>
          <p:nvPr/>
        </p:nvSpPr>
        <p:spPr>
          <a:xfrm>
            <a:off x="12833405" y="7776376"/>
            <a:ext cx="1709531" cy="362903"/>
          </a:xfrm>
          <a:prstGeom prst="rect">
            <a:avLst/>
          </a:prstGeom>
          <a:solidFill>
            <a:srgbClr val="FDFBF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B9BA8428-2D04-1033-C3A6-881CF759BFC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658450" y="0"/>
            <a:ext cx="1971950" cy="838317"/>
          </a:xfrm>
          <a:prstGeom prst="rect">
            <a:avLst/>
          </a:prstGeom>
        </p:spPr>
      </p:pic>
    </p:spTree>
  </p:cSld>
  <p:clrMapOvr>
    <a:masterClrMapping/>
  </p:clrMapOvr>
  <p:transition spd="slow">
    <p:cover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730812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3A3A3A"/>
                </a:solidFill>
                <a:latin typeface="Satoshi" pitchFamily="50" charset="0"/>
                <a:ea typeface="Noto Serif Medium" pitchFamily="34" charset="-122"/>
                <a:cs typeface="Noto Serif Medium" pitchFamily="34" charset="-120"/>
              </a:rPr>
              <a:t>Expected Deliverables: Data Preprocessing</a:t>
            </a:r>
            <a:endParaRPr lang="en-US" sz="4450" b="1" dirty="0">
              <a:latin typeface="Satoshi" pitchFamily="50" charset="0"/>
            </a:endParaRPr>
          </a:p>
        </p:txBody>
      </p:sp>
      <p:sp>
        <p:nvSpPr>
          <p:cNvPr id="3" name="Shape 1"/>
          <p:cNvSpPr/>
          <p:nvPr/>
        </p:nvSpPr>
        <p:spPr>
          <a:xfrm>
            <a:off x="793790" y="3233380"/>
            <a:ext cx="4196358" cy="3265289"/>
          </a:xfrm>
          <a:prstGeom prst="roundRect">
            <a:avLst>
              <a:gd name="adj" fmla="val 4481"/>
            </a:avLst>
          </a:prstGeom>
          <a:solidFill>
            <a:srgbClr val="FDFBF7"/>
          </a:solidFill>
          <a:ln/>
          <a:effectLst>
            <a:outerShdw dist="29210" dir="2700000" algn="bl" rotWithShape="0">
              <a:srgbClr val="E6DED2">
                <a:alpha val="10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793790" y="3202900"/>
            <a:ext cx="4196358" cy="121920"/>
          </a:xfrm>
          <a:prstGeom prst="roundRect">
            <a:avLst>
              <a:gd name="adj" fmla="val 78139"/>
            </a:avLst>
          </a:prstGeom>
          <a:solidFill>
            <a:srgbClr val="E6DED2"/>
          </a:solidFill>
          <a:ln/>
        </p:spPr>
      </p:sp>
      <p:sp>
        <p:nvSpPr>
          <p:cNvPr id="5" name="Shape 3"/>
          <p:cNvSpPr/>
          <p:nvPr/>
        </p:nvSpPr>
        <p:spPr>
          <a:xfrm>
            <a:off x="2551688" y="2893219"/>
            <a:ext cx="680442" cy="680442"/>
          </a:xfrm>
          <a:prstGeom prst="roundRect">
            <a:avLst>
              <a:gd name="adj" fmla="val 134383"/>
            </a:avLst>
          </a:prstGeom>
          <a:solidFill>
            <a:srgbClr val="E6DED2">
              <a:alpha val="50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2755761" y="3063359"/>
            <a:ext cx="272177" cy="3401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3400"/>
              </a:lnSpc>
              <a:buNone/>
            </a:pPr>
            <a:r>
              <a:rPr lang="en-US" sz="2100" dirty="0">
                <a:solidFill>
                  <a:srgbClr val="000000"/>
                </a:solidFill>
                <a:latin typeface="Satoshi" pitchFamily="50" charset="0"/>
                <a:ea typeface="Noto Serif Medium" pitchFamily="34" charset="-122"/>
                <a:cs typeface="Noto Serif Medium" pitchFamily="34" charset="-120"/>
              </a:rPr>
              <a:t>1</a:t>
            </a:r>
            <a:endParaRPr lang="en-US" sz="2100" dirty="0">
              <a:latin typeface="Satoshi" pitchFamily="50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1451491" y="3800356"/>
            <a:ext cx="2880836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4C4C4C"/>
                </a:solidFill>
                <a:latin typeface="Satoshi" pitchFamily="50" charset="0"/>
                <a:ea typeface="Noto Serif Medium" pitchFamily="34" charset="-122"/>
                <a:cs typeface="Noto Serif Medium" pitchFamily="34" charset="-120"/>
              </a:rPr>
              <a:t>Image Augmentation</a:t>
            </a:r>
            <a:endParaRPr lang="en-US" sz="2200" b="1" dirty="0">
              <a:latin typeface="Satoshi" pitchFamily="50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1051084" y="4290774"/>
            <a:ext cx="3681770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850"/>
              </a:lnSpc>
              <a:buNone/>
            </a:pPr>
            <a:r>
              <a:rPr lang="en-US" sz="1750" dirty="0">
                <a:solidFill>
                  <a:srgbClr val="4C4C4C"/>
                </a:solidFill>
                <a:latin typeface="Satoshi" pitchFamily="50" charset="0"/>
                <a:ea typeface="Noto Serif" pitchFamily="34" charset="-122"/>
                <a:cs typeface="Noto Serif" pitchFamily="34" charset="-120"/>
              </a:rPr>
              <a:t>Applied AutoAugment (ImageNet policy) to training images for better generalization.</a:t>
            </a:r>
            <a:endParaRPr lang="en-US" sz="1750" dirty="0">
              <a:latin typeface="Satoshi" pitchFamily="50" charset="0"/>
            </a:endParaRPr>
          </a:p>
        </p:txBody>
      </p:sp>
      <p:sp>
        <p:nvSpPr>
          <p:cNvPr id="9" name="Shape 7"/>
          <p:cNvSpPr/>
          <p:nvPr/>
        </p:nvSpPr>
        <p:spPr>
          <a:xfrm>
            <a:off x="5216962" y="3233380"/>
            <a:ext cx="4196358" cy="3265289"/>
          </a:xfrm>
          <a:prstGeom prst="roundRect">
            <a:avLst>
              <a:gd name="adj" fmla="val 4481"/>
            </a:avLst>
          </a:prstGeom>
          <a:solidFill>
            <a:srgbClr val="FDFBF7"/>
          </a:solidFill>
          <a:ln/>
          <a:effectLst>
            <a:outerShdw dist="29210" dir="2700000" algn="bl" rotWithShape="0">
              <a:srgbClr val="E6DED2">
                <a:alpha val="10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5216962" y="3202900"/>
            <a:ext cx="4196358" cy="121920"/>
          </a:xfrm>
          <a:prstGeom prst="roundRect">
            <a:avLst>
              <a:gd name="adj" fmla="val 78139"/>
            </a:avLst>
          </a:prstGeom>
          <a:solidFill>
            <a:srgbClr val="E6DED2"/>
          </a:solidFill>
          <a:ln/>
        </p:spPr>
      </p:sp>
      <p:sp>
        <p:nvSpPr>
          <p:cNvPr id="11" name="Shape 9"/>
          <p:cNvSpPr/>
          <p:nvPr/>
        </p:nvSpPr>
        <p:spPr>
          <a:xfrm>
            <a:off x="6974860" y="2893219"/>
            <a:ext cx="680442" cy="680442"/>
          </a:xfrm>
          <a:prstGeom prst="roundRect">
            <a:avLst>
              <a:gd name="adj" fmla="val 134383"/>
            </a:avLst>
          </a:prstGeom>
          <a:solidFill>
            <a:srgbClr val="E6DED2">
              <a:alpha val="50000"/>
            </a:srgbClr>
          </a:solidFill>
          <a:ln/>
        </p:spPr>
      </p:sp>
      <p:sp>
        <p:nvSpPr>
          <p:cNvPr id="12" name="Text 10"/>
          <p:cNvSpPr/>
          <p:nvPr/>
        </p:nvSpPr>
        <p:spPr>
          <a:xfrm>
            <a:off x="7178933" y="3063359"/>
            <a:ext cx="272177" cy="3401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3400"/>
              </a:lnSpc>
              <a:buNone/>
            </a:pPr>
            <a:r>
              <a:rPr lang="en-US" sz="2100" dirty="0">
                <a:solidFill>
                  <a:srgbClr val="000000"/>
                </a:solidFill>
                <a:latin typeface="Satoshi" pitchFamily="50" charset="0"/>
                <a:ea typeface="Noto Serif Medium" pitchFamily="34" charset="-122"/>
                <a:cs typeface="Noto Serif Medium" pitchFamily="34" charset="-120"/>
              </a:rPr>
              <a:t>2</a:t>
            </a:r>
            <a:endParaRPr lang="en-US" sz="2100" dirty="0">
              <a:latin typeface="Satoshi" pitchFamily="50" charset="0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5534501" y="3800356"/>
            <a:ext cx="3561159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4C4C4C"/>
                </a:solidFill>
                <a:latin typeface="Satoshi" pitchFamily="50" charset="0"/>
                <a:ea typeface="Noto Serif Medium" pitchFamily="34" charset="-122"/>
                <a:cs typeface="Noto Serif Medium" pitchFamily="34" charset="-120"/>
              </a:rPr>
              <a:t>Cleaning &amp; Normalization</a:t>
            </a:r>
            <a:endParaRPr lang="en-US" sz="2200" b="1" dirty="0">
              <a:latin typeface="Satoshi" pitchFamily="50" charset="0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5474256" y="4290774"/>
            <a:ext cx="3681770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850"/>
              </a:lnSpc>
              <a:buNone/>
            </a:pPr>
            <a:r>
              <a:rPr lang="en-US" sz="1750" dirty="0">
                <a:solidFill>
                  <a:srgbClr val="4C4C4C"/>
                </a:solidFill>
                <a:latin typeface="Satoshi" pitchFamily="50" charset="0"/>
                <a:ea typeface="Noto Serif" pitchFamily="34" charset="-122"/>
                <a:cs typeface="Noto Serif" pitchFamily="34" charset="-120"/>
              </a:rPr>
              <a:t>Resized all images to 224×224 pixels.</a:t>
            </a:r>
            <a:endParaRPr lang="en-US" sz="1750" dirty="0">
              <a:latin typeface="Satoshi" pitchFamily="50" charset="0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5474256" y="4667644"/>
            <a:ext cx="3681770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850"/>
              </a:lnSpc>
              <a:buNone/>
            </a:pPr>
            <a:r>
              <a:rPr lang="en-US" sz="1750" dirty="0">
                <a:solidFill>
                  <a:srgbClr val="4C4C4C"/>
                </a:solidFill>
                <a:latin typeface="Satoshi" pitchFamily="50" charset="0"/>
                <a:ea typeface="Noto Serif" pitchFamily="34" charset="-122"/>
                <a:cs typeface="Noto Serif" pitchFamily="34" charset="-120"/>
              </a:rPr>
              <a:t>Normalized using ImageNet mean and standard deviation.</a:t>
            </a:r>
            <a:endParaRPr lang="en-US" sz="1750" dirty="0">
              <a:latin typeface="Satoshi" pitchFamily="50" charset="0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9640133" y="3233380"/>
            <a:ext cx="4196358" cy="3265289"/>
          </a:xfrm>
          <a:prstGeom prst="roundRect">
            <a:avLst>
              <a:gd name="adj" fmla="val 4481"/>
            </a:avLst>
          </a:prstGeom>
          <a:solidFill>
            <a:srgbClr val="FDFBF7"/>
          </a:solidFill>
          <a:ln/>
          <a:effectLst>
            <a:outerShdw dist="29210" dir="2700000" algn="bl" rotWithShape="0">
              <a:srgbClr val="E6DED2">
                <a:alpha val="10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9640133" y="3202900"/>
            <a:ext cx="4196358" cy="121920"/>
          </a:xfrm>
          <a:prstGeom prst="roundRect">
            <a:avLst>
              <a:gd name="adj" fmla="val 78139"/>
            </a:avLst>
          </a:prstGeom>
          <a:solidFill>
            <a:srgbClr val="E6DED2"/>
          </a:solidFill>
          <a:ln/>
        </p:spPr>
      </p:sp>
      <p:sp>
        <p:nvSpPr>
          <p:cNvPr id="18" name="Shape 16"/>
          <p:cNvSpPr/>
          <p:nvPr/>
        </p:nvSpPr>
        <p:spPr>
          <a:xfrm>
            <a:off x="11398032" y="2893219"/>
            <a:ext cx="680442" cy="680442"/>
          </a:xfrm>
          <a:prstGeom prst="roundRect">
            <a:avLst>
              <a:gd name="adj" fmla="val 134383"/>
            </a:avLst>
          </a:prstGeom>
          <a:solidFill>
            <a:srgbClr val="E6DED2">
              <a:alpha val="50000"/>
            </a:srgbClr>
          </a:solidFill>
          <a:ln/>
        </p:spPr>
      </p:sp>
      <p:sp>
        <p:nvSpPr>
          <p:cNvPr id="19" name="Text 17"/>
          <p:cNvSpPr/>
          <p:nvPr/>
        </p:nvSpPr>
        <p:spPr>
          <a:xfrm>
            <a:off x="11602105" y="3063359"/>
            <a:ext cx="272177" cy="3401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3400"/>
              </a:lnSpc>
              <a:buNone/>
            </a:pPr>
            <a:r>
              <a:rPr lang="en-US" sz="2100" dirty="0">
                <a:solidFill>
                  <a:srgbClr val="000000"/>
                </a:solidFill>
                <a:latin typeface="Satoshi" pitchFamily="50" charset="0"/>
                <a:ea typeface="Noto Serif Medium" pitchFamily="34" charset="-122"/>
                <a:cs typeface="Noto Serif Medium" pitchFamily="34" charset="-120"/>
              </a:rPr>
              <a:t>3</a:t>
            </a:r>
            <a:endParaRPr lang="en-US" sz="2100" dirty="0">
              <a:latin typeface="Satoshi" pitchFamily="50" charset="0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10267117" y="3800356"/>
            <a:ext cx="2942272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4C4C4C"/>
                </a:solidFill>
                <a:latin typeface="Satoshi" pitchFamily="50" charset="0"/>
                <a:ea typeface="Noto Serif Medium" pitchFamily="34" charset="-122"/>
                <a:cs typeface="Noto Serif Medium" pitchFamily="34" charset="-120"/>
              </a:rPr>
              <a:t>Train-Validation Split</a:t>
            </a:r>
            <a:endParaRPr lang="en-US" sz="2200" b="1" dirty="0">
              <a:latin typeface="Satoshi" pitchFamily="50" charset="0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9897427" y="4290774"/>
            <a:ext cx="3681770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850"/>
              </a:lnSpc>
              <a:buNone/>
            </a:pPr>
            <a:r>
              <a:rPr lang="en-US" sz="1750" dirty="0">
                <a:solidFill>
                  <a:srgbClr val="4C4C4C"/>
                </a:solidFill>
                <a:latin typeface="Satoshi" pitchFamily="50" charset="0"/>
                <a:ea typeface="Noto Serif" pitchFamily="34" charset="-122"/>
                <a:cs typeface="Noto Serif" pitchFamily="34" charset="-120"/>
              </a:rPr>
              <a:t>Programmatically split dataset into train, validation, and test sets (e.g., 15% validation, 10% test).</a:t>
            </a:r>
            <a:endParaRPr lang="en-US" sz="1750" dirty="0">
              <a:latin typeface="Satoshi" pitchFamily="50" charset="0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9897427" y="5515570"/>
            <a:ext cx="3681770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850"/>
              </a:lnSpc>
              <a:buNone/>
            </a:pPr>
            <a:r>
              <a:rPr lang="en-US" sz="1750" dirty="0">
                <a:solidFill>
                  <a:srgbClr val="4C4C4C"/>
                </a:solidFill>
                <a:latin typeface="Satoshi" pitchFamily="50" charset="0"/>
                <a:ea typeface="Noto Serif" pitchFamily="34" charset="-122"/>
                <a:cs typeface="Noto Serif" pitchFamily="34" charset="-120"/>
              </a:rPr>
              <a:t>Ensured reproducibility with a fixed random seed.</a:t>
            </a:r>
            <a:endParaRPr lang="en-US" sz="1750" dirty="0">
              <a:latin typeface="Satoshi" pitchFamily="50" charset="0"/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5DC6C3C2-3C5F-8C50-A90C-0214CA55BD51}"/>
              </a:ext>
            </a:extLst>
          </p:cNvPr>
          <p:cNvSpPr/>
          <p:nvPr/>
        </p:nvSpPr>
        <p:spPr>
          <a:xfrm>
            <a:off x="12833405" y="7776376"/>
            <a:ext cx="1709531" cy="362903"/>
          </a:xfrm>
          <a:prstGeom prst="rect">
            <a:avLst/>
          </a:prstGeom>
          <a:solidFill>
            <a:srgbClr val="FDFBF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CDEB28AD-1B9A-1989-06E4-CDBE230D455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658450" y="0"/>
            <a:ext cx="1971950" cy="838317"/>
          </a:xfrm>
          <a:prstGeom prst="rect">
            <a:avLst/>
          </a:prstGeom>
        </p:spPr>
      </p:pic>
    </p:spTree>
  </p:cSld>
  <p:clrMapOvr>
    <a:masterClrMapping/>
  </p:clrMapOvr>
  <p:transition spd="slow">
    <p:cover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643784"/>
            <a:ext cx="7358896" cy="6734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300"/>
              </a:lnSpc>
              <a:buNone/>
            </a:pPr>
            <a:r>
              <a:rPr lang="en-US" sz="4200" b="1" dirty="0">
                <a:solidFill>
                  <a:srgbClr val="3A3A3A"/>
                </a:solidFill>
                <a:latin typeface="Satoshi" pitchFamily="50" charset="0"/>
                <a:ea typeface="Noto Serif Medium" pitchFamily="34" charset="-122"/>
                <a:cs typeface="Noto Serif Medium" pitchFamily="34" charset="-120"/>
              </a:rPr>
              <a:t>Methodology  </a:t>
            </a:r>
            <a:endParaRPr lang="en-US" sz="4200" b="1" dirty="0">
              <a:latin typeface="Satoshi" pitchFamily="50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793790" y="2573926"/>
            <a:ext cx="5849303" cy="5387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200"/>
              </a:lnSpc>
              <a:buNone/>
            </a:pPr>
            <a:r>
              <a:rPr lang="en-US" sz="2800" b="1" dirty="0">
                <a:solidFill>
                  <a:srgbClr val="3A3A3A"/>
                </a:solidFill>
                <a:latin typeface="Satoshi" pitchFamily="50" charset="0"/>
                <a:ea typeface="Noto Serif Medium" pitchFamily="34" charset="-122"/>
                <a:cs typeface="Noto Serif Medium" pitchFamily="34" charset="-120"/>
              </a:rPr>
              <a:t>Module 1: Disease Detection</a:t>
            </a:r>
            <a:endParaRPr lang="en-US" sz="2800" b="1" dirty="0">
              <a:latin typeface="Satoshi" pitchFamily="50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793790" y="3449486"/>
            <a:ext cx="2693551" cy="336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100" b="1" dirty="0">
                <a:solidFill>
                  <a:srgbClr val="3A3A3A"/>
                </a:solidFill>
                <a:latin typeface="Satoshi" pitchFamily="50" charset="0"/>
                <a:ea typeface="Noto Serif Medium" pitchFamily="34" charset="-122"/>
                <a:cs typeface="Noto Serif Medium" pitchFamily="34" charset="-120"/>
              </a:rPr>
              <a:t>Approach</a:t>
            </a:r>
            <a:endParaRPr lang="en-US" sz="2100" b="1" dirty="0">
              <a:latin typeface="Satoshi" pitchFamily="50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793790" y="3990744"/>
            <a:ext cx="6258520" cy="6722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50" dirty="0">
                <a:solidFill>
                  <a:srgbClr val="4C4C4C"/>
                </a:solidFill>
                <a:latin typeface="Satoshi" pitchFamily="50" charset="0"/>
                <a:ea typeface="Noto Serif" pitchFamily="34" charset="-122"/>
                <a:cs typeface="Noto Serif" pitchFamily="34" charset="-120"/>
              </a:rPr>
              <a:t>Utilise </a:t>
            </a:r>
            <a:r>
              <a:rPr lang="en-US" sz="1650" dirty="0">
                <a:solidFill>
                  <a:srgbClr val="4C4C4C"/>
                </a:solidFill>
                <a:highlight>
                  <a:srgbClr val="F0EEEA"/>
                </a:highlight>
                <a:latin typeface="Satoshi" pitchFamily="50" charset="0"/>
                <a:ea typeface="Consolas" pitchFamily="34" charset="-122"/>
                <a:cs typeface="Consolas" pitchFamily="34" charset="-120"/>
              </a:rPr>
              <a:t>ResNet50 CNN model</a:t>
            </a:r>
            <a:r>
              <a:rPr lang="en-US" sz="1650" dirty="0">
                <a:solidFill>
                  <a:srgbClr val="4C4C4C"/>
                </a:solidFill>
                <a:latin typeface="Satoshi" pitchFamily="50" charset="0"/>
                <a:ea typeface="Noto Serif" pitchFamily="34" charset="-122"/>
                <a:cs typeface="Noto Serif" pitchFamily="34" charset="-120"/>
              </a:rPr>
              <a:t> for accurate image classification of coffee leaf diseases</a:t>
            </a:r>
            <a:endParaRPr lang="en-US" sz="1650" dirty="0">
              <a:latin typeface="Satoshi" pitchFamily="50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793790" y="4867640"/>
            <a:ext cx="2693551" cy="336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100" b="1" dirty="0">
                <a:solidFill>
                  <a:srgbClr val="3A3A3A"/>
                </a:solidFill>
                <a:latin typeface="Satoshi" pitchFamily="50" charset="0"/>
                <a:ea typeface="Noto Serif Medium" pitchFamily="34" charset="-122"/>
                <a:cs typeface="Noto Serif Medium" pitchFamily="34" charset="-120"/>
              </a:rPr>
              <a:t>Workflow</a:t>
            </a:r>
            <a:endParaRPr lang="en-US" sz="2100" b="1" dirty="0">
              <a:latin typeface="Satoshi" pitchFamily="50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793790" y="5408898"/>
            <a:ext cx="6258520" cy="2231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600"/>
              </a:lnSpc>
              <a:buSzPct val="100000"/>
              <a:buFont typeface="+mj-lt"/>
              <a:buAutoNum type="arabicPeriod"/>
            </a:pPr>
            <a:r>
              <a:rPr lang="en-US" sz="1650" dirty="0">
                <a:solidFill>
                  <a:srgbClr val="4C4C4C"/>
                </a:solidFill>
                <a:latin typeface="Satoshi" pitchFamily="50" charset="0"/>
                <a:ea typeface="Noto Serif" pitchFamily="34" charset="-122"/>
                <a:cs typeface="Noto Serif" pitchFamily="34" charset="-120"/>
              </a:rPr>
              <a:t>Farmer uploads coffee leaf image through mobile interface</a:t>
            </a:r>
            <a:endParaRPr lang="en-US" sz="1650" dirty="0">
              <a:latin typeface="Satoshi" pitchFamily="50" charset="0"/>
            </a:endParaRPr>
          </a:p>
          <a:p>
            <a:pPr marL="342900" indent="-342900" algn="l">
              <a:lnSpc>
                <a:spcPts val="2600"/>
              </a:lnSpc>
              <a:buSzPct val="100000"/>
              <a:buFont typeface="+mj-lt"/>
              <a:buAutoNum type="arabicPeriod" startAt="2"/>
            </a:pPr>
            <a:r>
              <a:rPr lang="en-US" sz="1650" dirty="0">
                <a:solidFill>
                  <a:srgbClr val="4C4C4C"/>
                </a:solidFill>
                <a:latin typeface="Satoshi" pitchFamily="50" charset="0"/>
                <a:ea typeface="Noto Serif" pitchFamily="34" charset="-122"/>
                <a:cs typeface="Noto Serif" pitchFamily="34" charset="-120"/>
              </a:rPr>
              <a:t>Image preprocessing and normalisation applied</a:t>
            </a:r>
            <a:endParaRPr lang="en-US" sz="1650" dirty="0">
              <a:latin typeface="Satoshi" pitchFamily="50" charset="0"/>
            </a:endParaRPr>
          </a:p>
          <a:p>
            <a:pPr marL="342900" indent="-342900" algn="l">
              <a:lnSpc>
                <a:spcPts val="2600"/>
              </a:lnSpc>
              <a:buSzPct val="100000"/>
              <a:buFont typeface="+mj-lt"/>
              <a:buAutoNum type="arabicPeriod" startAt="3"/>
            </a:pPr>
            <a:r>
              <a:rPr lang="en-US" sz="1650" dirty="0">
                <a:solidFill>
                  <a:srgbClr val="4C4C4C"/>
                </a:solidFill>
                <a:latin typeface="Satoshi" pitchFamily="50" charset="0"/>
                <a:ea typeface="Noto Serif" pitchFamily="34" charset="-122"/>
                <a:cs typeface="Noto Serif" pitchFamily="34" charset="-120"/>
              </a:rPr>
              <a:t>ResNet50 model predicts disease type with confidence score</a:t>
            </a:r>
            <a:endParaRPr lang="en-US" sz="1650" dirty="0">
              <a:latin typeface="Satoshi" pitchFamily="50" charset="0"/>
            </a:endParaRPr>
          </a:p>
          <a:p>
            <a:pPr marL="342900" indent="-342900" algn="l">
              <a:lnSpc>
                <a:spcPts val="2600"/>
              </a:lnSpc>
              <a:buSzPct val="100000"/>
              <a:buFont typeface="+mj-lt"/>
              <a:buAutoNum type="arabicPeriod" startAt="4"/>
            </a:pPr>
            <a:r>
              <a:rPr lang="en-US" sz="1650" dirty="0">
                <a:solidFill>
                  <a:srgbClr val="4C4C4C"/>
                </a:solidFill>
                <a:latin typeface="Satoshi" pitchFamily="50" charset="0"/>
                <a:ea typeface="Noto Serif" pitchFamily="34" charset="-122"/>
                <a:cs typeface="Noto Serif" pitchFamily="34" charset="-120"/>
              </a:rPr>
              <a:t>Results sent via REST API to frontend</a:t>
            </a:r>
            <a:endParaRPr lang="en-US" sz="1650" dirty="0">
              <a:latin typeface="Satoshi" pitchFamily="50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7585710" y="3449486"/>
            <a:ext cx="2693551" cy="336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100" b="1" dirty="0">
                <a:solidFill>
                  <a:srgbClr val="3A3A3A"/>
                </a:solidFill>
                <a:latin typeface="Satoshi" pitchFamily="50" charset="0"/>
                <a:ea typeface="Noto Serif Medium" pitchFamily="34" charset="-122"/>
                <a:cs typeface="Noto Serif Medium" pitchFamily="34" charset="-120"/>
              </a:rPr>
              <a:t>Key Technologies</a:t>
            </a:r>
            <a:endParaRPr lang="en-US" sz="2100" b="1" dirty="0">
              <a:latin typeface="Satoshi" pitchFamily="50" charset="0"/>
            </a:endParaRPr>
          </a:p>
        </p:txBody>
      </p:sp>
      <p:sp>
        <p:nvSpPr>
          <p:cNvPr id="9" name="Text 7"/>
          <p:cNvSpPr/>
          <p:nvPr/>
        </p:nvSpPr>
        <p:spPr>
          <a:xfrm>
            <a:off x="7585710" y="3990744"/>
            <a:ext cx="6258520" cy="11514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600"/>
              </a:lnSpc>
              <a:buSzPct val="100000"/>
              <a:buChar char="•"/>
            </a:pPr>
            <a:r>
              <a:rPr lang="en-US" sz="1650" dirty="0">
                <a:solidFill>
                  <a:srgbClr val="4C4C4C"/>
                </a:solidFill>
                <a:latin typeface="Satoshi" pitchFamily="50" charset="0"/>
                <a:ea typeface="Noto Serif" pitchFamily="34" charset="-122"/>
                <a:cs typeface="Noto Serif" pitchFamily="34" charset="-120"/>
              </a:rPr>
              <a:t>ResNet50 (Deep Learning CNN Architecture)</a:t>
            </a:r>
            <a:endParaRPr lang="en-US" sz="1650" dirty="0">
              <a:latin typeface="Satoshi" pitchFamily="50" charset="0"/>
            </a:endParaRPr>
          </a:p>
          <a:p>
            <a:pPr marL="342900" indent="-342900" algn="l">
              <a:lnSpc>
                <a:spcPts val="2600"/>
              </a:lnSpc>
              <a:buSzPct val="100000"/>
              <a:buChar char="•"/>
            </a:pPr>
            <a:r>
              <a:rPr lang="en-US" sz="1650" dirty="0">
                <a:solidFill>
                  <a:srgbClr val="4C4C4C"/>
                </a:solidFill>
                <a:latin typeface="Satoshi" pitchFamily="50" charset="0"/>
                <a:ea typeface="Noto Serif" pitchFamily="34" charset="-122"/>
                <a:cs typeface="Noto Serif" pitchFamily="34" charset="-120"/>
              </a:rPr>
              <a:t>FastAPI (Backend Framework)</a:t>
            </a:r>
            <a:endParaRPr lang="en-US" sz="1650" dirty="0">
              <a:latin typeface="Satoshi" pitchFamily="50" charset="0"/>
            </a:endParaRPr>
          </a:p>
          <a:p>
            <a:pPr marL="342900" indent="-342900" algn="l">
              <a:lnSpc>
                <a:spcPts val="2600"/>
              </a:lnSpc>
              <a:buSzPct val="100000"/>
              <a:buChar char="•"/>
            </a:pPr>
            <a:r>
              <a:rPr lang="en-US" sz="1650" dirty="0">
                <a:solidFill>
                  <a:srgbClr val="4C4C4C"/>
                </a:solidFill>
                <a:latin typeface="Satoshi" pitchFamily="50" charset="0"/>
                <a:ea typeface="Noto Serif" pitchFamily="34" charset="-122"/>
                <a:cs typeface="Noto Serif" pitchFamily="34" charset="-120"/>
              </a:rPr>
              <a:t>Streamlit (Model Testing Interface)</a:t>
            </a:r>
            <a:endParaRPr lang="en-US" sz="1650" dirty="0">
              <a:latin typeface="Satoshi" pitchFamily="50" charset="0"/>
            </a:endParaRPr>
          </a:p>
        </p:txBody>
      </p:sp>
      <p:sp>
        <p:nvSpPr>
          <p:cNvPr id="10" name="Text 8"/>
          <p:cNvSpPr/>
          <p:nvPr/>
        </p:nvSpPr>
        <p:spPr>
          <a:xfrm>
            <a:off x="793790" y="8018867"/>
            <a:ext cx="4309705" cy="5387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200"/>
              </a:lnSpc>
              <a:buNone/>
            </a:pPr>
            <a:endParaRPr lang="en-US" sz="3350" dirty="0">
              <a:latin typeface="Satoshi" pitchFamily="50" charset="0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452494A-DAB4-568A-AA59-34DB7F87BCC8}"/>
              </a:ext>
            </a:extLst>
          </p:cNvPr>
          <p:cNvSpPr/>
          <p:nvPr/>
        </p:nvSpPr>
        <p:spPr>
          <a:xfrm>
            <a:off x="12833405" y="7776376"/>
            <a:ext cx="1709531" cy="362903"/>
          </a:xfrm>
          <a:prstGeom prst="rect">
            <a:avLst/>
          </a:prstGeom>
          <a:solidFill>
            <a:srgbClr val="FDFBF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5AA654BA-A4D1-24E0-F83A-5068FAEA5D7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658450" y="0"/>
            <a:ext cx="1971950" cy="838317"/>
          </a:xfrm>
          <a:prstGeom prst="rect">
            <a:avLst/>
          </a:prstGeom>
        </p:spPr>
      </p:pic>
    </p:spTree>
  </p:cSld>
  <p:clrMapOvr>
    <a:masterClrMapping/>
  </p:clrMapOvr>
  <p:transition spd="slow">
    <p:cover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307187"/>
            <a:ext cx="12136636" cy="5316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150"/>
              </a:lnSpc>
              <a:buNone/>
            </a:pPr>
            <a:r>
              <a:rPr lang="en-US" sz="3300" b="1" dirty="0">
                <a:solidFill>
                  <a:srgbClr val="3A3A3A"/>
                </a:solidFill>
                <a:latin typeface="Satoshi" pitchFamily="50" charset="0"/>
                <a:ea typeface="Noto Serif Medium" pitchFamily="34" charset="-122"/>
                <a:cs typeface="Noto Serif Medium" pitchFamily="34" charset="-120"/>
              </a:rPr>
              <a:t>Development Overview Module 1: </a:t>
            </a:r>
            <a:r>
              <a:rPr lang="en-US" sz="3300" b="1" u="sng" dirty="0">
                <a:solidFill>
                  <a:srgbClr val="3A3A3A"/>
                </a:solidFill>
                <a:latin typeface="Satoshi" pitchFamily="50" charset="0"/>
                <a:ea typeface="Noto Serif Medium" pitchFamily="34" charset="-122"/>
                <a:cs typeface="Noto Serif Medium" pitchFamily="34" charset="-120"/>
              </a:rPr>
              <a:t>Image Disease Diagnosis</a:t>
            </a:r>
            <a:endParaRPr lang="en-US" sz="3300" b="1" dirty="0">
              <a:latin typeface="Satoshi" pitchFamily="50" charset="0"/>
            </a:endParaRPr>
          </a:p>
        </p:txBody>
      </p:sp>
      <p:sp>
        <p:nvSpPr>
          <p:cNvPr id="3" name="Shape 1"/>
          <p:cNvSpPr/>
          <p:nvPr/>
        </p:nvSpPr>
        <p:spPr>
          <a:xfrm>
            <a:off x="793790" y="2349103"/>
            <a:ext cx="4262557" cy="1705213"/>
          </a:xfrm>
          <a:prstGeom prst="roundRect">
            <a:avLst>
              <a:gd name="adj" fmla="val 6435"/>
            </a:avLst>
          </a:prstGeom>
          <a:solidFill>
            <a:srgbClr val="FDFBF7"/>
          </a:solidFill>
          <a:ln/>
          <a:effectLst>
            <a:outerShdw dist="21590" dir="2700000" algn="bl" rotWithShape="0">
              <a:srgbClr val="E6DED2">
                <a:alpha val="10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793790" y="2326243"/>
            <a:ext cx="4262557" cy="91440"/>
          </a:xfrm>
          <a:prstGeom prst="roundRect">
            <a:avLst>
              <a:gd name="adj" fmla="val 78140"/>
            </a:avLst>
          </a:prstGeom>
          <a:solidFill>
            <a:srgbClr val="E6DED2"/>
          </a:solidFill>
          <a:ln/>
        </p:spPr>
      </p:sp>
      <p:sp>
        <p:nvSpPr>
          <p:cNvPr id="5" name="Shape 3"/>
          <p:cNvSpPr/>
          <p:nvPr/>
        </p:nvSpPr>
        <p:spPr>
          <a:xfrm>
            <a:off x="2669858" y="2093952"/>
            <a:ext cx="510302" cy="510302"/>
          </a:xfrm>
          <a:prstGeom prst="roundRect">
            <a:avLst>
              <a:gd name="adj" fmla="val 179188"/>
            </a:avLst>
          </a:prstGeom>
          <a:solidFill>
            <a:srgbClr val="E6DED2">
              <a:alpha val="50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2822972" y="2221468"/>
            <a:ext cx="204073" cy="2551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25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Satoshi" pitchFamily="50" charset="0"/>
                <a:ea typeface="Noto Serif Medium" pitchFamily="34" charset="-122"/>
                <a:cs typeface="Noto Serif Medium" pitchFamily="34" charset="-120"/>
              </a:rPr>
              <a:t>1</a:t>
            </a:r>
            <a:endParaRPr lang="en-US" sz="1600" dirty="0">
              <a:latin typeface="Satoshi" pitchFamily="50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1861780" y="2774394"/>
            <a:ext cx="2126456" cy="2962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050"/>
              </a:lnSpc>
              <a:buNone/>
            </a:pPr>
            <a:r>
              <a:rPr lang="en-US" sz="1650" b="1" dirty="0">
                <a:solidFill>
                  <a:srgbClr val="4C4C4C"/>
                </a:solidFill>
                <a:highlight>
                  <a:srgbClr val="F0EEEA"/>
                </a:highlight>
                <a:latin typeface="Satoshi" pitchFamily="50" charset="0"/>
                <a:ea typeface="Consolas" pitchFamily="34" charset="-122"/>
                <a:cs typeface="Consolas" pitchFamily="34" charset="-120"/>
              </a:rPr>
              <a:t>app.py</a:t>
            </a:r>
            <a:endParaRPr lang="en-US" sz="1650" b="1" dirty="0">
              <a:latin typeface="Satoshi" pitchFamily="50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986671" y="3147060"/>
            <a:ext cx="3876794" cy="7143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850"/>
              </a:lnSpc>
              <a:buNone/>
            </a:pPr>
            <a:r>
              <a:rPr lang="en-US" sz="1300" dirty="0">
                <a:solidFill>
                  <a:srgbClr val="4C4C4C"/>
                </a:solidFill>
                <a:latin typeface="Satoshi" pitchFamily="50" charset="0"/>
                <a:ea typeface="Noto Serif" pitchFamily="34" charset="-122"/>
                <a:cs typeface="Noto Serif" pitchFamily="34" charset="-120"/>
              </a:rPr>
              <a:t>The central entry point, providing an API for users to upload plant images and receive disease predictions and treatment advice.</a:t>
            </a:r>
            <a:endParaRPr lang="en-US" sz="1300" dirty="0">
              <a:latin typeface="Satoshi" pitchFamily="50" charset="0"/>
            </a:endParaRPr>
          </a:p>
        </p:txBody>
      </p:sp>
      <p:sp>
        <p:nvSpPr>
          <p:cNvPr id="9" name="Shape 7"/>
          <p:cNvSpPr/>
          <p:nvPr/>
        </p:nvSpPr>
        <p:spPr>
          <a:xfrm>
            <a:off x="5183862" y="2349103"/>
            <a:ext cx="4262557" cy="1705213"/>
          </a:xfrm>
          <a:prstGeom prst="roundRect">
            <a:avLst>
              <a:gd name="adj" fmla="val 6435"/>
            </a:avLst>
          </a:prstGeom>
          <a:solidFill>
            <a:srgbClr val="FDFBF7"/>
          </a:solidFill>
          <a:ln/>
          <a:effectLst>
            <a:outerShdw dist="21590" dir="2700000" algn="bl" rotWithShape="0">
              <a:srgbClr val="E6DED2">
                <a:alpha val="10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5183862" y="2326243"/>
            <a:ext cx="4262557" cy="91440"/>
          </a:xfrm>
          <a:prstGeom prst="roundRect">
            <a:avLst>
              <a:gd name="adj" fmla="val 78140"/>
            </a:avLst>
          </a:prstGeom>
          <a:solidFill>
            <a:srgbClr val="E6DED2"/>
          </a:solidFill>
          <a:ln/>
        </p:spPr>
      </p:sp>
      <p:sp>
        <p:nvSpPr>
          <p:cNvPr id="11" name="Shape 9"/>
          <p:cNvSpPr/>
          <p:nvPr/>
        </p:nvSpPr>
        <p:spPr>
          <a:xfrm>
            <a:off x="7059930" y="2093952"/>
            <a:ext cx="510302" cy="510302"/>
          </a:xfrm>
          <a:prstGeom prst="roundRect">
            <a:avLst>
              <a:gd name="adj" fmla="val 179188"/>
            </a:avLst>
          </a:prstGeom>
          <a:solidFill>
            <a:srgbClr val="E6DED2">
              <a:alpha val="50000"/>
            </a:srgbClr>
          </a:solidFill>
          <a:ln/>
        </p:spPr>
      </p:sp>
      <p:sp>
        <p:nvSpPr>
          <p:cNvPr id="12" name="Text 10"/>
          <p:cNvSpPr/>
          <p:nvPr/>
        </p:nvSpPr>
        <p:spPr>
          <a:xfrm>
            <a:off x="7213044" y="2221468"/>
            <a:ext cx="204073" cy="2551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25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Satoshi" pitchFamily="50" charset="0"/>
                <a:ea typeface="Noto Serif Medium" pitchFamily="34" charset="-122"/>
                <a:cs typeface="Noto Serif Medium" pitchFamily="34" charset="-120"/>
              </a:rPr>
              <a:t>2</a:t>
            </a:r>
            <a:endParaRPr lang="en-US" sz="1600" dirty="0">
              <a:latin typeface="Satoshi" pitchFamily="50" charset="0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6251853" y="2774394"/>
            <a:ext cx="2126456" cy="2962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050"/>
              </a:lnSpc>
              <a:buNone/>
            </a:pPr>
            <a:r>
              <a:rPr lang="en-US" sz="1650" b="1" dirty="0">
                <a:solidFill>
                  <a:srgbClr val="4C4C4C"/>
                </a:solidFill>
                <a:highlight>
                  <a:srgbClr val="F0EEEA"/>
                </a:highlight>
                <a:latin typeface="Satoshi" pitchFamily="50" charset="0"/>
                <a:ea typeface="Consolas" pitchFamily="34" charset="-122"/>
                <a:cs typeface="Consolas" pitchFamily="34" charset="-120"/>
              </a:rPr>
              <a:t>chatbot.py</a:t>
            </a:r>
            <a:endParaRPr lang="en-US" sz="1650" b="1" dirty="0">
              <a:latin typeface="Satoshi" pitchFamily="50" charset="0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5376743" y="3147060"/>
            <a:ext cx="3876794" cy="7143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850"/>
              </a:lnSpc>
              <a:buNone/>
            </a:pPr>
            <a:r>
              <a:rPr lang="en-US" sz="1300" dirty="0">
                <a:solidFill>
                  <a:srgbClr val="4C4C4C"/>
                </a:solidFill>
                <a:latin typeface="Satoshi" pitchFamily="50" charset="0"/>
                <a:ea typeface="Noto Serif" pitchFamily="34" charset="-122"/>
                <a:cs typeface="Noto Serif" pitchFamily="34" charset="-120"/>
              </a:rPr>
              <a:t>Handles user queries, orchestrates model inference, and integrates treatment recommendations for detected plant diseases.</a:t>
            </a:r>
            <a:endParaRPr lang="en-US" sz="1300" dirty="0">
              <a:latin typeface="Satoshi" pitchFamily="50" charset="0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9573935" y="2349103"/>
            <a:ext cx="4262557" cy="1705213"/>
          </a:xfrm>
          <a:prstGeom prst="roundRect">
            <a:avLst>
              <a:gd name="adj" fmla="val 6435"/>
            </a:avLst>
          </a:prstGeom>
          <a:solidFill>
            <a:srgbClr val="FDFBF7"/>
          </a:solidFill>
          <a:ln/>
          <a:effectLst>
            <a:outerShdw dist="21590" dir="2700000" algn="bl" rotWithShape="0">
              <a:srgbClr val="E6DED2">
                <a:alpha val="10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9573935" y="2326243"/>
            <a:ext cx="4262557" cy="91440"/>
          </a:xfrm>
          <a:prstGeom prst="roundRect">
            <a:avLst>
              <a:gd name="adj" fmla="val 78140"/>
            </a:avLst>
          </a:prstGeom>
          <a:solidFill>
            <a:srgbClr val="E6DED2"/>
          </a:solidFill>
          <a:ln/>
        </p:spPr>
      </p:sp>
      <p:sp>
        <p:nvSpPr>
          <p:cNvPr id="17" name="Shape 15"/>
          <p:cNvSpPr/>
          <p:nvPr/>
        </p:nvSpPr>
        <p:spPr>
          <a:xfrm>
            <a:off x="11450003" y="2093952"/>
            <a:ext cx="510302" cy="510302"/>
          </a:xfrm>
          <a:prstGeom prst="roundRect">
            <a:avLst>
              <a:gd name="adj" fmla="val 179188"/>
            </a:avLst>
          </a:prstGeom>
          <a:solidFill>
            <a:srgbClr val="E6DED2">
              <a:alpha val="50000"/>
            </a:srgbClr>
          </a:solidFill>
          <a:ln/>
        </p:spPr>
      </p:sp>
      <p:sp>
        <p:nvSpPr>
          <p:cNvPr id="18" name="Text 16"/>
          <p:cNvSpPr/>
          <p:nvPr/>
        </p:nvSpPr>
        <p:spPr>
          <a:xfrm>
            <a:off x="11603117" y="2221468"/>
            <a:ext cx="204073" cy="2551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25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Satoshi" pitchFamily="50" charset="0"/>
                <a:ea typeface="Noto Serif Medium" pitchFamily="34" charset="-122"/>
                <a:cs typeface="Noto Serif Medium" pitchFamily="34" charset="-120"/>
              </a:rPr>
              <a:t>3</a:t>
            </a:r>
            <a:endParaRPr lang="en-US" sz="1600" dirty="0">
              <a:latin typeface="Satoshi" pitchFamily="50" charset="0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10641925" y="2774394"/>
            <a:ext cx="2126456" cy="2962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050"/>
              </a:lnSpc>
              <a:buNone/>
            </a:pPr>
            <a:r>
              <a:rPr lang="en-US" sz="1650" b="1" dirty="0">
                <a:solidFill>
                  <a:srgbClr val="4C4C4C"/>
                </a:solidFill>
                <a:highlight>
                  <a:srgbClr val="F0EEEA"/>
                </a:highlight>
                <a:latin typeface="Satoshi" pitchFamily="50" charset="0"/>
                <a:ea typeface="Consolas" pitchFamily="34" charset="-122"/>
                <a:cs typeface="Consolas" pitchFamily="34" charset="-120"/>
              </a:rPr>
              <a:t>inference.py</a:t>
            </a:r>
            <a:endParaRPr lang="en-US" sz="1650" b="1" dirty="0">
              <a:latin typeface="Satoshi" pitchFamily="50" charset="0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9766816" y="3147060"/>
            <a:ext cx="3876794" cy="7143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850"/>
              </a:lnSpc>
              <a:buNone/>
            </a:pPr>
            <a:r>
              <a:rPr lang="en-US" sz="1300" dirty="0">
                <a:solidFill>
                  <a:srgbClr val="4C4C4C"/>
                </a:solidFill>
                <a:latin typeface="Satoshi" pitchFamily="50" charset="0"/>
                <a:ea typeface="Noto Serif" pitchFamily="34" charset="-122"/>
                <a:cs typeface="Noto Serif" pitchFamily="34" charset="-120"/>
              </a:rPr>
              <a:t>Performs image preprocessing, model loading, and prediction using a deep learning model (ResNet50) for plant disease classification.</a:t>
            </a:r>
            <a:endParaRPr lang="en-US" sz="1300" dirty="0">
              <a:latin typeface="Satoshi" pitchFamily="50" charset="0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793790" y="4245650"/>
            <a:ext cx="2551748" cy="318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3A3A3A"/>
                </a:solidFill>
                <a:latin typeface="Satoshi" pitchFamily="50" charset="0"/>
                <a:ea typeface="Noto Serif Medium" pitchFamily="34" charset="-122"/>
                <a:cs typeface="Noto Serif Medium" pitchFamily="34" charset="-120"/>
              </a:rPr>
              <a:t>Technological Stack</a:t>
            </a:r>
            <a:endParaRPr lang="en-US" sz="2000" dirty="0">
              <a:latin typeface="Satoshi" pitchFamily="50" charset="0"/>
            </a:endParaRPr>
          </a:p>
        </p:txBody>
      </p:sp>
      <p:sp>
        <p:nvSpPr>
          <p:cNvPr id="22" name="Shape 20"/>
          <p:cNvSpPr/>
          <p:nvPr/>
        </p:nvSpPr>
        <p:spPr>
          <a:xfrm>
            <a:off x="793790" y="4947166"/>
            <a:ext cx="13042821" cy="22860"/>
          </a:xfrm>
          <a:prstGeom prst="roundRect">
            <a:avLst>
              <a:gd name="adj" fmla="val 312558"/>
            </a:avLst>
          </a:prstGeom>
          <a:solidFill>
            <a:srgbClr val="000000">
              <a:alpha val="8000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2022872" y="4947166"/>
            <a:ext cx="22860" cy="510302"/>
          </a:xfrm>
          <a:prstGeom prst="roundRect">
            <a:avLst>
              <a:gd name="adj" fmla="val 312558"/>
            </a:avLst>
          </a:prstGeom>
          <a:solidFill>
            <a:srgbClr val="CCC4B8"/>
          </a:solidFill>
          <a:ln/>
        </p:spPr>
      </p:sp>
      <p:sp>
        <p:nvSpPr>
          <p:cNvPr id="24" name="Shape 22"/>
          <p:cNvSpPr/>
          <p:nvPr/>
        </p:nvSpPr>
        <p:spPr>
          <a:xfrm>
            <a:off x="1842968" y="4755833"/>
            <a:ext cx="382667" cy="382667"/>
          </a:xfrm>
          <a:prstGeom prst="roundRect">
            <a:avLst>
              <a:gd name="adj" fmla="val 18672"/>
            </a:avLst>
          </a:prstGeom>
          <a:solidFill>
            <a:srgbClr val="E6DED2">
              <a:alpha val="50000"/>
            </a:srgbClr>
          </a:solidFill>
          <a:ln w="7620">
            <a:solidFill>
              <a:srgbClr val="CCC4B8"/>
            </a:solidFill>
            <a:prstDash val="solid"/>
          </a:ln>
          <a:effectLst>
            <a:outerShdw dist="21590" dir="2700000" algn="bl" rotWithShape="0">
              <a:srgbClr val="CCC4B8">
                <a:alpha val="100000"/>
              </a:srgbClr>
            </a:outerShdw>
          </a:effectLst>
        </p:spPr>
      </p:sp>
      <p:pic>
        <p:nvPicPr>
          <p:cNvPr id="2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06726" y="4819590"/>
            <a:ext cx="255151" cy="255151"/>
          </a:xfrm>
          <a:prstGeom prst="rect">
            <a:avLst/>
          </a:prstGeom>
        </p:spPr>
      </p:pic>
      <p:sp>
        <p:nvSpPr>
          <p:cNvPr id="26" name="Text 23"/>
          <p:cNvSpPr/>
          <p:nvPr/>
        </p:nvSpPr>
        <p:spPr>
          <a:xfrm>
            <a:off x="971074" y="5627608"/>
            <a:ext cx="2126456" cy="2657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050"/>
              </a:lnSpc>
              <a:buNone/>
            </a:pPr>
            <a:r>
              <a:rPr lang="en-US" sz="1650" b="1" dirty="0">
                <a:solidFill>
                  <a:srgbClr val="4C4C4C"/>
                </a:solidFill>
                <a:latin typeface="Satoshi" pitchFamily="50" charset="0"/>
                <a:ea typeface="Noto Serif Medium" pitchFamily="34" charset="-122"/>
                <a:cs typeface="Noto Serif Medium" pitchFamily="34" charset="-120"/>
              </a:rPr>
              <a:t>Pytorch</a:t>
            </a:r>
            <a:endParaRPr lang="en-US" sz="1650" b="1" dirty="0">
              <a:latin typeface="Satoshi" pitchFamily="50" charset="0"/>
            </a:endParaRPr>
          </a:p>
        </p:txBody>
      </p:sp>
      <p:sp>
        <p:nvSpPr>
          <p:cNvPr id="27" name="Text 24"/>
          <p:cNvSpPr/>
          <p:nvPr/>
        </p:nvSpPr>
        <p:spPr>
          <a:xfrm>
            <a:off x="963811" y="5969794"/>
            <a:ext cx="2140982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850"/>
              </a:lnSpc>
              <a:buNone/>
            </a:pPr>
            <a:r>
              <a:rPr lang="en-US" sz="1300" dirty="0">
                <a:solidFill>
                  <a:srgbClr val="4C4C4C"/>
                </a:solidFill>
                <a:latin typeface="Satoshi" pitchFamily="50" charset="0"/>
                <a:ea typeface="Noto Serif" pitchFamily="34" charset="-122"/>
                <a:cs typeface="Noto Serif" pitchFamily="34" charset="-120"/>
              </a:rPr>
              <a:t>Powers the deep learning model (ResNet50) for accurate plant disease classification from images</a:t>
            </a:r>
            <a:endParaRPr lang="en-US" sz="1300" dirty="0">
              <a:latin typeface="Satoshi" pitchFamily="50" charset="0"/>
            </a:endParaRPr>
          </a:p>
        </p:txBody>
      </p:sp>
      <p:sp>
        <p:nvSpPr>
          <p:cNvPr id="28" name="Shape 25"/>
          <p:cNvSpPr/>
          <p:nvPr/>
        </p:nvSpPr>
        <p:spPr>
          <a:xfrm>
            <a:off x="4663321" y="4947166"/>
            <a:ext cx="22860" cy="510302"/>
          </a:xfrm>
          <a:prstGeom prst="roundRect">
            <a:avLst>
              <a:gd name="adj" fmla="val 312558"/>
            </a:avLst>
          </a:prstGeom>
          <a:solidFill>
            <a:srgbClr val="CCC4B8"/>
          </a:solidFill>
          <a:ln/>
        </p:spPr>
      </p:sp>
      <p:sp>
        <p:nvSpPr>
          <p:cNvPr id="29" name="Shape 26"/>
          <p:cNvSpPr/>
          <p:nvPr/>
        </p:nvSpPr>
        <p:spPr>
          <a:xfrm>
            <a:off x="4483418" y="4755833"/>
            <a:ext cx="382667" cy="382667"/>
          </a:xfrm>
          <a:prstGeom prst="roundRect">
            <a:avLst>
              <a:gd name="adj" fmla="val 18672"/>
            </a:avLst>
          </a:prstGeom>
          <a:solidFill>
            <a:srgbClr val="E6DED2">
              <a:alpha val="50000"/>
            </a:srgbClr>
          </a:solidFill>
          <a:ln w="7620">
            <a:solidFill>
              <a:srgbClr val="CCC4B8"/>
            </a:solidFill>
            <a:prstDash val="solid"/>
          </a:ln>
          <a:effectLst>
            <a:outerShdw dist="21590" dir="2700000" algn="bl" rotWithShape="0">
              <a:srgbClr val="CCC4B8">
                <a:alpha val="100000"/>
              </a:srgbClr>
            </a:outerShdw>
          </a:effectLst>
        </p:spPr>
      </p:sp>
      <p:pic>
        <p:nvPicPr>
          <p:cNvPr id="3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47175" y="4819590"/>
            <a:ext cx="255151" cy="255151"/>
          </a:xfrm>
          <a:prstGeom prst="rect">
            <a:avLst/>
          </a:prstGeom>
        </p:spPr>
      </p:pic>
      <p:sp>
        <p:nvSpPr>
          <p:cNvPr id="31" name="Text 27"/>
          <p:cNvSpPr/>
          <p:nvPr/>
        </p:nvSpPr>
        <p:spPr>
          <a:xfrm>
            <a:off x="3611523" y="5627608"/>
            <a:ext cx="2126456" cy="2657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050"/>
              </a:lnSpc>
              <a:buNone/>
            </a:pPr>
            <a:r>
              <a:rPr lang="en-US" sz="1650" b="1" dirty="0">
                <a:solidFill>
                  <a:srgbClr val="4C4C4C"/>
                </a:solidFill>
                <a:latin typeface="Satoshi" pitchFamily="50" charset="0"/>
                <a:ea typeface="Noto Serif Medium" pitchFamily="34" charset="-122"/>
                <a:cs typeface="Noto Serif Medium" pitchFamily="34" charset="-120"/>
              </a:rPr>
              <a:t>TorchVision</a:t>
            </a:r>
            <a:endParaRPr lang="en-US" sz="1650" b="1" dirty="0">
              <a:latin typeface="Satoshi" pitchFamily="50" charset="0"/>
            </a:endParaRPr>
          </a:p>
        </p:txBody>
      </p:sp>
      <p:sp>
        <p:nvSpPr>
          <p:cNvPr id="32" name="Text 28"/>
          <p:cNvSpPr/>
          <p:nvPr/>
        </p:nvSpPr>
        <p:spPr>
          <a:xfrm>
            <a:off x="3604260" y="5969794"/>
            <a:ext cx="2140982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850"/>
              </a:lnSpc>
              <a:buNone/>
            </a:pPr>
            <a:r>
              <a:rPr lang="en-US" sz="1300" dirty="0">
                <a:solidFill>
                  <a:srgbClr val="4C4C4C"/>
                </a:solidFill>
                <a:latin typeface="Satoshi" pitchFamily="50" charset="0"/>
                <a:ea typeface="Noto Serif" pitchFamily="34" charset="-122"/>
                <a:cs typeface="Noto Serif" pitchFamily="34" charset="-120"/>
              </a:rPr>
              <a:t>Used for image transformations, augmentations, and dataset handling.</a:t>
            </a:r>
            <a:endParaRPr lang="en-US" sz="1300" dirty="0">
              <a:latin typeface="Satoshi" pitchFamily="50" charset="0"/>
            </a:endParaRPr>
          </a:p>
        </p:txBody>
      </p:sp>
      <p:sp>
        <p:nvSpPr>
          <p:cNvPr id="33" name="Shape 29"/>
          <p:cNvSpPr/>
          <p:nvPr/>
        </p:nvSpPr>
        <p:spPr>
          <a:xfrm>
            <a:off x="7303770" y="4947166"/>
            <a:ext cx="22860" cy="510302"/>
          </a:xfrm>
          <a:prstGeom prst="roundRect">
            <a:avLst>
              <a:gd name="adj" fmla="val 312558"/>
            </a:avLst>
          </a:prstGeom>
          <a:solidFill>
            <a:srgbClr val="CCC4B8"/>
          </a:solidFill>
          <a:ln/>
        </p:spPr>
      </p:sp>
      <p:sp>
        <p:nvSpPr>
          <p:cNvPr id="34" name="Shape 30"/>
          <p:cNvSpPr/>
          <p:nvPr/>
        </p:nvSpPr>
        <p:spPr>
          <a:xfrm>
            <a:off x="7123867" y="4755833"/>
            <a:ext cx="382667" cy="382667"/>
          </a:xfrm>
          <a:prstGeom prst="roundRect">
            <a:avLst>
              <a:gd name="adj" fmla="val 18672"/>
            </a:avLst>
          </a:prstGeom>
          <a:solidFill>
            <a:srgbClr val="E6DED2">
              <a:alpha val="50000"/>
            </a:srgbClr>
          </a:solidFill>
          <a:ln w="7620">
            <a:solidFill>
              <a:srgbClr val="CCC4B8"/>
            </a:solidFill>
            <a:prstDash val="solid"/>
          </a:ln>
          <a:effectLst>
            <a:outerShdw dist="21590" dir="2700000" algn="bl" rotWithShape="0">
              <a:srgbClr val="CCC4B8">
                <a:alpha val="100000"/>
              </a:srgbClr>
            </a:outerShdw>
          </a:effectLst>
        </p:spPr>
      </p:sp>
      <p:pic>
        <p:nvPicPr>
          <p:cNvPr id="3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87625" y="4819590"/>
            <a:ext cx="255151" cy="255151"/>
          </a:xfrm>
          <a:prstGeom prst="rect">
            <a:avLst/>
          </a:prstGeom>
        </p:spPr>
      </p:pic>
      <p:sp>
        <p:nvSpPr>
          <p:cNvPr id="36" name="Text 31"/>
          <p:cNvSpPr/>
          <p:nvPr/>
        </p:nvSpPr>
        <p:spPr>
          <a:xfrm>
            <a:off x="6251972" y="5627608"/>
            <a:ext cx="2126456" cy="2657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050"/>
              </a:lnSpc>
              <a:buNone/>
            </a:pPr>
            <a:r>
              <a:rPr lang="en-US" sz="1650" b="1" dirty="0">
                <a:solidFill>
                  <a:srgbClr val="4C4C4C"/>
                </a:solidFill>
                <a:latin typeface="Satoshi" pitchFamily="50" charset="0"/>
                <a:ea typeface="Noto Serif Medium" pitchFamily="34" charset="-122"/>
                <a:cs typeface="Noto Serif Medium" pitchFamily="34" charset="-120"/>
              </a:rPr>
              <a:t>Pillow</a:t>
            </a:r>
            <a:endParaRPr lang="en-US" sz="1650" b="1" dirty="0">
              <a:latin typeface="Satoshi" pitchFamily="50" charset="0"/>
            </a:endParaRPr>
          </a:p>
        </p:txBody>
      </p:sp>
      <p:sp>
        <p:nvSpPr>
          <p:cNvPr id="37" name="Text 32"/>
          <p:cNvSpPr/>
          <p:nvPr/>
        </p:nvSpPr>
        <p:spPr>
          <a:xfrm>
            <a:off x="6244709" y="5969794"/>
            <a:ext cx="2140982" cy="7143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850"/>
              </a:lnSpc>
              <a:buNone/>
            </a:pPr>
            <a:r>
              <a:rPr lang="en-US" sz="1300" dirty="0">
                <a:solidFill>
                  <a:srgbClr val="4C4C4C"/>
                </a:solidFill>
                <a:latin typeface="Satoshi" pitchFamily="50" charset="0"/>
                <a:ea typeface="Noto Serif" pitchFamily="34" charset="-122"/>
                <a:cs typeface="Noto Serif" pitchFamily="34" charset="-120"/>
              </a:rPr>
              <a:t>Processes and loads plant images for model inference.</a:t>
            </a:r>
            <a:endParaRPr lang="en-US" sz="1300" dirty="0">
              <a:latin typeface="Satoshi" pitchFamily="50" charset="0"/>
            </a:endParaRPr>
          </a:p>
        </p:txBody>
      </p:sp>
      <p:sp>
        <p:nvSpPr>
          <p:cNvPr id="38" name="Shape 33"/>
          <p:cNvSpPr/>
          <p:nvPr/>
        </p:nvSpPr>
        <p:spPr>
          <a:xfrm>
            <a:off x="9944219" y="4947166"/>
            <a:ext cx="22860" cy="510302"/>
          </a:xfrm>
          <a:prstGeom prst="roundRect">
            <a:avLst>
              <a:gd name="adj" fmla="val 312558"/>
            </a:avLst>
          </a:prstGeom>
          <a:solidFill>
            <a:srgbClr val="CCC4B8"/>
          </a:solidFill>
          <a:ln/>
        </p:spPr>
      </p:sp>
      <p:sp>
        <p:nvSpPr>
          <p:cNvPr id="39" name="Shape 34"/>
          <p:cNvSpPr/>
          <p:nvPr/>
        </p:nvSpPr>
        <p:spPr>
          <a:xfrm>
            <a:off x="9764316" y="4755833"/>
            <a:ext cx="382667" cy="382667"/>
          </a:xfrm>
          <a:prstGeom prst="roundRect">
            <a:avLst>
              <a:gd name="adj" fmla="val 18672"/>
            </a:avLst>
          </a:prstGeom>
          <a:solidFill>
            <a:srgbClr val="E6DED2">
              <a:alpha val="50000"/>
            </a:srgbClr>
          </a:solidFill>
          <a:ln w="7620">
            <a:solidFill>
              <a:srgbClr val="CCC4B8"/>
            </a:solidFill>
            <a:prstDash val="solid"/>
          </a:ln>
          <a:effectLst>
            <a:outerShdw dist="21590" dir="2700000" algn="bl" rotWithShape="0">
              <a:srgbClr val="CCC4B8">
                <a:alpha val="100000"/>
              </a:srgbClr>
            </a:outerShdw>
          </a:effectLst>
        </p:spPr>
      </p:sp>
      <p:pic>
        <p:nvPicPr>
          <p:cNvPr id="4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828074" y="4819590"/>
            <a:ext cx="255151" cy="255151"/>
          </a:xfrm>
          <a:prstGeom prst="rect">
            <a:avLst/>
          </a:prstGeom>
        </p:spPr>
      </p:pic>
      <p:sp>
        <p:nvSpPr>
          <p:cNvPr id="41" name="Text 35"/>
          <p:cNvSpPr/>
          <p:nvPr/>
        </p:nvSpPr>
        <p:spPr>
          <a:xfrm>
            <a:off x="8892421" y="5627608"/>
            <a:ext cx="2126456" cy="2657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050"/>
              </a:lnSpc>
              <a:buNone/>
            </a:pPr>
            <a:r>
              <a:rPr lang="en-US" sz="1650" b="1" dirty="0">
                <a:solidFill>
                  <a:srgbClr val="4C4C4C"/>
                </a:solidFill>
                <a:latin typeface="Satoshi" pitchFamily="50" charset="0"/>
                <a:ea typeface="Noto Serif Medium" pitchFamily="34" charset="-122"/>
                <a:cs typeface="Noto Serif Medium" pitchFamily="34" charset="-120"/>
              </a:rPr>
              <a:t>FastAPI</a:t>
            </a:r>
            <a:endParaRPr lang="en-US" sz="1650" b="1" dirty="0">
              <a:latin typeface="Satoshi" pitchFamily="50" charset="0"/>
            </a:endParaRPr>
          </a:p>
        </p:txBody>
      </p:sp>
      <p:sp>
        <p:nvSpPr>
          <p:cNvPr id="42" name="Text 36"/>
          <p:cNvSpPr/>
          <p:nvPr/>
        </p:nvSpPr>
        <p:spPr>
          <a:xfrm>
            <a:off x="8885158" y="5969794"/>
            <a:ext cx="2140982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850"/>
              </a:lnSpc>
              <a:buNone/>
            </a:pPr>
            <a:r>
              <a:rPr lang="en-US" sz="1300" dirty="0">
                <a:solidFill>
                  <a:srgbClr val="4C4C4C"/>
                </a:solidFill>
                <a:latin typeface="Satoshi" pitchFamily="50" charset="0"/>
                <a:ea typeface="Noto Serif" pitchFamily="34" charset="-122"/>
                <a:cs typeface="Noto Serif" pitchFamily="34" charset="-120"/>
              </a:rPr>
              <a:t>Provides a lightweight API interface for image upload and prediction requests.</a:t>
            </a:r>
            <a:endParaRPr lang="en-US" sz="1300" dirty="0">
              <a:latin typeface="Satoshi" pitchFamily="50" charset="0"/>
            </a:endParaRPr>
          </a:p>
        </p:txBody>
      </p:sp>
      <p:sp>
        <p:nvSpPr>
          <p:cNvPr id="43" name="Shape 37"/>
          <p:cNvSpPr/>
          <p:nvPr/>
        </p:nvSpPr>
        <p:spPr>
          <a:xfrm>
            <a:off x="12584668" y="4947166"/>
            <a:ext cx="22860" cy="510302"/>
          </a:xfrm>
          <a:prstGeom prst="roundRect">
            <a:avLst>
              <a:gd name="adj" fmla="val 312558"/>
            </a:avLst>
          </a:prstGeom>
          <a:solidFill>
            <a:srgbClr val="CCC4B8"/>
          </a:solidFill>
          <a:ln/>
        </p:spPr>
      </p:sp>
      <p:sp>
        <p:nvSpPr>
          <p:cNvPr id="44" name="Shape 38"/>
          <p:cNvSpPr/>
          <p:nvPr/>
        </p:nvSpPr>
        <p:spPr>
          <a:xfrm>
            <a:off x="12404765" y="4755833"/>
            <a:ext cx="382667" cy="382667"/>
          </a:xfrm>
          <a:prstGeom prst="roundRect">
            <a:avLst>
              <a:gd name="adj" fmla="val 18672"/>
            </a:avLst>
          </a:prstGeom>
          <a:solidFill>
            <a:srgbClr val="E6DED2">
              <a:alpha val="50000"/>
            </a:srgbClr>
          </a:solidFill>
          <a:ln w="7620">
            <a:solidFill>
              <a:srgbClr val="CCC4B8"/>
            </a:solidFill>
            <a:prstDash val="solid"/>
          </a:ln>
          <a:effectLst>
            <a:outerShdw dist="21590" dir="2700000" algn="bl" rotWithShape="0">
              <a:srgbClr val="CCC4B8">
                <a:alpha val="100000"/>
              </a:srgbClr>
            </a:outerShdw>
          </a:effectLst>
        </p:spPr>
      </p:sp>
      <p:pic>
        <p:nvPicPr>
          <p:cNvPr id="45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468523" y="4819590"/>
            <a:ext cx="255151" cy="255151"/>
          </a:xfrm>
          <a:prstGeom prst="rect">
            <a:avLst/>
          </a:prstGeom>
        </p:spPr>
      </p:pic>
      <p:sp>
        <p:nvSpPr>
          <p:cNvPr id="46" name="Text 39"/>
          <p:cNvSpPr/>
          <p:nvPr/>
        </p:nvSpPr>
        <p:spPr>
          <a:xfrm>
            <a:off x="11532870" y="5627608"/>
            <a:ext cx="2126456" cy="2657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050"/>
              </a:lnSpc>
              <a:buNone/>
            </a:pPr>
            <a:r>
              <a:rPr lang="en-US" sz="1650" b="1" dirty="0">
                <a:solidFill>
                  <a:srgbClr val="4C4C4C"/>
                </a:solidFill>
                <a:latin typeface="Satoshi" pitchFamily="50" charset="0"/>
                <a:ea typeface="Noto Serif Medium" pitchFamily="34" charset="-122"/>
                <a:cs typeface="Noto Serif Medium" pitchFamily="34" charset="-120"/>
              </a:rPr>
              <a:t>NumPy</a:t>
            </a:r>
            <a:endParaRPr lang="en-US" sz="1650" b="1" dirty="0">
              <a:latin typeface="Satoshi" pitchFamily="50" charset="0"/>
            </a:endParaRPr>
          </a:p>
        </p:txBody>
      </p:sp>
      <p:sp>
        <p:nvSpPr>
          <p:cNvPr id="47" name="Text 40"/>
          <p:cNvSpPr/>
          <p:nvPr/>
        </p:nvSpPr>
        <p:spPr>
          <a:xfrm>
            <a:off x="11525607" y="5969794"/>
            <a:ext cx="2140982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850"/>
              </a:lnSpc>
              <a:buNone/>
            </a:pPr>
            <a:r>
              <a:rPr lang="en-US" sz="1300" dirty="0">
                <a:solidFill>
                  <a:srgbClr val="4C4C4C"/>
                </a:solidFill>
                <a:latin typeface="Satoshi" pitchFamily="50" charset="0"/>
                <a:ea typeface="Noto Serif" pitchFamily="34" charset="-122"/>
                <a:cs typeface="Noto Serif" pitchFamily="34" charset="-120"/>
              </a:rPr>
              <a:t>Supports efficient numerical operations during preprocessing and inference</a:t>
            </a:r>
            <a:endParaRPr lang="en-US" sz="1300" dirty="0">
              <a:latin typeface="Satoshi" pitchFamily="50" charset="0"/>
            </a:endParaRP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2E9D8155-3509-7A01-CDDB-DCF38C70FC2F}"/>
              </a:ext>
            </a:extLst>
          </p:cNvPr>
          <p:cNvSpPr/>
          <p:nvPr/>
        </p:nvSpPr>
        <p:spPr>
          <a:xfrm>
            <a:off x="12833405" y="7776376"/>
            <a:ext cx="1709531" cy="362903"/>
          </a:xfrm>
          <a:prstGeom prst="rect">
            <a:avLst/>
          </a:prstGeom>
          <a:solidFill>
            <a:srgbClr val="FDFBF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9" name="Picture 48">
            <a:extLst>
              <a:ext uri="{FF2B5EF4-FFF2-40B4-BE49-F238E27FC236}">
                <a16:creationId xmlns:a16="http://schemas.microsoft.com/office/drawing/2014/main" id="{D8C541A8-9CF8-D72B-F033-1E7227B00837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2658450" y="0"/>
            <a:ext cx="1971950" cy="838317"/>
          </a:xfrm>
          <a:prstGeom prst="rect">
            <a:avLst/>
          </a:prstGeom>
        </p:spPr>
      </p:pic>
    </p:spTree>
  </p:cSld>
  <p:clrMapOvr>
    <a:masterClrMapping/>
  </p:clrMapOvr>
  <p:transition spd="slow">
    <p:cover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527279"/>
            <a:ext cx="5333643" cy="5103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000"/>
              </a:lnSpc>
              <a:buNone/>
            </a:pPr>
            <a:r>
              <a:rPr lang="en-US" sz="3200" b="1" dirty="0">
                <a:solidFill>
                  <a:srgbClr val="3A3A3A"/>
                </a:solidFill>
                <a:latin typeface="Satoshi" pitchFamily="50" charset="0"/>
                <a:ea typeface="Noto Serif Medium" pitchFamily="34" charset="-122"/>
                <a:cs typeface="Noto Serif Medium" pitchFamily="34" charset="-120"/>
              </a:rPr>
              <a:t>Module 2: Advisory System</a:t>
            </a:r>
            <a:endParaRPr lang="en-US" sz="3200" b="1" dirty="0">
              <a:latin typeface="Satoshi" pitchFamily="50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793790" y="2496805"/>
            <a:ext cx="2551748" cy="318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b="1" dirty="0">
                <a:solidFill>
                  <a:srgbClr val="3A3A3A"/>
                </a:solidFill>
                <a:latin typeface="Satoshi" pitchFamily="50" charset="0"/>
                <a:ea typeface="Noto Serif Medium" pitchFamily="34" charset="-122"/>
                <a:cs typeface="Noto Serif Medium" pitchFamily="34" charset="-120"/>
              </a:rPr>
              <a:t>Approach</a:t>
            </a:r>
            <a:endParaRPr lang="en-US" sz="2000" b="1" dirty="0">
              <a:latin typeface="Satoshi" pitchFamily="50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793790" y="2999368"/>
            <a:ext cx="6272451" cy="9308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600" dirty="0">
                <a:solidFill>
                  <a:srgbClr val="4C4C4C"/>
                </a:solidFill>
                <a:latin typeface="Satoshi" pitchFamily="50" charset="0"/>
                <a:ea typeface="Noto Serif" pitchFamily="34" charset="-122"/>
                <a:cs typeface="Noto Serif" pitchFamily="34" charset="-120"/>
              </a:rPr>
              <a:t>An intelligent Retrieval-Augmented Generation (RAG) system designed to provide expert agronomic advice for coffee crop disease management.</a:t>
            </a:r>
            <a:endParaRPr lang="en-US" sz="1600" dirty="0">
              <a:latin typeface="Satoshi" pitchFamily="50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793790" y="4095458"/>
            <a:ext cx="6272451" cy="9308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600" dirty="0">
                <a:solidFill>
                  <a:srgbClr val="4C4C4C"/>
                </a:solidFill>
                <a:latin typeface="Satoshi" pitchFamily="50" charset="0"/>
                <a:ea typeface="Noto Serif" pitchFamily="34" charset="-122"/>
                <a:cs typeface="Noto Serif" pitchFamily="34" charset="-120"/>
              </a:rPr>
              <a:t>The system identifies coffee leaf diseases and combines diagnosed data with environmental factors to generate actionable treatment and prevention plans.</a:t>
            </a:r>
            <a:endParaRPr lang="en-US" sz="1600" dirty="0">
              <a:latin typeface="Satoshi" pitchFamily="50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793790" y="5210002"/>
            <a:ext cx="2551748" cy="318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b="1" dirty="0">
                <a:solidFill>
                  <a:srgbClr val="3A3A3A"/>
                </a:solidFill>
                <a:latin typeface="Satoshi" pitchFamily="50" charset="0"/>
                <a:ea typeface="Noto Serif Medium" pitchFamily="34" charset="-122"/>
                <a:cs typeface="Noto Serif Medium" pitchFamily="34" charset="-120"/>
              </a:rPr>
              <a:t>Workflow</a:t>
            </a:r>
            <a:endParaRPr lang="en-US" sz="2000" b="1" dirty="0">
              <a:latin typeface="Satoshi" pitchFamily="50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793790" y="5712564"/>
            <a:ext cx="6272451" cy="20545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400"/>
              </a:lnSpc>
              <a:buSzPct val="100000"/>
              <a:buFont typeface="+mj-lt"/>
              <a:buAutoNum type="arabicPeriod"/>
            </a:pPr>
            <a:r>
              <a:rPr lang="en-US" sz="1600" dirty="0">
                <a:solidFill>
                  <a:srgbClr val="4C4C4C"/>
                </a:solidFill>
                <a:latin typeface="Satoshi" pitchFamily="50" charset="0"/>
                <a:ea typeface="Noto Serif" pitchFamily="34" charset="-122"/>
                <a:cs typeface="Noto Serif" pitchFamily="34" charset="-120"/>
              </a:rPr>
              <a:t>Fetch farmer location data (weather, soil type, elevation)</a:t>
            </a:r>
            <a:endParaRPr lang="en-US" sz="1600" dirty="0">
              <a:latin typeface="Satoshi" pitchFamily="50" charset="0"/>
            </a:endParaRPr>
          </a:p>
          <a:p>
            <a:pPr marL="342900" indent="-342900" algn="l">
              <a:lnSpc>
                <a:spcPts val="2400"/>
              </a:lnSpc>
              <a:buSzPct val="100000"/>
              <a:buFont typeface="+mj-lt"/>
              <a:buAutoNum type="arabicPeriod" startAt="2"/>
            </a:pPr>
            <a:r>
              <a:rPr lang="en-US" sz="1600" dirty="0">
                <a:solidFill>
                  <a:srgbClr val="4C4C4C"/>
                </a:solidFill>
                <a:latin typeface="Satoshi" pitchFamily="50" charset="0"/>
                <a:ea typeface="Noto Serif" pitchFamily="34" charset="-122"/>
                <a:cs typeface="Noto Serif" pitchFamily="34" charset="-120"/>
              </a:rPr>
              <a:t>Retrieve relevant documents using </a:t>
            </a:r>
            <a:r>
              <a:rPr lang="en-US" sz="1600" b="1" dirty="0">
                <a:solidFill>
                  <a:srgbClr val="4C4C4C"/>
                </a:solidFill>
                <a:latin typeface="Satoshi" pitchFamily="50" charset="0"/>
                <a:ea typeface="Noto Serif" pitchFamily="34" charset="-122"/>
                <a:cs typeface="Noto Serif" pitchFamily="34" charset="-120"/>
              </a:rPr>
              <a:t>FAISS</a:t>
            </a:r>
            <a:r>
              <a:rPr lang="en-US" sz="1600" dirty="0">
                <a:solidFill>
                  <a:srgbClr val="4C4C4C"/>
                </a:solidFill>
                <a:latin typeface="Satoshi" pitchFamily="50" charset="0"/>
                <a:ea typeface="Noto Serif" pitchFamily="34" charset="-122"/>
                <a:cs typeface="Noto Serif" pitchFamily="34" charset="-120"/>
              </a:rPr>
              <a:t> vector database</a:t>
            </a:r>
            <a:endParaRPr lang="en-US" sz="1600" dirty="0">
              <a:latin typeface="Satoshi" pitchFamily="50" charset="0"/>
            </a:endParaRPr>
          </a:p>
          <a:p>
            <a:pPr marL="342900" indent="-342900" algn="l">
              <a:lnSpc>
                <a:spcPts val="2400"/>
              </a:lnSpc>
              <a:buSzPct val="100000"/>
              <a:buFont typeface="+mj-lt"/>
              <a:buAutoNum type="arabicPeriod" startAt="3"/>
            </a:pPr>
            <a:r>
              <a:rPr lang="en-US" sz="1600" dirty="0">
                <a:solidFill>
                  <a:srgbClr val="4C4C4C"/>
                </a:solidFill>
                <a:latin typeface="Satoshi" pitchFamily="50" charset="0"/>
                <a:ea typeface="Noto Serif" pitchFamily="34" charset="-122"/>
                <a:cs typeface="Noto Serif" pitchFamily="34" charset="-120"/>
              </a:rPr>
              <a:t>Prompt LLM with relevant data and retrieved knowledge from the RAG</a:t>
            </a:r>
            <a:endParaRPr lang="en-US" sz="1600" dirty="0">
              <a:latin typeface="Satoshi" pitchFamily="50" charset="0"/>
            </a:endParaRPr>
          </a:p>
          <a:p>
            <a:pPr marL="342900" indent="-342900" algn="l">
              <a:lnSpc>
                <a:spcPts val="2400"/>
              </a:lnSpc>
              <a:buSzPct val="100000"/>
              <a:buFont typeface="+mj-lt"/>
              <a:buAutoNum type="arabicPeriod" startAt="4"/>
            </a:pPr>
            <a:r>
              <a:rPr lang="en-US" sz="1600" dirty="0">
                <a:solidFill>
                  <a:srgbClr val="4C4C4C"/>
                </a:solidFill>
                <a:latin typeface="Satoshi" pitchFamily="50" charset="0"/>
                <a:ea typeface="Noto Serif" pitchFamily="34" charset="-122"/>
                <a:cs typeface="Noto Serif" pitchFamily="34" charset="-120"/>
              </a:rPr>
              <a:t>Generate comprehensive advisory (cause, treatment, severity)</a:t>
            </a:r>
            <a:endParaRPr lang="en-US" sz="1600" dirty="0">
              <a:latin typeface="Satoshi" pitchFamily="50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7571780" y="2496805"/>
            <a:ext cx="2551748" cy="318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b="1" dirty="0">
                <a:solidFill>
                  <a:srgbClr val="3A3A3A"/>
                </a:solidFill>
                <a:latin typeface="Satoshi" pitchFamily="50" charset="0"/>
                <a:ea typeface="Noto Serif Medium" pitchFamily="34" charset="-122"/>
                <a:cs typeface="Noto Serif Medium" pitchFamily="34" charset="-120"/>
              </a:rPr>
              <a:t>Key Technologies</a:t>
            </a:r>
            <a:endParaRPr lang="en-US" sz="2000" b="1" dirty="0">
              <a:latin typeface="Satoshi" pitchFamily="50" charset="0"/>
            </a:endParaRPr>
          </a:p>
        </p:txBody>
      </p:sp>
      <p:sp>
        <p:nvSpPr>
          <p:cNvPr id="9" name="Text 7"/>
          <p:cNvSpPr/>
          <p:nvPr/>
        </p:nvSpPr>
        <p:spPr>
          <a:xfrm>
            <a:off x="7571780" y="2999368"/>
            <a:ext cx="6272451" cy="18085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400"/>
              </a:lnSpc>
              <a:buSzPct val="100000"/>
              <a:buChar char="•"/>
            </a:pPr>
            <a:r>
              <a:rPr lang="en-US" sz="1600" dirty="0">
                <a:solidFill>
                  <a:srgbClr val="4C4C4C"/>
                </a:solidFill>
                <a:latin typeface="Satoshi" pitchFamily="50" charset="0"/>
                <a:ea typeface="Noto Serif" pitchFamily="34" charset="-122"/>
                <a:cs typeface="Noto Serif" pitchFamily="34" charset="-120"/>
              </a:rPr>
              <a:t>LLM (Gemini / Groq)</a:t>
            </a:r>
            <a:endParaRPr lang="en-US" sz="1600" dirty="0">
              <a:latin typeface="Satoshi" pitchFamily="50" charset="0"/>
            </a:endParaRPr>
          </a:p>
          <a:p>
            <a:pPr marL="342900" indent="-342900" algn="l">
              <a:lnSpc>
                <a:spcPts val="2400"/>
              </a:lnSpc>
              <a:buSzPct val="100000"/>
              <a:buChar char="•"/>
            </a:pPr>
            <a:r>
              <a:rPr lang="en-US" sz="1600" dirty="0">
                <a:solidFill>
                  <a:srgbClr val="4C4C4C"/>
                </a:solidFill>
                <a:latin typeface="Satoshi" pitchFamily="50" charset="0"/>
                <a:ea typeface="Noto Serif" pitchFamily="34" charset="-122"/>
                <a:cs typeface="Noto Serif" pitchFamily="34" charset="-120"/>
              </a:rPr>
              <a:t>FAISS (Vector Similarity Search)</a:t>
            </a:r>
            <a:endParaRPr lang="en-US" sz="1600" dirty="0">
              <a:latin typeface="Satoshi" pitchFamily="50" charset="0"/>
            </a:endParaRPr>
          </a:p>
          <a:p>
            <a:pPr marL="342900" indent="-342900" algn="l">
              <a:lnSpc>
                <a:spcPts val="2400"/>
              </a:lnSpc>
              <a:buSzPct val="100000"/>
              <a:buChar char="•"/>
            </a:pPr>
            <a:r>
              <a:rPr lang="en-US" sz="1600" dirty="0">
                <a:solidFill>
                  <a:srgbClr val="4C4C4C"/>
                </a:solidFill>
                <a:latin typeface="Satoshi" pitchFamily="50" charset="0"/>
                <a:ea typeface="Noto Serif" pitchFamily="34" charset="-122"/>
                <a:cs typeface="Noto Serif" pitchFamily="34" charset="-120"/>
              </a:rPr>
              <a:t>Sentence-Transformers (all-MiniLM-L6-v2)</a:t>
            </a:r>
            <a:endParaRPr lang="en-US" sz="1600" dirty="0">
              <a:latin typeface="Satoshi" pitchFamily="50" charset="0"/>
            </a:endParaRPr>
          </a:p>
          <a:p>
            <a:pPr marL="342900" indent="-342900" algn="l">
              <a:lnSpc>
                <a:spcPts val="2400"/>
              </a:lnSpc>
              <a:buSzPct val="100000"/>
              <a:buChar char="•"/>
            </a:pPr>
            <a:r>
              <a:rPr lang="en-US" sz="1600" dirty="0">
                <a:solidFill>
                  <a:srgbClr val="4C4C4C"/>
                </a:solidFill>
                <a:latin typeface="Satoshi" pitchFamily="50" charset="0"/>
                <a:ea typeface="Noto Serif" pitchFamily="34" charset="-122"/>
                <a:cs typeface="Noto Serif" pitchFamily="34" charset="-120"/>
              </a:rPr>
              <a:t>PyMuPDF (fitz)</a:t>
            </a:r>
            <a:endParaRPr lang="en-US" sz="1600" dirty="0">
              <a:latin typeface="Satoshi" pitchFamily="50" charset="0"/>
            </a:endParaRPr>
          </a:p>
          <a:p>
            <a:pPr marL="342900" indent="-342900" algn="l">
              <a:lnSpc>
                <a:spcPts val="2400"/>
              </a:lnSpc>
              <a:buSzPct val="100000"/>
              <a:buChar char="•"/>
            </a:pPr>
            <a:r>
              <a:rPr lang="en-US" sz="1600" dirty="0">
                <a:solidFill>
                  <a:srgbClr val="4C4C4C"/>
                </a:solidFill>
                <a:latin typeface="Satoshi" pitchFamily="50" charset="0"/>
                <a:ea typeface="Noto Serif" pitchFamily="34" charset="-122"/>
                <a:cs typeface="Noto Serif" pitchFamily="34" charset="-120"/>
              </a:rPr>
              <a:t>pdfplumber</a:t>
            </a:r>
            <a:endParaRPr lang="en-US" sz="1600" dirty="0">
              <a:latin typeface="Satoshi" pitchFamily="50" charset="0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44FEE98-AA6D-D744-A67F-33C61B9FF8BA}"/>
              </a:ext>
            </a:extLst>
          </p:cNvPr>
          <p:cNvSpPr/>
          <p:nvPr/>
        </p:nvSpPr>
        <p:spPr>
          <a:xfrm>
            <a:off x="12833405" y="7776376"/>
            <a:ext cx="1709531" cy="362903"/>
          </a:xfrm>
          <a:prstGeom prst="rect">
            <a:avLst/>
          </a:prstGeom>
          <a:solidFill>
            <a:srgbClr val="FDFBF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 0">
            <a:extLst>
              <a:ext uri="{FF2B5EF4-FFF2-40B4-BE49-F238E27FC236}">
                <a16:creationId xmlns:a16="http://schemas.microsoft.com/office/drawing/2014/main" id="{C5A7504B-4F0E-0160-3792-B5FF57C20B91}"/>
              </a:ext>
            </a:extLst>
          </p:cNvPr>
          <p:cNvSpPr/>
          <p:nvPr/>
        </p:nvSpPr>
        <p:spPr>
          <a:xfrm>
            <a:off x="793790" y="705533"/>
            <a:ext cx="7358896" cy="6734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300"/>
              </a:lnSpc>
              <a:buNone/>
            </a:pPr>
            <a:r>
              <a:rPr lang="en-US" sz="4200" b="1" dirty="0">
                <a:solidFill>
                  <a:srgbClr val="3A3A3A"/>
                </a:solidFill>
                <a:latin typeface="Satoshi" pitchFamily="50" charset="0"/>
                <a:ea typeface="Noto Serif Medium" pitchFamily="34" charset="-122"/>
                <a:cs typeface="Noto Serif Medium" pitchFamily="34" charset="-120"/>
              </a:rPr>
              <a:t>Methodology  </a:t>
            </a:r>
            <a:endParaRPr lang="en-US" sz="4200" b="1" dirty="0">
              <a:latin typeface="Satoshi" pitchFamily="50" charset="0"/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241E0EB0-59D4-971D-C855-21815323D08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658450" y="0"/>
            <a:ext cx="1971950" cy="838317"/>
          </a:xfrm>
          <a:prstGeom prst="rect">
            <a:avLst/>
          </a:prstGeom>
        </p:spPr>
      </p:pic>
    </p:spTree>
  </p:cSld>
  <p:clrMapOvr>
    <a:masterClrMapping/>
  </p:clrMapOvr>
  <p:transition spd="slow">
    <p:cover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695325"/>
            <a:ext cx="8381405" cy="602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700"/>
              </a:lnSpc>
              <a:buNone/>
            </a:pPr>
            <a:r>
              <a:rPr lang="en-US" sz="3750" b="1" dirty="0">
                <a:solidFill>
                  <a:srgbClr val="3A3A3A"/>
                </a:solidFill>
                <a:latin typeface="Satoshi" pitchFamily="50" charset="0"/>
                <a:ea typeface="Noto Serif Medium" pitchFamily="34" charset="-122"/>
                <a:cs typeface="Noto Serif Medium" pitchFamily="34" charset="-120"/>
              </a:rPr>
              <a:t>Development Overview of Module 2</a:t>
            </a:r>
            <a:endParaRPr lang="en-US" sz="3750" b="1" dirty="0">
              <a:latin typeface="Satoshi" pitchFamily="50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793790" y="1625441"/>
            <a:ext cx="13042821" cy="17599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200"/>
              </a:lnSpc>
              <a:buSzPct val="100000"/>
              <a:buChar char="•"/>
            </a:pPr>
            <a:r>
              <a:rPr lang="en-US" dirty="0">
                <a:solidFill>
                  <a:srgbClr val="4C4C4C"/>
                </a:solidFill>
                <a:latin typeface="Satoshi" pitchFamily="50" charset="0"/>
                <a:ea typeface="Noto Serif" pitchFamily="34" charset="-122"/>
                <a:cs typeface="Noto Serif" pitchFamily="34" charset="-120"/>
              </a:rPr>
              <a:t>Built a RAG-based advisory system for coffee crop diseases</a:t>
            </a:r>
            <a:endParaRPr lang="en-US" dirty="0">
              <a:latin typeface="Satoshi" pitchFamily="50" charset="0"/>
            </a:endParaRPr>
          </a:p>
          <a:p>
            <a:pPr marL="342900" indent="-342900" algn="l">
              <a:lnSpc>
                <a:spcPts val="2200"/>
              </a:lnSpc>
              <a:buSzPct val="100000"/>
              <a:buChar char="•"/>
            </a:pPr>
            <a:r>
              <a:rPr lang="en-US" dirty="0">
                <a:solidFill>
                  <a:srgbClr val="4C4C4C"/>
                </a:solidFill>
                <a:latin typeface="Satoshi" pitchFamily="50" charset="0"/>
                <a:ea typeface="Noto Serif" pitchFamily="34" charset="-122"/>
                <a:cs typeface="Noto Serif" pitchFamily="34" charset="-120"/>
              </a:rPr>
              <a:t>Generated embeddings using the all-MiniLM-L6-v2 model</a:t>
            </a:r>
            <a:endParaRPr lang="en-US" dirty="0">
              <a:latin typeface="Satoshi" pitchFamily="50" charset="0"/>
            </a:endParaRPr>
          </a:p>
          <a:p>
            <a:pPr marL="342900" indent="-342900" algn="l">
              <a:lnSpc>
                <a:spcPts val="2200"/>
              </a:lnSpc>
              <a:buSzPct val="100000"/>
              <a:buChar char="•"/>
            </a:pPr>
            <a:r>
              <a:rPr lang="en-US" dirty="0">
                <a:solidFill>
                  <a:srgbClr val="4C4C4C"/>
                </a:solidFill>
                <a:latin typeface="Satoshi" pitchFamily="50" charset="0"/>
                <a:ea typeface="Noto Serif" pitchFamily="34" charset="-122"/>
                <a:cs typeface="Noto Serif" pitchFamily="34" charset="-120"/>
              </a:rPr>
              <a:t>Stored and retrieved data using FAISS vector database</a:t>
            </a:r>
            <a:endParaRPr lang="en-US" dirty="0">
              <a:latin typeface="Satoshi" pitchFamily="50" charset="0"/>
            </a:endParaRPr>
          </a:p>
          <a:p>
            <a:pPr marL="342900" indent="-342900" algn="l">
              <a:lnSpc>
                <a:spcPts val="2200"/>
              </a:lnSpc>
              <a:buSzPct val="100000"/>
              <a:buChar char="•"/>
            </a:pPr>
            <a:r>
              <a:rPr lang="en-US" dirty="0">
                <a:solidFill>
                  <a:srgbClr val="4C4C4C"/>
                </a:solidFill>
                <a:latin typeface="Satoshi" pitchFamily="50" charset="0"/>
                <a:ea typeface="Noto Serif" pitchFamily="34" charset="-122"/>
                <a:cs typeface="Noto Serif" pitchFamily="34" charset="-120"/>
              </a:rPr>
              <a:t>Integrated LLM (Gemini/Groq) for generating farmer-friendly advisory responses</a:t>
            </a:r>
            <a:endParaRPr lang="en-US" dirty="0">
              <a:latin typeface="Satoshi" pitchFamily="50" charset="0"/>
            </a:endParaRPr>
          </a:p>
          <a:p>
            <a:pPr marL="342900" indent="-342900" algn="l">
              <a:lnSpc>
                <a:spcPts val="2200"/>
              </a:lnSpc>
              <a:buSzPct val="100000"/>
              <a:buChar char="•"/>
            </a:pPr>
            <a:r>
              <a:rPr lang="en-US" dirty="0">
                <a:solidFill>
                  <a:srgbClr val="4C4C4C"/>
                </a:solidFill>
                <a:latin typeface="Satoshi" pitchFamily="50" charset="0"/>
                <a:ea typeface="Noto Serif" pitchFamily="34" charset="-122"/>
                <a:cs typeface="Noto Serif" pitchFamily="34" charset="-120"/>
              </a:rPr>
              <a:t>Used simulated environmental data (live data integration planned but not implemented)</a:t>
            </a:r>
            <a:endParaRPr lang="en-US" dirty="0">
              <a:latin typeface="Satoshi" pitchFamily="50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793790" y="3526631"/>
            <a:ext cx="2892028" cy="3614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250" b="1" dirty="0">
                <a:solidFill>
                  <a:srgbClr val="3A3A3A"/>
                </a:solidFill>
                <a:latin typeface="Satoshi" pitchFamily="50" charset="0"/>
                <a:ea typeface="Noto Serif Medium" pitchFamily="34" charset="-122"/>
                <a:cs typeface="Noto Serif Medium" pitchFamily="34" charset="-120"/>
              </a:rPr>
              <a:t>Technological Stack</a:t>
            </a:r>
            <a:endParaRPr lang="en-US" sz="2250" b="1" dirty="0">
              <a:latin typeface="Satoshi" pitchFamily="50" charset="0"/>
            </a:endParaRPr>
          </a:p>
        </p:txBody>
      </p:sp>
      <p:sp>
        <p:nvSpPr>
          <p:cNvPr id="5" name="Shape 3"/>
          <p:cNvSpPr/>
          <p:nvPr/>
        </p:nvSpPr>
        <p:spPr>
          <a:xfrm>
            <a:off x="793790" y="4350663"/>
            <a:ext cx="13042821" cy="22860"/>
          </a:xfrm>
          <a:prstGeom prst="roundRect">
            <a:avLst>
              <a:gd name="adj" fmla="val 354232"/>
            </a:avLst>
          </a:prstGeom>
          <a:solidFill>
            <a:srgbClr val="000000">
              <a:alpha val="8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2004536" y="4350603"/>
            <a:ext cx="22860" cy="578406"/>
          </a:xfrm>
          <a:prstGeom prst="roundRect">
            <a:avLst>
              <a:gd name="adj" fmla="val 354232"/>
            </a:avLst>
          </a:prstGeom>
          <a:solidFill>
            <a:srgbClr val="CCC4B8"/>
          </a:solidFill>
          <a:ln/>
        </p:spPr>
      </p:sp>
      <p:sp>
        <p:nvSpPr>
          <p:cNvPr id="7" name="Shape 5"/>
          <p:cNvSpPr/>
          <p:nvPr/>
        </p:nvSpPr>
        <p:spPr>
          <a:xfrm>
            <a:off x="1799153" y="4133790"/>
            <a:ext cx="433745" cy="433745"/>
          </a:xfrm>
          <a:prstGeom prst="roundRect">
            <a:avLst>
              <a:gd name="adj" fmla="val 18669"/>
            </a:avLst>
          </a:prstGeom>
          <a:solidFill>
            <a:srgbClr val="E6DED2">
              <a:alpha val="50000"/>
            </a:srgbClr>
          </a:solidFill>
          <a:ln w="7620">
            <a:solidFill>
              <a:srgbClr val="CCC4B8"/>
            </a:solidFill>
            <a:prstDash val="solid"/>
          </a:ln>
          <a:effectLst>
            <a:outerShdw dist="25400" dir="2700000" algn="bl" rotWithShape="0">
              <a:srgbClr val="CCC4B8">
                <a:alpha val="100000"/>
              </a:srgbClr>
            </a:outerShdw>
          </a:effectLst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71365" y="4205942"/>
            <a:ext cx="289203" cy="289203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986552" y="5121950"/>
            <a:ext cx="2059186" cy="3012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350"/>
              </a:lnSpc>
              <a:buNone/>
            </a:pPr>
            <a:r>
              <a:rPr lang="en-US" sz="1850" b="1" dirty="0">
                <a:solidFill>
                  <a:srgbClr val="4C4C4C"/>
                </a:solidFill>
                <a:latin typeface="Satoshi" pitchFamily="50" charset="0"/>
                <a:ea typeface="Noto Serif Medium" pitchFamily="34" charset="-122"/>
                <a:cs typeface="Noto Serif Medium" pitchFamily="34" charset="-120"/>
              </a:rPr>
              <a:t>FAISS</a:t>
            </a:r>
            <a:endParaRPr lang="en-US" sz="1850" b="1" dirty="0">
              <a:latin typeface="Satoshi" pitchFamily="50" charset="0"/>
            </a:endParaRPr>
          </a:p>
        </p:txBody>
      </p:sp>
      <p:sp>
        <p:nvSpPr>
          <p:cNvPr id="10" name="Text 7"/>
          <p:cNvSpPr/>
          <p:nvPr/>
        </p:nvSpPr>
        <p:spPr>
          <a:xfrm>
            <a:off x="986552" y="5521404"/>
            <a:ext cx="2059186" cy="14263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200"/>
              </a:lnSpc>
              <a:buNone/>
            </a:pPr>
            <a:r>
              <a:rPr lang="en-US" sz="1500" dirty="0">
                <a:solidFill>
                  <a:srgbClr val="4C4C4C"/>
                </a:solidFill>
                <a:latin typeface="Satoshi" pitchFamily="50" charset="0"/>
                <a:ea typeface="Noto Serif" pitchFamily="34" charset="-122"/>
                <a:cs typeface="Noto Serif" pitchFamily="34" charset="-120"/>
              </a:rPr>
              <a:t>Efficiently stores and searches document embeddings for rapid retrieval of relevant agronomy knowledge.</a:t>
            </a:r>
            <a:endParaRPr lang="en-US" sz="1500" dirty="0">
              <a:latin typeface="Satoshi" pitchFamily="50" charset="0"/>
            </a:endParaRPr>
          </a:p>
        </p:txBody>
      </p:sp>
      <p:sp>
        <p:nvSpPr>
          <p:cNvPr id="11" name="Shape 8"/>
          <p:cNvSpPr/>
          <p:nvPr/>
        </p:nvSpPr>
        <p:spPr>
          <a:xfrm>
            <a:off x="4654034" y="4350603"/>
            <a:ext cx="22860" cy="578406"/>
          </a:xfrm>
          <a:prstGeom prst="roundRect">
            <a:avLst>
              <a:gd name="adj" fmla="val 354232"/>
            </a:avLst>
          </a:prstGeom>
          <a:solidFill>
            <a:srgbClr val="CCC4B8"/>
          </a:solidFill>
          <a:ln/>
        </p:spPr>
      </p:sp>
      <p:sp>
        <p:nvSpPr>
          <p:cNvPr id="12" name="Shape 9"/>
          <p:cNvSpPr/>
          <p:nvPr/>
        </p:nvSpPr>
        <p:spPr>
          <a:xfrm>
            <a:off x="4448651" y="4133790"/>
            <a:ext cx="433745" cy="433745"/>
          </a:xfrm>
          <a:prstGeom prst="roundRect">
            <a:avLst>
              <a:gd name="adj" fmla="val 18669"/>
            </a:avLst>
          </a:prstGeom>
          <a:solidFill>
            <a:srgbClr val="E6DED2">
              <a:alpha val="50000"/>
            </a:srgbClr>
          </a:solidFill>
          <a:ln w="7620">
            <a:solidFill>
              <a:srgbClr val="CCC4B8"/>
            </a:solidFill>
            <a:prstDash val="solid"/>
          </a:ln>
          <a:effectLst>
            <a:outerShdw dist="25400" dir="2700000" algn="bl" rotWithShape="0">
              <a:srgbClr val="CCC4B8">
                <a:alpha val="100000"/>
              </a:srgbClr>
            </a:outerShdw>
          </a:effectLst>
        </p:spPr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20863" y="4205942"/>
            <a:ext cx="289203" cy="289203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3636050" y="5121950"/>
            <a:ext cx="2059186" cy="602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350"/>
              </a:lnSpc>
              <a:buNone/>
            </a:pPr>
            <a:r>
              <a:rPr lang="en-US" sz="1850" b="1" dirty="0">
                <a:solidFill>
                  <a:srgbClr val="4C4C4C"/>
                </a:solidFill>
                <a:latin typeface="Satoshi" pitchFamily="50" charset="0"/>
                <a:ea typeface="Noto Serif Medium" pitchFamily="34" charset="-122"/>
                <a:cs typeface="Noto Serif Medium" pitchFamily="34" charset="-120"/>
              </a:rPr>
              <a:t>Sentence-Transformers</a:t>
            </a:r>
            <a:endParaRPr lang="en-US" sz="1850" b="1" dirty="0">
              <a:latin typeface="Satoshi" pitchFamily="50" charset="0"/>
            </a:endParaRPr>
          </a:p>
        </p:txBody>
      </p:sp>
      <p:sp>
        <p:nvSpPr>
          <p:cNvPr id="15" name="Text 11"/>
          <p:cNvSpPr/>
          <p:nvPr/>
        </p:nvSpPr>
        <p:spPr>
          <a:xfrm>
            <a:off x="3636050" y="5822633"/>
            <a:ext cx="2059186" cy="14263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200"/>
              </a:lnSpc>
              <a:buNone/>
            </a:pPr>
            <a:r>
              <a:rPr lang="en-US" sz="1500" dirty="0">
                <a:solidFill>
                  <a:srgbClr val="4C4C4C"/>
                </a:solidFill>
                <a:latin typeface="Satoshi" pitchFamily="50" charset="0"/>
                <a:ea typeface="Noto Serif" pitchFamily="34" charset="-122"/>
                <a:cs typeface="Noto Serif" pitchFamily="34" charset="-120"/>
              </a:rPr>
              <a:t>Converts text chunks from PDFs into vector embeddings for semantic search capabilities.</a:t>
            </a:r>
            <a:endParaRPr lang="en-US" sz="1500" dirty="0">
              <a:latin typeface="Satoshi" pitchFamily="50" charset="0"/>
            </a:endParaRPr>
          </a:p>
        </p:txBody>
      </p:sp>
      <p:sp>
        <p:nvSpPr>
          <p:cNvPr id="16" name="Shape 12"/>
          <p:cNvSpPr/>
          <p:nvPr/>
        </p:nvSpPr>
        <p:spPr>
          <a:xfrm>
            <a:off x="7303532" y="4350603"/>
            <a:ext cx="22860" cy="578406"/>
          </a:xfrm>
          <a:prstGeom prst="roundRect">
            <a:avLst>
              <a:gd name="adj" fmla="val 354232"/>
            </a:avLst>
          </a:prstGeom>
          <a:solidFill>
            <a:srgbClr val="CCC4B8"/>
          </a:solidFill>
          <a:ln/>
        </p:spPr>
      </p:sp>
      <p:sp>
        <p:nvSpPr>
          <p:cNvPr id="17" name="Shape 13"/>
          <p:cNvSpPr/>
          <p:nvPr/>
        </p:nvSpPr>
        <p:spPr>
          <a:xfrm>
            <a:off x="7098149" y="4133790"/>
            <a:ext cx="433745" cy="433745"/>
          </a:xfrm>
          <a:prstGeom prst="roundRect">
            <a:avLst>
              <a:gd name="adj" fmla="val 18669"/>
            </a:avLst>
          </a:prstGeom>
          <a:solidFill>
            <a:srgbClr val="E6DED2">
              <a:alpha val="50000"/>
            </a:srgbClr>
          </a:solidFill>
          <a:ln w="7620">
            <a:solidFill>
              <a:srgbClr val="CCC4B8"/>
            </a:solidFill>
            <a:prstDash val="solid"/>
          </a:ln>
          <a:effectLst>
            <a:outerShdw dist="25400" dir="2700000" algn="bl" rotWithShape="0">
              <a:srgbClr val="CCC4B8">
                <a:alpha val="100000"/>
              </a:srgbClr>
            </a:outerShdw>
          </a:effectLst>
        </p:spPr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70360" y="4205942"/>
            <a:ext cx="289203" cy="289203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6285548" y="5121950"/>
            <a:ext cx="2059186" cy="3012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350"/>
              </a:lnSpc>
              <a:buNone/>
            </a:pPr>
            <a:r>
              <a:rPr lang="en-US" sz="1850" b="1" dirty="0">
                <a:solidFill>
                  <a:srgbClr val="4C4C4C"/>
                </a:solidFill>
                <a:latin typeface="Satoshi" pitchFamily="50" charset="0"/>
                <a:ea typeface="Noto Serif Medium" pitchFamily="34" charset="-122"/>
                <a:cs typeface="Noto Serif Medium" pitchFamily="34" charset="-120"/>
              </a:rPr>
              <a:t>PyMuPDF (fitz)</a:t>
            </a:r>
            <a:endParaRPr lang="en-US" sz="1850" b="1" dirty="0">
              <a:latin typeface="Satoshi" pitchFamily="50" charset="0"/>
            </a:endParaRPr>
          </a:p>
        </p:txBody>
      </p:sp>
      <p:sp>
        <p:nvSpPr>
          <p:cNvPr id="20" name="Text 15"/>
          <p:cNvSpPr/>
          <p:nvPr/>
        </p:nvSpPr>
        <p:spPr>
          <a:xfrm>
            <a:off x="6285548" y="5521404"/>
            <a:ext cx="2059186" cy="14263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200"/>
              </a:lnSpc>
              <a:buNone/>
            </a:pPr>
            <a:r>
              <a:rPr lang="en-US" sz="1500" dirty="0">
                <a:solidFill>
                  <a:srgbClr val="4C4C4C"/>
                </a:solidFill>
                <a:latin typeface="Satoshi" pitchFamily="50" charset="0"/>
                <a:ea typeface="Noto Serif" pitchFamily="34" charset="-122"/>
                <a:cs typeface="Noto Serif" pitchFamily="34" charset="-120"/>
              </a:rPr>
              <a:t>Used to extract text from agronomy PDF documents during the knowledge base creation process.</a:t>
            </a:r>
            <a:endParaRPr lang="en-US" sz="1500" dirty="0">
              <a:latin typeface="Satoshi" pitchFamily="50" charset="0"/>
            </a:endParaRPr>
          </a:p>
        </p:txBody>
      </p:sp>
      <p:sp>
        <p:nvSpPr>
          <p:cNvPr id="21" name="Shape 16"/>
          <p:cNvSpPr/>
          <p:nvPr/>
        </p:nvSpPr>
        <p:spPr>
          <a:xfrm>
            <a:off x="9953030" y="4350603"/>
            <a:ext cx="22860" cy="578406"/>
          </a:xfrm>
          <a:prstGeom prst="roundRect">
            <a:avLst>
              <a:gd name="adj" fmla="val 354232"/>
            </a:avLst>
          </a:prstGeom>
          <a:solidFill>
            <a:srgbClr val="CCC4B8"/>
          </a:solidFill>
          <a:ln/>
        </p:spPr>
      </p:sp>
      <p:sp>
        <p:nvSpPr>
          <p:cNvPr id="22" name="Shape 17"/>
          <p:cNvSpPr/>
          <p:nvPr/>
        </p:nvSpPr>
        <p:spPr>
          <a:xfrm>
            <a:off x="9747647" y="4133790"/>
            <a:ext cx="433745" cy="433745"/>
          </a:xfrm>
          <a:prstGeom prst="roundRect">
            <a:avLst>
              <a:gd name="adj" fmla="val 18669"/>
            </a:avLst>
          </a:prstGeom>
          <a:solidFill>
            <a:srgbClr val="E6DED2">
              <a:alpha val="50000"/>
            </a:srgbClr>
          </a:solidFill>
          <a:ln w="7620">
            <a:solidFill>
              <a:srgbClr val="CCC4B8"/>
            </a:solidFill>
            <a:prstDash val="solid"/>
          </a:ln>
          <a:effectLst>
            <a:outerShdw dist="25400" dir="2700000" algn="bl" rotWithShape="0">
              <a:srgbClr val="CCC4B8">
                <a:alpha val="100000"/>
              </a:srgbClr>
            </a:outerShdw>
          </a:effectLst>
        </p:spPr>
      </p:sp>
      <p:pic>
        <p:nvPicPr>
          <p:cNvPr id="2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819858" y="4205942"/>
            <a:ext cx="289203" cy="289203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8935045" y="5121950"/>
            <a:ext cx="2059186" cy="3012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350"/>
              </a:lnSpc>
              <a:buNone/>
            </a:pPr>
            <a:r>
              <a:rPr lang="en-US" sz="1850" b="1" dirty="0">
                <a:solidFill>
                  <a:srgbClr val="4C4C4C"/>
                </a:solidFill>
                <a:latin typeface="Satoshi" pitchFamily="50" charset="0"/>
                <a:ea typeface="Noto Serif Medium" pitchFamily="34" charset="-122"/>
                <a:cs typeface="Noto Serif Medium" pitchFamily="34" charset="-120"/>
              </a:rPr>
              <a:t>pdfplumber</a:t>
            </a:r>
            <a:endParaRPr lang="en-US" sz="1850" b="1" dirty="0">
              <a:latin typeface="Satoshi" pitchFamily="50" charset="0"/>
            </a:endParaRPr>
          </a:p>
        </p:txBody>
      </p:sp>
      <p:sp>
        <p:nvSpPr>
          <p:cNvPr id="25" name="Text 19"/>
          <p:cNvSpPr/>
          <p:nvPr/>
        </p:nvSpPr>
        <p:spPr>
          <a:xfrm>
            <a:off x="8935045" y="5521404"/>
            <a:ext cx="2059186" cy="14263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200"/>
              </a:lnSpc>
              <a:buNone/>
            </a:pPr>
            <a:r>
              <a:rPr lang="en-US" sz="1500" dirty="0">
                <a:solidFill>
                  <a:srgbClr val="4C4C4C"/>
                </a:solidFill>
                <a:latin typeface="Satoshi" pitchFamily="50" charset="0"/>
                <a:ea typeface="Noto Serif" pitchFamily="34" charset="-122"/>
                <a:cs typeface="Noto Serif" pitchFamily="34" charset="-120"/>
              </a:rPr>
              <a:t>An additional tool for cleaner and more accurate text extraction from PDFs when required.</a:t>
            </a:r>
            <a:endParaRPr lang="en-US" sz="1500" dirty="0">
              <a:latin typeface="Satoshi" pitchFamily="50" charset="0"/>
            </a:endParaRPr>
          </a:p>
        </p:txBody>
      </p:sp>
      <p:sp>
        <p:nvSpPr>
          <p:cNvPr id="26" name="Shape 20"/>
          <p:cNvSpPr/>
          <p:nvPr/>
        </p:nvSpPr>
        <p:spPr>
          <a:xfrm>
            <a:off x="12602528" y="4350603"/>
            <a:ext cx="22860" cy="578406"/>
          </a:xfrm>
          <a:prstGeom prst="roundRect">
            <a:avLst>
              <a:gd name="adj" fmla="val 354232"/>
            </a:avLst>
          </a:prstGeom>
          <a:solidFill>
            <a:srgbClr val="CCC4B8"/>
          </a:solidFill>
          <a:ln/>
        </p:spPr>
      </p:sp>
      <p:sp>
        <p:nvSpPr>
          <p:cNvPr id="27" name="Shape 21"/>
          <p:cNvSpPr/>
          <p:nvPr/>
        </p:nvSpPr>
        <p:spPr>
          <a:xfrm>
            <a:off x="12397145" y="4133790"/>
            <a:ext cx="433745" cy="433745"/>
          </a:xfrm>
          <a:prstGeom prst="roundRect">
            <a:avLst>
              <a:gd name="adj" fmla="val 18669"/>
            </a:avLst>
          </a:prstGeom>
          <a:solidFill>
            <a:srgbClr val="E6DED2">
              <a:alpha val="50000"/>
            </a:srgbClr>
          </a:solidFill>
          <a:ln w="7620">
            <a:solidFill>
              <a:srgbClr val="CCC4B8"/>
            </a:solidFill>
            <a:prstDash val="solid"/>
          </a:ln>
          <a:effectLst>
            <a:outerShdw dist="25400" dir="2700000" algn="bl" rotWithShape="0">
              <a:srgbClr val="CCC4B8">
                <a:alpha val="100000"/>
              </a:srgbClr>
            </a:outerShdw>
          </a:effectLst>
        </p:spPr>
      </p:sp>
      <p:pic>
        <p:nvPicPr>
          <p:cNvPr id="28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469356" y="4205942"/>
            <a:ext cx="289203" cy="289203"/>
          </a:xfrm>
          <a:prstGeom prst="rect">
            <a:avLst/>
          </a:prstGeom>
        </p:spPr>
      </p:pic>
      <p:sp>
        <p:nvSpPr>
          <p:cNvPr id="29" name="Text 22"/>
          <p:cNvSpPr/>
          <p:nvPr/>
        </p:nvSpPr>
        <p:spPr>
          <a:xfrm>
            <a:off x="11584543" y="5121950"/>
            <a:ext cx="2059186" cy="602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350"/>
              </a:lnSpc>
              <a:buNone/>
            </a:pPr>
            <a:r>
              <a:rPr lang="en-US" sz="1850" b="1" dirty="0">
                <a:solidFill>
                  <a:srgbClr val="4C4C4C"/>
                </a:solidFill>
                <a:latin typeface="Satoshi" pitchFamily="50" charset="0"/>
                <a:ea typeface="Noto Serif Medium" pitchFamily="34" charset="-122"/>
                <a:cs typeface="Noto Serif Medium" pitchFamily="34" charset="-120"/>
              </a:rPr>
              <a:t>Gemini / Groq APIs</a:t>
            </a:r>
            <a:endParaRPr lang="en-US" sz="1850" b="1" dirty="0">
              <a:latin typeface="Satoshi" pitchFamily="50" charset="0"/>
            </a:endParaRPr>
          </a:p>
        </p:txBody>
      </p:sp>
      <p:sp>
        <p:nvSpPr>
          <p:cNvPr id="30" name="Text 23"/>
          <p:cNvSpPr/>
          <p:nvPr/>
        </p:nvSpPr>
        <p:spPr>
          <a:xfrm>
            <a:off x="11584543" y="5822633"/>
            <a:ext cx="2059186" cy="17116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200"/>
              </a:lnSpc>
              <a:buNone/>
            </a:pPr>
            <a:r>
              <a:rPr lang="en-US" sz="1500" dirty="0">
                <a:solidFill>
                  <a:srgbClr val="4C4C4C"/>
                </a:solidFill>
                <a:latin typeface="Satoshi" pitchFamily="50" charset="0"/>
                <a:ea typeface="Noto Serif" pitchFamily="34" charset="-122"/>
                <a:cs typeface="Noto Serif" pitchFamily="34" charset="-120"/>
              </a:rPr>
              <a:t>Serves as the Large Language Model to generate expert-level agronomic advice based on retrieved context.</a:t>
            </a:r>
            <a:endParaRPr lang="en-US" sz="1500" dirty="0">
              <a:latin typeface="Satoshi" pitchFamily="50" charset="0"/>
            </a:endParaRP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D499C599-202D-25FC-F544-1A0CD2157DF6}"/>
              </a:ext>
            </a:extLst>
          </p:cNvPr>
          <p:cNvSpPr/>
          <p:nvPr/>
        </p:nvSpPr>
        <p:spPr>
          <a:xfrm>
            <a:off x="12833405" y="7776376"/>
            <a:ext cx="1709531" cy="362903"/>
          </a:xfrm>
          <a:prstGeom prst="rect">
            <a:avLst/>
          </a:prstGeom>
          <a:solidFill>
            <a:srgbClr val="FDFBF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ABEF60E8-E082-CE3D-BAA2-0E9B344B38B1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2658450" y="0"/>
            <a:ext cx="1971950" cy="838317"/>
          </a:xfrm>
          <a:prstGeom prst="rect">
            <a:avLst/>
          </a:prstGeom>
        </p:spPr>
      </p:pic>
    </p:spTree>
  </p:cSld>
  <p:clrMapOvr>
    <a:masterClrMapping/>
  </p:clrMapOvr>
  <p:transition spd="slow">
    <p:cover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791533"/>
            <a:ext cx="7746087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3A3A3A"/>
                </a:solidFill>
                <a:latin typeface="Satoshi" pitchFamily="50" charset="0"/>
                <a:ea typeface="Noto Serif Medium" pitchFamily="34" charset="-122"/>
                <a:cs typeface="Noto Serif Medium" pitchFamily="34" charset="-120"/>
              </a:rPr>
              <a:t>Methodology – Module 3 &amp; 4</a:t>
            </a:r>
            <a:endParaRPr lang="en-US" sz="4450" b="1" dirty="0">
              <a:latin typeface="Satoshi" pitchFamily="50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793790" y="3067288"/>
            <a:ext cx="3828693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3A3A3A"/>
                </a:solidFill>
                <a:latin typeface="Satoshi" pitchFamily="50" charset="0"/>
                <a:ea typeface="Noto Serif Medium" pitchFamily="34" charset="-122"/>
                <a:cs typeface="Noto Serif Medium" pitchFamily="34" charset="-120"/>
              </a:rPr>
              <a:t>Module 3: Chatbot Interface</a:t>
            </a:r>
            <a:endParaRPr lang="en-US" sz="2200" b="1" dirty="0">
              <a:latin typeface="Satoshi" pitchFamily="50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793790" y="3648432"/>
            <a:ext cx="624470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4C4C4C"/>
                </a:solidFill>
                <a:latin typeface="Satoshi" pitchFamily="50" charset="0"/>
                <a:ea typeface="Noto Serif" pitchFamily="34" charset="-122"/>
                <a:cs typeface="Noto Serif" pitchFamily="34" charset="-120"/>
              </a:rPr>
              <a:t>Features:</a:t>
            </a:r>
            <a:r>
              <a:rPr lang="en-US" sz="1750" dirty="0">
                <a:solidFill>
                  <a:srgbClr val="4C4C4C"/>
                </a:solidFill>
                <a:latin typeface="Satoshi" pitchFamily="50" charset="0"/>
                <a:ea typeface="Noto Serif" pitchFamily="34" charset="-122"/>
                <a:cs typeface="Noto Serif" pitchFamily="34" charset="-120"/>
              </a:rPr>
              <a:t> Text + voice interaction, Kannada &amp; English support</a:t>
            </a:r>
            <a:endParaRPr lang="en-US" sz="1750" dirty="0">
              <a:latin typeface="Satoshi" pitchFamily="50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793790" y="4403381"/>
            <a:ext cx="624470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4C4C4C"/>
                </a:solidFill>
                <a:latin typeface="Satoshi" pitchFamily="50" charset="0"/>
                <a:ea typeface="Noto Serif" pitchFamily="34" charset="-122"/>
                <a:cs typeface="Noto Serif" pitchFamily="34" charset="-120"/>
              </a:rPr>
              <a:t>Workflow:</a:t>
            </a:r>
            <a:r>
              <a:rPr lang="en-US" sz="1750" dirty="0">
                <a:solidFill>
                  <a:srgbClr val="4C4C4C"/>
                </a:solidFill>
                <a:latin typeface="Satoshi" pitchFamily="50" charset="0"/>
                <a:ea typeface="Noto Serif" pitchFamily="34" charset="-122"/>
                <a:cs typeface="Noto Serif" pitchFamily="34" charset="-120"/>
              </a:rPr>
              <a:t> User query input → Speech-to-text conversion → Advisory engine processing → Response display</a:t>
            </a:r>
            <a:endParaRPr lang="en-US" sz="1750" dirty="0">
              <a:latin typeface="Satoshi" pitchFamily="50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793790" y="5508188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4C4C4C"/>
                </a:solidFill>
                <a:latin typeface="Satoshi" pitchFamily="50" charset="0"/>
                <a:ea typeface="Noto Serif" pitchFamily="34" charset="-122"/>
                <a:cs typeface="Noto Serif" pitchFamily="34" charset="-120"/>
              </a:rPr>
              <a:t>Tools:</a:t>
            </a:r>
            <a:r>
              <a:rPr lang="en-US" sz="1750" dirty="0">
                <a:solidFill>
                  <a:srgbClr val="4C4C4C"/>
                </a:solidFill>
                <a:latin typeface="Satoshi" pitchFamily="50" charset="0"/>
                <a:ea typeface="Noto Serif" pitchFamily="34" charset="-122"/>
                <a:cs typeface="Noto Serif" pitchFamily="34" charset="-120"/>
              </a:rPr>
              <a:t> React, Web Speech API, REST APIs</a:t>
            </a:r>
            <a:endParaRPr lang="en-US" sz="1750" dirty="0">
              <a:latin typeface="Satoshi" pitchFamily="50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7599521" y="3067288"/>
            <a:ext cx="3850481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3A3A3A"/>
                </a:solidFill>
                <a:latin typeface="Satoshi" pitchFamily="50" charset="0"/>
                <a:ea typeface="Noto Serif Medium" pitchFamily="34" charset="-122"/>
                <a:cs typeface="Noto Serif Medium" pitchFamily="34" charset="-120"/>
              </a:rPr>
              <a:t>Module 4: Market Discovery</a:t>
            </a:r>
            <a:endParaRPr lang="en-US" sz="2200" b="1" dirty="0">
              <a:latin typeface="Satoshi" pitchFamily="50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7599521" y="3648432"/>
            <a:ext cx="624470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4C4C4C"/>
                </a:solidFill>
                <a:latin typeface="Satoshi" pitchFamily="50" charset="0"/>
                <a:ea typeface="Noto Serif" pitchFamily="34" charset="-122"/>
                <a:cs typeface="Noto Serif" pitchFamily="34" charset="-120"/>
              </a:rPr>
              <a:t>Approach:</a:t>
            </a:r>
            <a:r>
              <a:rPr lang="en-US" sz="1750" dirty="0">
                <a:solidFill>
                  <a:srgbClr val="4C4C4C"/>
                </a:solidFill>
                <a:latin typeface="Satoshi" pitchFamily="50" charset="0"/>
                <a:ea typeface="Noto Serif" pitchFamily="34" charset="-122"/>
                <a:cs typeface="Noto Serif" pitchFamily="34" charset="-120"/>
              </a:rPr>
              <a:t> Direct farmer-to-buyer connection through map-based system</a:t>
            </a:r>
            <a:endParaRPr lang="en-US" sz="1750" dirty="0">
              <a:latin typeface="Satoshi" pitchFamily="50" charset="0"/>
            </a:endParaRPr>
          </a:p>
        </p:txBody>
      </p:sp>
      <p:sp>
        <p:nvSpPr>
          <p:cNvPr id="9" name="Text 7"/>
          <p:cNvSpPr/>
          <p:nvPr/>
        </p:nvSpPr>
        <p:spPr>
          <a:xfrm>
            <a:off x="7599521" y="4578310"/>
            <a:ext cx="6244709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4C4C4C"/>
                </a:solidFill>
                <a:latin typeface="Satoshi" pitchFamily="50" charset="0"/>
                <a:ea typeface="Noto Serif" pitchFamily="34" charset="-122"/>
                <a:cs typeface="Noto Serif" pitchFamily="34" charset="-120"/>
              </a:rPr>
              <a:t>Workflow:</a:t>
            </a:r>
            <a:r>
              <a:rPr lang="en-US" sz="1750" dirty="0">
                <a:solidFill>
                  <a:srgbClr val="4C4C4C"/>
                </a:solidFill>
                <a:latin typeface="Satoshi" pitchFamily="50" charset="0"/>
                <a:ea typeface="Noto Serif" pitchFamily="34" charset="-122"/>
                <a:cs typeface="Noto Serif" pitchFamily="34" charset="-120"/>
              </a:rPr>
              <a:t> Farmer lists coffee details → Data stored in PostgreSQL → Buyers view via map interface → Filter &amp; contact farmers</a:t>
            </a:r>
            <a:endParaRPr lang="en-US" sz="1750" dirty="0">
              <a:latin typeface="Satoshi" pitchFamily="50" charset="0"/>
            </a:endParaRPr>
          </a:p>
        </p:txBody>
      </p:sp>
      <p:sp>
        <p:nvSpPr>
          <p:cNvPr id="10" name="Text 8"/>
          <p:cNvSpPr/>
          <p:nvPr/>
        </p:nvSpPr>
        <p:spPr>
          <a:xfrm>
            <a:off x="7599521" y="5871091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4C4C4C"/>
                </a:solidFill>
                <a:latin typeface="Satoshi" pitchFamily="50" charset="0"/>
                <a:ea typeface="Noto Serif" pitchFamily="34" charset="-122"/>
                <a:cs typeface="Noto Serif" pitchFamily="34" charset="-120"/>
              </a:rPr>
              <a:t>Tools:</a:t>
            </a:r>
            <a:r>
              <a:rPr lang="en-US" sz="1750" dirty="0">
                <a:solidFill>
                  <a:srgbClr val="4C4C4C"/>
                </a:solidFill>
                <a:latin typeface="Satoshi" pitchFamily="50" charset="0"/>
                <a:ea typeface="Noto Serif" pitchFamily="34" charset="-122"/>
                <a:cs typeface="Noto Serif" pitchFamily="34" charset="-120"/>
              </a:rPr>
              <a:t> PostgreSQL, Google Maps API, Node.js</a:t>
            </a:r>
            <a:endParaRPr lang="en-US" sz="1750" dirty="0">
              <a:latin typeface="Satoshi" pitchFamily="50" charset="0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EDD9BA1-CE22-6322-B0B5-EE456DDCA9CC}"/>
              </a:ext>
            </a:extLst>
          </p:cNvPr>
          <p:cNvSpPr/>
          <p:nvPr/>
        </p:nvSpPr>
        <p:spPr>
          <a:xfrm>
            <a:off x="12833405" y="7776376"/>
            <a:ext cx="1709531" cy="362903"/>
          </a:xfrm>
          <a:prstGeom prst="rect">
            <a:avLst/>
          </a:prstGeom>
          <a:solidFill>
            <a:srgbClr val="FDFBF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EBCC940D-4DBF-FD62-7437-035066A3E69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658450" y="0"/>
            <a:ext cx="1971950" cy="838317"/>
          </a:xfrm>
          <a:prstGeom prst="rect">
            <a:avLst/>
          </a:prstGeom>
        </p:spPr>
      </p:pic>
    </p:spTree>
  </p:cSld>
  <p:clrMapOvr>
    <a:masterClrMapping/>
  </p:clrMapOvr>
  <p:transition spd="slow">
    <p:cover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405315-537D-F31D-8FF1-27CE4AC176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C2333655-1AAA-C54E-EA50-397181286626}"/>
              </a:ext>
            </a:extLst>
          </p:cNvPr>
          <p:cNvSpPr/>
          <p:nvPr/>
        </p:nvSpPr>
        <p:spPr>
          <a:xfrm>
            <a:off x="793790" y="695325"/>
            <a:ext cx="8381405" cy="602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700"/>
              </a:lnSpc>
              <a:buNone/>
            </a:pPr>
            <a:r>
              <a:rPr lang="en-US" sz="3750" b="1" dirty="0">
                <a:solidFill>
                  <a:srgbClr val="3A3A3A"/>
                </a:solidFill>
                <a:latin typeface="Satoshi" pitchFamily="50" charset="0"/>
                <a:ea typeface="Noto Serif Medium" pitchFamily="34" charset="-122"/>
                <a:cs typeface="Noto Serif Medium" pitchFamily="34" charset="-120"/>
              </a:rPr>
              <a:t>Development Overview of Module 3 &amp; 4</a:t>
            </a:r>
            <a:endParaRPr lang="en-US" sz="3750" b="1" dirty="0">
              <a:latin typeface="Satoshi" pitchFamily="50" charset="0"/>
            </a:endParaRPr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C26794B0-8176-040B-7E7D-29B9D212FE3D}"/>
              </a:ext>
            </a:extLst>
          </p:cNvPr>
          <p:cNvSpPr/>
          <p:nvPr/>
        </p:nvSpPr>
        <p:spPr>
          <a:xfrm>
            <a:off x="793790" y="1625441"/>
            <a:ext cx="13042821" cy="17599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200"/>
              </a:lnSpc>
              <a:buSzPct val="100000"/>
              <a:buChar char="•"/>
            </a:pPr>
            <a:r>
              <a:rPr lang="en-US" dirty="0">
                <a:solidFill>
                  <a:srgbClr val="4C4C4C"/>
                </a:solidFill>
                <a:latin typeface="Satoshi" pitchFamily="50" charset="0"/>
                <a:ea typeface="Noto Serif" pitchFamily="34" charset="-122"/>
                <a:cs typeface="Noto Serif" pitchFamily="34" charset="-120"/>
              </a:rPr>
              <a:t>Node.JS server with Express framework configured and operational.</a:t>
            </a:r>
            <a:endParaRPr lang="en-US" dirty="0">
              <a:latin typeface="Satoshi" pitchFamily="50" charset="0"/>
            </a:endParaRPr>
          </a:p>
          <a:p>
            <a:pPr marL="342900" indent="-342900" algn="l">
              <a:lnSpc>
                <a:spcPts val="2200"/>
              </a:lnSpc>
              <a:buSzPct val="100000"/>
              <a:buChar char="•"/>
            </a:pPr>
            <a:r>
              <a:rPr lang="en-US" dirty="0">
                <a:solidFill>
                  <a:srgbClr val="4C4C4C"/>
                </a:solidFill>
                <a:latin typeface="Satoshi" pitchFamily="50" charset="0"/>
                <a:ea typeface="Noto Serif" pitchFamily="34" charset="-122"/>
                <a:cs typeface="Noto Serif" pitchFamily="34" charset="-120"/>
              </a:rPr>
              <a:t>PostgreSQL configured for storing coffee listings and farmer details.</a:t>
            </a:r>
            <a:endParaRPr lang="en-US" dirty="0">
              <a:latin typeface="Satoshi" pitchFamily="50" charset="0"/>
            </a:endParaRPr>
          </a:p>
          <a:p>
            <a:pPr marL="342900" indent="-342900" algn="l">
              <a:lnSpc>
                <a:spcPts val="2200"/>
              </a:lnSpc>
              <a:buSzPct val="100000"/>
              <a:buChar char="•"/>
            </a:pPr>
            <a:r>
              <a:rPr lang="en-US" dirty="0">
                <a:solidFill>
                  <a:srgbClr val="4C4C4C"/>
                </a:solidFill>
                <a:latin typeface="Satoshi" pitchFamily="50" charset="0"/>
                <a:ea typeface="Noto Serif" pitchFamily="34" charset="-122"/>
                <a:cs typeface="Noto Serif" pitchFamily="34" charset="-120"/>
              </a:rPr>
              <a:t>Farmer product listing with map integration.</a:t>
            </a:r>
            <a:endParaRPr lang="en-US" dirty="0">
              <a:latin typeface="Satoshi" pitchFamily="50" charset="0"/>
            </a:endParaRPr>
          </a:p>
          <a:p>
            <a:pPr marL="342900" indent="-342900" algn="l">
              <a:lnSpc>
                <a:spcPts val="2200"/>
              </a:lnSpc>
              <a:buSzPct val="100000"/>
              <a:buChar char="•"/>
            </a:pPr>
            <a:r>
              <a:rPr lang="en-US" dirty="0">
                <a:solidFill>
                  <a:srgbClr val="4C4C4C"/>
                </a:solidFill>
                <a:latin typeface="Satoshi" pitchFamily="50" charset="0"/>
                <a:ea typeface="Noto Serif" pitchFamily="34" charset="-122"/>
                <a:cs typeface="Noto Serif" pitchFamily="34" charset="-120"/>
              </a:rPr>
              <a:t>Basic Chatbot Framework.</a:t>
            </a:r>
            <a:endParaRPr lang="en-US" dirty="0">
              <a:latin typeface="Satoshi" pitchFamily="50" charset="0"/>
            </a:endParaRPr>
          </a:p>
          <a:p>
            <a:pPr algn="l">
              <a:lnSpc>
                <a:spcPts val="2200"/>
              </a:lnSpc>
              <a:buSzPct val="100000"/>
            </a:pPr>
            <a:endParaRPr lang="en-US" dirty="0">
              <a:latin typeface="Satoshi" pitchFamily="50" charset="0"/>
            </a:endParaRPr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7B46906D-BC33-2E8F-140D-E415F353513E}"/>
              </a:ext>
            </a:extLst>
          </p:cNvPr>
          <p:cNvSpPr/>
          <p:nvPr/>
        </p:nvSpPr>
        <p:spPr>
          <a:xfrm>
            <a:off x="793790" y="3526631"/>
            <a:ext cx="2892028" cy="3614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250" b="1" dirty="0">
                <a:solidFill>
                  <a:srgbClr val="3A3A3A"/>
                </a:solidFill>
                <a:latin typeface="Satoshi" pitchFamily="50" charset="0"/>
                <a:ea typeface="Noto Serif Medium" pitchFamily="34" charset="-122"/>
                <a:cs typeface="Noto Serif Medium" pitchFamily="34" charset="-120"/>
              </a:rPr>
              <a:t>Technological Stack</a:t>
            </a:r>
            <a:endParaRPr lang="en-US" sz="2250" b="1" dirty="0">
              <a:latin typeface="Satoshi" pitchFamily="50" charset="0"/>
            </a:endParaRPr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B845E899-F1AA-7AE0-55CF-9F9AC6A165E5}"/>
              </a:ext>
            </a:extLst>
          </p:cNvPr>
          <p:cNvSpPr/>
          <p:nvPr/>
        </p:nvSpPr>
        <p:spPr>
          <a:xfrm flipV="1">
            <a:off x="793790" y="4304944"/>
            <a:ext cx="11101361" cy="45719"/>
          </a:xfrm>
          <a:prstGeom prst="roundRect">
            <a:avLst>
              <a:gd name="adj" fmla="val 354232"/>
            </a:avLst>
          </a:prstGeom>
          <a:solidFill>
            <a:srgbClr val="000000">
              <a:alpha val="8000"/>
            </a:srgbClr>
          </a:solidFill>
          <a:ln/>
        </p:spPr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40DE2ECF-D4D2-FBFD-1469-E018E4943EB8}"/>
              </a:ext>
            </a:extLst>
          </p:cNvPr>
          <p:cNvSpPr/>
          <p:nvPr/>
        </p:nvSpPr>
        <p:spPr>
          <a:xfrm>
            <a:off x="2004536" y="4350603"/>
            <a:ext cx="22860" cy="578406"/>
          </a:xfrm>
          <a:prstGeom prst="roundRect">
            <a:avLst>
              <a:gd name="adj" fmla="val 354232"/>
            </a:avLst>
          </a:prstGeom>
          <a:solidFill>
            <a:srgbClr val="CCC4B8"/>
          </a:solidFill>
          <a:ln/>
        </p:spPr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B406F437-8AE1-3B52-3B6F-851B4AF6B4BD}"/>
              </a:ext>
            </a:extLst>
          </p:cNvPr>
          <p:cNvSpPr/>
          <p:nvPr/>
        </p:nvSpPr>
        <p:spPr>
          <a:xfrm>
            <a:off x="1799153" y="4133790"/>
            <a:ext cx="433745" cy="433745"/>
          </a:xfrm>
          <a:prstGeom prst="roundRect">
            <a:avLst>
              <a:gd name="adj" fmla="val 18669"/>
            </a:avLst>
          </a:prstGeom>
          <a:solidFill>
            <a:srgbClr val="E6DED2">
              <a:alpha val="50000"/>
            </a:srgbClr>
          </a:solidFill>
          <a:ln w="7620">
            <a:solidFill>
              <a:srgbClr val="CCC4B8"/>
            </a:solidFill>
            <a:prstDash val="solid"/>
          </a:ln>
          <a:effectLst>
            <a:outerShdw dist="25400" dir="2700000" algn="bl" rotWithShape="0">
              <a:srgbClr val="CCC4B8">
                <a:alpha val="100000"/>
              </a:srgbClr>
            </a:outerShdw>
          </a:effectLst>
        </p:spPr>
      </p:sp>
      <p:pic>
        <p:nvPicPr>
          <p:cNvPr id="8" name="Image 0" descr="preencoded.png">
            <a:extLst>
              <a:ext uri="{FF2B5EF4-FFF2-40B4-BE49-F238E27FC236}">
                <a16:creationId xmlns:a16="http://schemas.microsoft.com/office/drawing/2014/main" id="{FD99174D-4D0A-EB82-801F-632738A061D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71365" y="4205942"/>
            <a:ext cx="289203" cy="289203"/>
          </a:xfrm>
          <a:prstGeom prst="rect">
            <a:avLst/>
          </a:prstGeom>
        </p:spPr>
      </p:pic>
      <p:sp>
        <p:nvSpPr>
          <p:cNvPr id="9" name="Text 6">
            <a:extLst>
              <a:ext uri="{FF2B5EF4-FFF2-40B4-BE49-F238E27FC236}">
                <a16:creationId xmlns:a16="http://schemas.microsoft.com/office/drawing/2014/main" id="{6364C387-67DD-6E09-D4CE-0A2E0CBDAB4F}"/>
              </a:ext>
            </a:extLst>
          </p:cNvPr>
          <p:cNvSpPr/>
          <p:nvPr/>
        </p:nvSpPr>
        <p:spPr>
          <a:xfrm>
            <a:off x="986552" y="5121950"/>
            <a:ext cx="2059186" cy="3012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350"/>
              </a:lnSpc>
              <a:buNone/>
            </a:pPr>
            <a:r>
              <a:rPr lang="en-US" sz="1850" b="1" dirty="0">
                <a:solidFill>
                  <a:srgbClr val="4C4C4C"/>
                </a:solidFill>
                <a:latin typeface="Satoshi" pitchFamily="50" charset="0"/>
                <a:ea typeface="Noto Serif Medium" pitchFamily="34" charset="-122"/>
                <a:cs typeface="Noto Serif Medium" pitchFamily="34" charset="-120"/>
              </a:rPr>
              <a:t>PostgreSQL Database</a:t>
            </a:r>
            <a:endParaRPr lang="en-US" sz="1850" b="1" dirty="0">
              <a:latin typeface="Satoshi" pitchFamily="50" charset="0"/>
            </a:endParaRPr>
          </a:p>
        </p:txBody>
      </p:sp>
      <p:sp>
        <p:nvSpPr>
          <p:cNvPr id="10" name="Text 7">
            <a:extLst>
              <a:ext uri="{FF2B5EF4-FFF2-40B4-BE49-F238E27FC236}">
                <a16:creationId xmlns:a16="http://schemas.microsoft.com/office/drawing/2014/main" id="{16D6FF57-8226-6768-D917-969FD05AC714}"/>
              </a:ext>
            </a:extLst>
          </p:cNvPr>
          <p:cNvSpPr/>
          <p:nvPr/>
        </p:nvSpPr>
        <p:spPr>
          <a:xfrm>
            <a:off x="986552" y="5521404"/>
            <a:ext cx="2059186" cy="14263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200"/>
              </a:lnSpc>
              <a:buNone/>
            </a:pPr>
            <a:r>
              <a:rPr lang="en-US" sz="1500" dirty="0">
                <a:solidFill>
                  <a:srgbClr val="4C4C4C"/>
                </a:solidFill>
                <a:latin typeface="Satoshi" pitchFamily="50" charset="0"/>
                <a:ea typeface="Noto Serif" pitchFamily="34" charset="-122"/>
                <a:cs typeface="Noto Serif" pitchFamily="34" charset="-120"/>
              </a:rPr>
              <a:t>PostgreSQL is used to store the user data and listing data uploaded by the farmer.</a:t>
            </a:r>
            <a:endParaRPr lang="en-US" sz="1500" dirty="0">
              <a:latin typeface="Satoshi" pitchFamily="50" charset="0"/>
            </a:endParaRPr>
          </a:p>
        </p:txBody>
      </p:sp>
      <p:sp>
        <p:nvSpPr>
          <p:cNvPr id="11" name="Shape 8">
            <a:extLst>
              <a:ext uri="{FF2B5EF4-FFF2-40B4-BE49-F238E27FC236}">
                <a16:creationId xmlns:a16="http://schemas.microsoft.com/office/drawing/2014/main" id="{0D9D9D08-CAE4-BA7C-AFD2-9742CC350FF5}"/>
              </a:ext>
            </a:extLst>
          </p:cNvPr>
          <p:cNvSpPr/>
          <p:nvPr/>
        </p:nvSpPr>
        <p:spPr>
          <a:xfrm>
            <a:off x="4654034" y="4350603"/>
            <a:ext cx="22860" cy="578406"/>
          </a:xfrm>
          <a:prstGeom prst="roundRect">
            <a:avLst>
              <a:gd name="adj" fmla="val 354232"/>
            </a:avLst>
          </a:prstGeom>
          <a:solidFill>
            <a:srgbClr val="CCC4B8"/>
          </a:solidFill>
          <a:ln/>
        </p:spPr>
      </p:sp>
      <p:sp>
        <p:nvSpPr>
          <p:cNvPr id="12" name="Shape 9">
            <a:extLst>
              <a:ext uri="{FF2B5EF4-FFF2-40B4-BE49-F238E27FC236}">
                <a16:creationId xmlns:a16="http://schemas.microsoft.com/office/drawing/2014/main" id="{EEEEFC55-82B1-9104-CB07-788C69DDE3FE}"/>
              </a:ext>
            </a:extLst>
          </p:cNvPr>
          <p:cNvSpPr/>
          <p:nvPr/>
        </p:nvSpPr>
        <p:spPr>
          <a:xfrm>
            <a:off x="4448651" y="4133790"/>
            <a:ext cx="433745" cy="433745"/>
          </a:xfrm>
          <a:prstGeom prst="roundRect">
            <a:avLst>
              <a:gd name="adj" fmla="val 18669"/>
            </a:avLst>
          </a:prstGeom>
          <a:solidFill>
            <a:srgbClr val="E6DED2">
              <a:alpha val="50000"/>
            </a:srgbClr>
          </a:solidFill>
          <a:ln w="7620">
            <a:solidFill>
              <a:srgbClr val="CCC4B8"/>
            </a:solidFill>
            <a:prstDash val="solid"/>
          </a:ln>
          <a:effectLst>
            <a:outerShdw dist="25400" dir="2700000" algn="bl" rotWithShape="0">
              <a:srgbClr val="CCC4B8">
                <a:alpha val="100000"/>
              </a:srgbClr>
            </a:outerShdw>
          </a:effectLst>
        </p:spPr>
      </p:sp>
      <p:pic>
        <p:nvPicPr>
          <p:cNvPr id="13" name="Image 1" descr="preencoded.png">
            <a:extLst>
              <a:ext uri="{FF2B5EF4-FFF2-40B4-BE49-F238E27FC236}">
                <a16:creationId xmlns:a16="http://schemas.microsoft.com/office/drawing/2014/main" id="{B34FF7BD-6FDF-AEBB-A178-A3C0E061CC2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20863" y="4205942"/>
            <a:ext cx="289203" cy="289203"/>
          </a:xfrm>
          <a:prstGeom prst="rect">
            <a:avLst/>
          </a:prstGeom>
        </p:spPr>
      </p:pic>
      <p:sp>
        <p:nvSpPr>
          <p:cNvPr id="14" name="Text 10">
            <a:extLst>
              <a:ext uri="{FF2B5EF4-FFF2-40B4-BE49-F238E27FC236}">
                <a16:creationId xmlns:a16="http://schemas.microsoft.com/office/drawing/2014/main" id="{58097A70-393B-480E-CBAC-0881B6FE15B3}"/>
              </a:ext>
            </a:extLst>
          </p:cNvPr>
          <p:cNvSpPr/>
          <p:nvPr/>
        </p:nvSpPr>
        <p:spPr>
          <a:xfrm>
            <a:off x="3636050" y="5121950"/>
            <a:ext cx="2059186" cy="602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350"/>
              </a:lnSpc>
              <a:buNone/>
            </a:pPr>
            <a:r>
              <a:rPr lang="en-US" sz="1850" b="1" dirty="0">
                <a:solidFill>
                  <a:srgbClr val="4C4C4C"/>
                </a:solidFill>
                <a:latin typeface="Satoshi" pitchFamily="50" charset="0"/>
                <a:ea typeface="Noto Serif Medium" pitchFamily="34" charset="-122"/>
                <a:cs typeface="Noto Serif Medium" pitchFamily="34" charset="-120"/>
              </a:rPr>
              <a:t>Frontend Framework</a:t>
            </a:r>
            <a:endParaRPr lang="en-US" sz="1850" b="1" dirty="0">
              <a:latin typeface="Satoshi" pitchFamily="50" charset="0"/>
            </a:endParaRPr>
          </a:p>
        </p:txBody>
      </p:sp>
      <p:sp>
        <p:nvSpPr>
          <p:cNvPr id="15" name="Text 11">
            <a:extLst>
              <a:ext uri="{FF2B5EF4-FFF2-40B4-BE49-F238E27FC236}">
                <a16:creationId xmlns:a16="http://schemas.microsoft.com/office/drawing/2014/main" id="{411E2D3B-9864-4D47-752F-186BFDC7B573}"/>
              </a:ext>
            </a:extLst>
          </p:cNvPr>
          <p:cNvSpPr/>
          <p:nvPr/>
        </p:nvSpPr>
        <p:spPr>
          <a:xfrm>
            <a:off x="3636050" y="5822633"/>
            <a:ext cx="2059186" cy="14263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200"/>
              </a:lnSpc>
              <a:buNone/>
            </a:pPr>
            <a:r>
              <a:rPr lang="en-US" sz="1500" dirty="0">
                <a:solidFill>
                  <a:srgbClr val="4C4C4C"/>
                </a:solidFill>
                <a:latin typeface="Satoshi" pitchFamily="50" charset="0"/>
                <a:ea typeface="Noto Serif" pitchFamily="34" charset="-122"/>
                <a:cs typeface="Noto Serif" pitchFamily="34" charset="-120"/>
              </a:rPr>
              <a:t>React Native Expo is used to develop the initial mobile application </a:t>
            </a:r>
            <a:endParaRPr lang="en-US" sz="1500" dirty="0">
              <a:latin typeface="Satoshi" pitchFamily="50" charset="0"/>
            </a:endParaRPr>
          </a:p>
        </p:txBody>
      </p:sp>
      <p:sp>
        <p:nvSpPr>
          <p:cNvPr id="16" name="Shape 12">
            <a:extLst>
              <a:ext uri="{FF2B5EF4-FFF2-40B4-BE49-F238E27FC236}">
                <a16:creationId xmlns:a16="http://schemas.microsoft.com/office/drawing/2014/main" id="{F82CE81D-F7CD-1E1E-797A-8A30E4365107}"/>
              </a:ext>
            </a:extLst>
          </p:cNvPr>
          <p:cNvSpPr/>
          <p:nvPr/>
        </p:nvSpPr>
        <p:spPr>
          <a:xfrm>
            <a:off x="7303532" y="4350603"/>
            <a:ext cx="22860" cy="578406"/>
          </a:xfrm>
          <a:prstGeom prst="roundRect">
            <a:avLst>
              <a:gd name="adj" fmla="val 354232"/>
            </a:avLst>
          </a:prstGeom>
          <a:solidFill>
            <a:srgbClr val="CCC4B8"/>
          </a:solidFill>
          <a:ln/>
        </p:spPr>
      </p:sp>
      <p:sp>
        <p:nvSpPr>
          <p:cNvPr id="17" name="Shape 13">
            <a:extLst>
              <a:ext uri="{FF2B5EF4-FFF2-40B4-BE49-F238E27FC236}">
                <a16:creationId xmlns:a16="http://schemas.microsoft.com/office/drawing/2014/main" id="{29960E39-1218-5545-36EE-4DCCC61A3B38}"/>
              </a:ext>
            </a:extLst>
          </p:cNvPr>
          <p:cNvSpPr/>
          <p:nvPr/>
        </p:nvSpPr>
        <p:spPr>
          <a:xfrm>
            <a:off x="7098149" y="4133790"/>
            <a:ext cx="433745" cy="433745"/>
          </a:xfrm>
          <a:prstGeom prst="roundRect">
            <a:avLst>
              <a:gd name="adj" fmla="val 18669"/>
            </a:avLst>
          </a:prstGeom>
          <a:solidFill>
            <a:srgbClr val="E6DED2">
              <a:alpha val="50000"/>
            </a:srgbClr>
          </a:solidFill>
          <a:ln w="7620">
            <a:solidFill>
              <a:srgbClr val="CCC4B8"/>
            </a:solidFill>
            <a:prstDash val="solid"/>
          </a:ln>
          <a:effectLst>
            <a:outerShdw dist="25400" dir="2700000" algn="bl" rotWithShape="0">
              <a:srgbClr val="CCC4B8">
                <a:alpha val="100000"/>
              </a:srgbClr>
            </a:outerShdw>
          </a:effectLst>
        </p:spPr>
      </p:sp>
      <p:pic>
        <p:nvPicPr>
          <p:cNvPr id="18" name="Image 2" descr="preencoded.png">
            <a:extLst>
              <a:ext uri="{FF2B5EF4-FFF2-40B4-BE49-F238E27FC236}">
                <a16:creationId xmlns:a16="http://schemas.microsoft.com/office/drawing/2014/main" id="{CAAA8721-9CA7-4752-1CCC-850A036D600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70360" y="4205942"/>
            <a:ext cx="289203" cy="289203"/>
          </a:xfrm>
          <a:prstGeom prst="rect">
            <a:avLst/>
          </a:prstGeom>
        </p:spPr>
      </p:pic>
      <p:sp>
        <p:nvSpPr>
          <p:cNvPr id="19" name="Text 14">
            <a:extLst>
              <a:ext uri="{FF2B5EF4-FFF2-40B4-BE49-F238E27FC236}">
                <a16:creationId xmlns:a16="http://schemas.microsoft.com/office/drawing/2014/main" id="{479ECC59-3B9B-0918-D596-0058097EF930}"/>
              </a:ext>
            </a:extLst>
          </p:cNvPr>
          <p:cNvSpPr/>
          <p:nvPr/>
        </p:nvSpPr>
        <p:spPr>
          <a:xfrm>
            <a:off x="6285548" y="5121950"/>
            <a:ext cx="2059186" cy="3012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350"/>
              </a:lnSpc>
              <a:buNone/>
            </a:pPr>
            <a:r>
              <a:rPr lang="en-US" sz="1850" b="1" dirty="0">
                <a:solidFill>
                  <a:srgbClr val="4C4C4C"/>
                </a:solidFill>
                <a:latin typeface="Satoshi" pitchFamily="50" charset="0"/>
                <a:ea typeface="Noto Serif Medium" pitchFamily="34" charset="-122"/>
                <a:cs typeface="Noto Serif Medium" pitchFamily="34" charset="-120"/>
              </a:rPr>
              <a:t>Backend Framework</a:t>
            </a:r>
            <a:endParaRPr lang="en-US" sz="1850" b="1" dirty="0">
              <a:latin typeface="Satoshi" pitchFamily="50" charset="0"/>
            </a:endParaRPr>
          </a:p>
        </p:txBody>
      </p:sp>
      <p:sp>
        <p:nvSpPr>
          <p:cNvPr id="20" name="Text 15">
            <a:extLst>
              <a:ext uri="{FF2B5EF4-FFF2-40B4-BE49-F238E27FC236}">
                <a16:creationId xmlns:a16="http://schemas.microsoft.com/office/drawing/2014/main" id="{FE8A5D83-B93A-D678-9DEE-33F2ADD51EE4}"/>
              </a:ext>
            </a:extLst>
          </p:cNvPr>
          <p:cNvSpPr/>
          <p:nvPr/>
        </p:nvSpPr>
        <p:spPr>
          <a:xfrm>
            <a:off x="6285548" y="5521404"/>
            <a:ext cx="2059186" cy="14263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200"/>
              </a:lnSpc>
              <a:buNone/>
            </a:pPr>
            <a:r>
              <a:rPr lang="en-US" sz="1500" dirty="0">
                <a:solidFill>
                  <a:srgbClr val="4C4C4C"/>
                </a:solidFill>
                <a:latin typeface="Satoshi" pitchFamily="50" charset="0"/>
                <a:ea typeface="Noto Serif" pitchFamily="34" charset="-122"/>
                <a:cs typeface="Noto Serif" pitchFamily="34" charset="-120"/>
              </a:rPr>
              <a:t>Node.JS and Express.JS is used to run server-side runtime.</a:t>
            </a:r>
            <a:endParaRPr lang="en-US" sz="1500" dirty="0">
              <a:latin typeface="Satoshi" pitchFamily="50" charset="0"/>
            </a:endParaRPr>
          </a:p>
        </p:txBody>
      </p:sp>
      <p:sp>
        <p:nvSpPr>
          <p:cNvPr id="21" name="Shape 16">
            <a:extLst>
              <a:ext uri="{FF2B5EF4-FFF2-40B4-BE49-F238E27FC236}">
                <a16:creationId xmlns:a16="http://schemas.microsoft.com/office/drawing/2014/main" id="{44CF31FE-CEAE-8941-D576-E0EE3E0B8118}"/>
              </a:ext>
            </a:extLst>
          </p:cNvPr>
          <p:cNvSpPr/>
          <p:nvPr/>
        </p:nvSpPr>
        <p:spPr>
          <a:xfrm>
            <a:off x="9953030" y="4350603"/>
            <a:ext cx="22860" cy="578406"/>
          </a:xfrm>
          <a:prstGeom prst="roundRect">
            <a:avLst>
              <a:gd name="adj" fmla="val 354232"/>
            </a:avLst>
          </a:prstGeom>
          <a:solidFill>
            <a:srgbClr val="CCC4B8"/>
          </a:solidFill>
          <a:ln/>
        </p:spPr>
      </p:sp>
      <p:sp>
        <p:nvSpPr>
          <p:cNvPr id="22" name="Shape 17">
            <a:extLst>
              <a:ext uri="{FF2B5EF4-FFF2-40B4-BE49-F238E27FC236}">
                <a16:creationId xmlns:a16="http://schemas.microsoft.com/office/drawing/2014/main" id="{FCC60177-63D9-5541-FC5A-3549BB729640}"/>
              </a:ext>
            </a:extLst>
          </p:cNvPr>
          <p:cNvSpPr/>
          <p:nvPr/>
        </p:nvSpPr>
        <p:spPr>
          <a:xfrm>
            <a:off x="9747647" y="4133790"/>
            <a:ext cx="433745" cy="433745"/>
          </a:xfrm>
          <a:prstGeom prst="roundRect">
            <a:avLst>
              <a:gd name="adj" fmla="val 18669"/>
            </a:avLst>
          </a:prstGeom>
          <a:solidFill>
            <a:srgbClr val="E6DED2">
              <a:alpha val="50000"/>
            </a:srgbClr>
          </a:solidFill>
          <a:ln w="7620">
            <a:solidFill>
              <a:srgbClr val="CCC4B8"/>
            </a:solidFill>
            <a:prstDash val="solid"/>
          </a:ln>
          <a:effectLst>
            <a:outerShdw dist="25400" dir="2700000" algn="bl" rotWithShape="0">
              <a:srgbClr val="CCC4B8">
                <a:alpha val="100000"/>
              </a:srgbClr>
            </a:outerShdw>
          </a:effectLst>
        </p:spPr>
      </p:sp>
      <p:pic>
        <p:nvPicPr>
          <p:cNvPr id="23" name="Image 3" descr="preencoded.png">
            <a:extLst>
              <a:ext uri="{FF2B5EF4-FFF2-40B4-BE49-F238E27FC236}">
                <a16:creationId xmlns:a16="http://schemas.microsoft.com/office/drawing/2014/main" id="{84C10859-EA01-918F-1274-5E00E4ABCA1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819858" y="4205942"/>
            <a:ext cx="289203" cy="289203"/>
          </a:xfrm>
          <a:prstGeom prst="rect">
            <a:avLst/>
          </a:prstGeom>
        </p:spPr>
      </p:pic>
      <p:sp>
        <p:nvSpPr>
          <p:cNvPr id="24" name="Text 18">
            <a:extLst>
              <a:ext uri="{FF2B5EF4-FFF2-40B4-BE49-F238E27FC236}">
                <a16:creationId xmlns:a16="http://schemas.microsoft.com/office/drawing/2014/main" id="{3AD3325C-6BAB-F63B-39AE-706515915D70}"/>
              </a:ext>
            </a:extLst>
          </p:cNvPr>
          <p:cNvSpPr/>
          <p:nvPr/>
        </p:nvSpPr>
        <p:spPr>
          <a:xfrm>
            <a:off x="8935045" y="5121950"/>
            <a:ext cx="2059186" cy="3012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350"/>
              </a:lnSpc>
              <a:buNone/>
            </a:pPr>
            <a:r>
              <a:rPr lang="en-US" sz="1850" b="1" dirty="0">
                <a:solidFill>
                  <a:srgbClr val="4C4C4C"/>
                </a:solidFill>
                <a:latin typeface="Satoshi" pitchFamily="50" charset="0"/>
                <a:ea typeface="Noto Serif Medium" pitchFamily="34" charset="-122"/>
                <a:cs typeface="Noto Serif Medium" pitchFamily="34" charset="-120"/>
              </a:rPr>
              <a:t>Maps Integration</a:t>
            </a:r>
            <a:endParaRPr lang="en-US" sz="1850" b="1" dirty="0">
              <a:latin typeface="Satoshi" pitchFamily="50" charset="0"/>
            </a:endParaRPr>
          </a:p>
        </p:txBody>
      </p:sp>
      <p:sp>
        <p:nvSpPr>
          <p:cNvPr id="25" name="Text 19">
            <a:extLst>
              <a:ext uri="{FF2B5EF4-FFF2-40B4-BE49-F238E27FC236}">
                <a16:creationId xmlns:a16="http://schemas.microsoft.com/office/drawing/2014/main" id="{311BAE8E-A8A2-BB76-7063-F8F770ACA51A}"/>
              </a:ext>
            </a:extLst>
          </p:cNvPr>
          <p:cNvSpPr/>
          <p:nvPr/>
        </p:nvSpPr>
        <p:spPr>
          <a:xfrm>
            <a:off x="8935045" y="5521404"/>
            <a:ext cx="2059186" cy="14263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200"/>
              </a:lnSpc>
              <a:buNone/>
            </a:pPr>
            <a:r>
              <a:rPr lang="en-US" sz="1500" dirty="0">
                <a:solidFill>
                  <a:srgbClr val="4C4C4C"/>
                </a:solidFill>
                <a:latin typeface="Satoshi" pitchFamily="50" charset="0"/>
                <a:ea typeface="Noto Serif" pitchFamily="34" charset="-122"/>
                <a:cs typeface="Noto Serif" pitchFamily="34" charset="-120"/>
              </a:rPr>
              <a:t>React Native Maps to show buyers the location of farmers.</a:t>
            </a:r>
            <a:endParaRPr lang="en-US" sz="1500" dirty="0">
              <a:latin typeface="Satoshi" pitchFamily="50" charset="0"/>
            </a:endParaRP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22D01B3F-330C-ED75-222F-61E62736123C}"/>
              </a:ext>
            </a:extLst>
          </p:cNvPr>
          <p:cNvSpPr/>
          <p:nvPr/>
        </p:nvSpPr>
        <p:spPr>
          <a:xfrm>
            <a:off x="12833405" y="7776376"/>
            <a:ext cx="1709531" cy="362903"/>
          </a:xfrm>
          <a:prstGeom prst="rect">
            <a:avLst/>
          </a:prstGeom>
          <a:solidFill>
            <a:srgbClr val="FDFBF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D9542F3D-10E7-B9DB-A48B-792027631BB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658450" y="0"/>
            <a:ext cx="1971950" cy="8383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7666661"/>
      </p:ext>
    </p:extLst>
  </p:cSld>
  <p:clrMapOvr>
    <a:masterClrMapping/>
  </p:clrMapOvr>
  <p:transition spd="slow">
    <p:cover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716280"/>
            <a:ext cx="5153263" cy="5669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450"/>
              </a:lnSpc>
              <a:buNone/>
            </a:pPr>
            <a:r>
              <a:rPr lang="en-US" sz="3550" b="1" dirty="0">
                <a:solidFill>
                  <a:srgbClr val="3A3A3A"/>
                </a:solidFill>
                <a:latin typeface="Satoshi" pitchFamily="50" charset="0"/>
                <a:ea typeface="Noto Serif Medium" pitchFamily="34" charset="-122"/>
                <a:cs typeface="Noto Serif Medium" pitchFamily="34" charset="-120"/>
              </a:rPr>
              <a:t>Implementation Status:</a:t>
            </a:r>
            <a:endParaRPr lang="en-US" sz="3550" b="1" dirty="0">
              <a:latin typeface="Satoshi" pitchFamily="50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2098119" y="1664256"/>
            <a:ext cx="10434161" cy="5987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4700"/>
              </a:lnSpc>
              <a:buNone/>
            </a:pPr>
            <a:r>
              <a:rPr lang="en-US" sz="4700" dirty="0">
                <a:solidFill>
                  <a:srgbClr val="4C4C4C"/>
                </a:solidFill>
                <a:latin typeface="Satoshi" pitchFamily="50" charset="0"/>
                <a:ea typeface="Noto Serif Medium" pitchFamily="34" charset="-122"/>
                <a:cs typeface="Noto Serif Medium" pitchFamily="34" charset="-120"/>
              </a:rPr>
              <a:t>10%+</a:t>
            </a:r>
            <a:endParaRPr lang="en-US" sz="4700" dirty="0">
              <a:latin typeface="Satoshi" pitchFamily="50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6181011" y="2462570"/>
            <a:ext cx="2268260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200"/>
              </a:lnSpc>
              <a:buNone/>
            </a:pPr>
            <a:r>
              <a:rPr lang="en-US" sz="1750" b="1" dirty="0">
                <a:solidFill>
                  <a:srgbClr val="4C4C4C"/>
                </a:solidFill>
                <a:latin typeface="Satoshi" pitchFamily="50" charset="0"/>
                <a:ea typeface="Noto Serif Medium" pitchFamily="34" charset="-122"/>
                <a:cs typeface="Noto Serif Medium" pitchFamily="34" charset="-120"/>
              </a:rPr>
              <a:t>Project Completion</a:t>
            </a:r>
            <a:endParaRPr lang="en-US" sz="1750" b="1" dirty="0">
              <a:latin typeface="Satoshi" pitchFamily="50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793790" y="2833092"/>
            <a:ext cx="13042821" cy="2612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050"/>
              </a:lnSpc>
              <a:buNone/>
            </a:pPr>
            <a:r>
              <a:rPr lang="en-US" sz="1400" dirty="0">
                <a:solidFill>
                  <a:srgbClr val="4C4C4C"/>
                </a:solidFill>
                <a:latin typeface="Satoshi" pitchFamily="50" charset="0"/>
                <a:ea typeface="Noto Serif" pitchFamily="34" charset="-122"/>
                <a:cs typeface="Noto Serif" pitchFamily="34" charset="-120"/>
              </a:rPr>
              <a:t>Initial phase successfully implemented</a:t>
            </a:r>
            <a:endParaRPr lang="en-US" sz="1400" dirty="0">
              <a:latin typeface="Satoshi" pitchFamily="50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793790" y="3311962"/>
            <a:ext cx="3629144" cy="4536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550"/>
              </a:lnSpc>
              <a:buNone/>
            </a:pPr>
            <a:r>
              <a:rPr lang="en-US" sz="2850" b="1" dirty="0">
                <a:solidFill>
                  <a:srgbClr val="3A3A3A"/>
                </a:solidFill>
                <a:latin typeface="Satoshi" pitchFamily="50" charset="0"/>
                <a:ea typeface="Noto Serif Medium" pitchFamily="34" charset="-122"/>
                <a:cs typeface="Noto Serif Medium" pitchFamily="34" charset="-120"/>
              </a:rPr>
              <a:t>Key Achievements</a:t>
            </a:r>
            <a:endParaRPr lang="en-US" sz="2850" b="1" dirty="0">
              <a:latin typeface="Satoshi" pitchFamily="50" charset="0"/>
            </a:endParaRPr>
          </a:p>
        </p:txBody>
      </p:sp>
      <p:sp>
        <p:nvSpPr>
          <p:cNvPr id="7" name="Shape 5"/>
          <p:cNvSpPr/>
          <p:nvPr/>
        </p:nvSpPr>
        <p:spPr>
          <a:xfrm>
            <a:off x="793790" y="4255413"/>
            <a:ext cx="4250769" cy="1550908"/>
          </a:xfrm>
          <a:prstGeom prst="roundRect">
            <a:avLst>
              <a:gd name="adj" fmla="val 7075"/>
            </a:avLst>
          </a:prstGeom>
          <a:solidFill>
            <a:srgbClr val="FDFBF7"/>
          </a:solidFill>
          <a:ln/>
          <a:effectLst>
            <a:outerShdw dist="22860" dir="2700000" algn="bl" rotWithShape="0">
              <a:srgbClr val="E6DED2">
                <a:alpha val="10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793790" y="4232553"/>
            <a:ext cx="4250769" cy="91440"/>
          </a:xfrm>
          <a:prstGeom prst="roundRect">
            <a:avLst>
              <a:gd name="adj" fmla="val 83349"/>
            </a:avLst>
          </a:prstGeom>
          <a:solidFill>
            <a:srgbClr val="E6DED2"/>
          </a:solidFill>
          <a:ln/>
        </p:spPr>
      </p:sp>
      <p:sp>
        <p:nvSpPr>
          <p:cNvPr id="9" name="Shape 7"/>
          <p:cNvSpPr/>
          <p:nvPr/>
        </p:nvSpPr>
        <p:spPr>
          <a:xfrm>
            <a:off x="2646998" y="3983236"/>
            <a:ext cx="544354" cy="544354"/>
          </a:xfrm>
          <a:prstGeom prst="roundRect">
            <a:avLst>
              <a:gd name="adj" fmla="val 167979"/>
            </a:avLst>
          </a:prstGeom>
          <a:solidFill>
            <a:srgbClr val="E6DED2">
              <a:alpha val="50000"/>
            </a:srgbClr>
          </a:solidFill>
          <a:ln/>
        </p:spPr>
      </p:sp>
      <p:sp>
        <p:nvSpPr>
          <p:cNvPr id="10" name="Text 8"/>
          <p:cNvSpPr/>
          <p:nvPr/>
        </p:nvSpPr>
        <p:spPr>
          <a:xfrm>
            <a:off x="2810351" y="4119324"/>
            <a:ext cx="217646" cy="2721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450"/>
              </a:lnSpc>
              <a:buNone/>
            </a:pPr>
            <a:r>
              <a:rPr lang="en-US" sz="1700" dirty="0">
                <a:solidFill>
                  <a:srgbClr val="000000"/>
                </a:solidFill>
                <a:latin typeface="Satoshi" pitchFamily="50" charset="0"/>
                <a:ea typeface="Noto Serif Medium" pitchFamily="34" charset="-122"/>
                <a:cs typeface="Noto Serif Medium" pitchFamily="34" charset="-120"/>
              </a:rPr>
              <a:t>1</a:t>
            </a:r>
            <a:endParaRPr lang="en-US" sz="1700" dirty="0">
              <a:latin typeface="Satoshi" pitchFamily="50" charset="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1784985" y="4709041"/>
            <a:ext cx="2268260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200"/>
              </a:lnSpc>
              <a:buNone/>
            </a:pPr>
            <a:r>
              <a:rPr lang="en-US" sz="1750" b="1" dirty="0">
                <a:solidFill>
                  <a:srgbClr val="4C4C4C"/>
                </a:solidFill>
                <a:latin typeface="Satoshi" pitchFamily="50" charset="0"/>
                <a:ea typeface="Noto Serif Medium" pitchFamily="34" charset="-122"/>
                <a:cs typeface="Noto Serif Medium" pitchFamily="34" charset="-120"/>
              </a:rPr>
              <a:t>Initial CNN Model</a:t>
            </a:r>
            <a:endParaRPr lang="en-US" sz="1750" b="1" dirty="0">
              <a:latin typeface="Satoshi" pitchFamily="50" charset="0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998101" y="5079563"/>
            <a:ext cx="3842147" cy="2612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050"/>
              </a:lnSpc>
              <a:buNone/>
            </a:pPr>
            <a:r>
              <a:rPr lang="en-US" sz="1400" dirty="0">
                <a:solidFill>
                  <a:srgbClr val="4C4C4C"/>
                </a:solidFill>
                <a:latin typeface="Satoshi" pitchFamily="50" charset="0"/>
                <a:ea typeface="Noto Serif" pitchFamily="34" charset="-122"/>
                <a:cs typeface="Noto Serif" pitchFamily="34" charset="-120"/>
              </a:rPr>
              <a:t>CNN Model Trained on ResNet50</a:t>
            </a:r>
            <a:endParaRPr lang="en-US" sz="1400" dirty="0">
              <a:latin typeface="Satoshi" pitchFamily="50" charset="0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5189696" y="4255413"/>
            <a:ext cx="4250888" cy="1550908"/>
          </a:xfrm>
          <a:prstGeom prst="roundRect">
            <a:avLst>
              <a:gd name="adj" fmla="val 7075"/>
            </a:avLst>
          </a:prstGeom>
          <a:solidFill>
            <a:srgbClr val="FDFBF7"/>
          </a:solidFill>
          <a:ln/>
          <a:effectLst>
            <a:outerShdw dist="22860" dir="2700000" algn="bl" rotWithShape="0">
              <a:srgbClr val="E6DED2">
                <a:alpha val="10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5189696" y="4232553"/>
            <a:ext cx="4250888" cy="91440"/>
          </a:xfrm>
          <a:prstGeom prst="roundRect">
            <a:avLst>
              <a:gd name="adj" fmla="val 83349"/>
            </a:avLst>
          </a:prstGeom>
          <a:solidFill>
            <a:srgbClr val="E6DED2"/>
          </a:solidFill>
          <a:ln/>
        </p:spPr>
      </p:sp>
      <p:sp>
        <p:nvSpPr>
          <p:cNvPr id="15" name="Shape 13"/>
          <p:cNvSpPr/>
          <p:nvPr/>
        </p:nvSpPr>
        <p:spPr>
          <a:xfrm>
            <a:off x="7042904" y="3983236"/>
            <a:ext cx="544354" cy="544354"/>
          </a:xfrm>
          <a:prstGeom prst="roundRect">
            <a:avLst>
              <a:gd name="adj" fmla="val 167979"/>
            </a:avLst>
          </a:prstGeom>
          <a:solidFill>
            <a:srgbClr val="E6DED2">
              <a:alpha val="50000"/>
            </a:srgbClr>
          </a:solidFill>
          <a:ln/>
        </p:spPr>
      </p:sp>
      <p:sp>
        <p:nvSpPr>
          <p:cNvPr id="16" name="Text 14"/>
          <p:cNvSpPr/>
          <p:nvPr/>
        </p:nvSpPr>
        <p:spPr>
          <a:xfrm>
            <a:off x="7206258" y="4119324"/>
            <a:ext cx="217646" cy="2721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450"/>
              </a:lnSpc>
              <a:buNone/>
            </a:pPr>
            <a:r>
              <a:rPr lang="en-US" sz="1700" dirty="0">
                <a:solidFill>
                  <a:srgbClr val="000000"/>
                </a:solidFill>
                <a:latin typeface="Satoshi" pitchFamily="50" charset="0"/>
                <a:ea typeface="Noto Serif Medium" pitchFamily="34" charset="-122"/>
                <a:cs typeface="Noto Serif Medium" pitchFamily="34" charset="-120"/>
              </a:rPr>
              <a:t>2</a:t>
            </a:r>
            <a:endParaRPr lang="en-US" sz="1700" dirty="0">
              <a:latin typeface="Satoshi" pitchFamily="50" charset="0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6181011" y="4709041"/>
            <a:ext cx="2268260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200"/>
              </a:lnSpc>
              <a:buNone/>
            </a:pPr>
            <a:r>
              <a:rPr lang="en-US" sz="1750" b="1" dirty="0">
                <a:solidFill>
                  <a:srgbClr val="4C4C4C"/>
                </a:solidFill>
                <a:latin typeface="Satoshi" pitchFamily="50" charset="0"/>
                <a:ea typeface="Noto Serif Medium" pitchFamily="34" charset="-122"/>
                <a:cs typeface="Noto Serif Medium" pitchFamily="34" charset="-120"/>
              </a:rPr>
              <a:t>RAG advisory model</a:t>
            </a:r>
            <a:endParaRPr lang="en-US" sz="1750" b="1" dirty="0">
              <a:latin typeface="Satoshi" pitchFamily="50" charset="0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5394008" y="5079563"/>
            <a:ext cx="3842266" cy="5224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050"/>
              </a:lnSpc>
              <a:buNone/>
            </a:pPr>
            <a:r>
              <a:rPr lang="en-US" sz="1400" dirty="0">
                <a:solidFill>
                  <a:srgbClr val="4C4C4C"/>
                </a:solidFill>
                <a:latin typeface="Satoshi" pitchFamily="50" charset="0"/>
                <a:ea typeface="Noto Serif" pitchFamily="34" charset="-122"/>
                <a:cs typeface="Noto Serif" pitchFamily="34" charset="-120"/>
              </a:rPr>
              <a:t>Generating Advisories based on simulated data and user query.</a:t>
            </a:r>
            <a:endParaRPr lang="en-US" sz="1400" dirty="0">
              <a:latin typeface="Satoshi" pitchFamily="50" charset="0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9585722" y="4255413"/>
            <a:ext cx="4250888" cy="1550908"/>
          </a:xfrm>
          <a:prstGeom prst="roundRect">
            <a:avLst>
              <a:gd name="adj" fmla="val 7075"/>
            </a:avLst>
          </a:prstGeom>
          <a:solidFill>
            <a:srgbClr val="FDFBF7"/>
          </a:solidFill>
          <a:ln/>
          <a:effectLst>
            <a:outerShdw dist="22860" dir="2700000" algn="bl" rotWithShape="0">
              <a:srgbClr val="E6DED2">
                <a:alpha val="10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9585722" y="4232553"/>
            <a:ext cx="4250888" cy="91440"/>
          </a:xfrm>
          <a:prstGeom prst="roundRect">
            <a:avLst>
              <a:gd name="adj" fmla="val 83349"/>
            </a:avLst>
          </a:prstGeom>
          <a:solidFill>
            <a:srgbClr val="E6DED2"/>
          </a:solidFill>
          <a:ln/>
        </p:spPr>
      </p:sp>
      <p:sp>
        <p:nvSpPr>
          <p:cNvPr id="21" name="Shape 19"/>
          <p:cNvSpPr/>
          <p:nvPr/>
        </p:nvSpPr>
        <p:spPr>
          <a:xfrm>
            <a:off x="11438930" y="3983236"/>
            <a:ext cx="544354" cy="544354"/>
          </a:xfrm>
          <a:prstGeom prst="roundRect">
            <a:avLst>
              <a:gd name="adj" fmla="val 167979"/>
            </a:avLst>
          </a:prstGeom>
          <a:solidFill>
            <a:srgbClr val="E6DED2">
              <a:alpha val="50000"/>
            </a:srgbClr>
          </a:solidFill>
          <a:ln/>
        </p:spPr>
      </p:sp>
      <p:sp>
        <p:nvSpPr>
          <p:cNvPr id="22" name="Text 20"/>
          <p:cNvSpPr/>
          <p:nvPr/>
        </p:nvSpPr>
        <p:spPr>
          <a:xfrm>
            <a:off x="11602283" y="4119324"/>
            <a:ext cx="217646" cy="2721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450"/>
              </a:lnSpc>
              <a:buNone/>
            </a:pPr>
            <a:r>
              <a:rPr lang="en-US" sz="1700" dirty="0">
                <a:solidFill>
                  <a:srgbClr val="000000"/>
                </a:solidFill>
                <a:latin typeface="Satoshi" pitchFamily="50" charset="0"/>
                <a:ea typeface="Noto Serif Medium" pitchFamily="34" charset="-122"/>
                <a:cs typeface="Noto Serif Medium" pitchFamily="34" charset="-120"/>
              </a:rPr>
              <a:t>3</a:t>
            </a:r>
            <a:endParaRPr lang="en-US" sz="1700" dirty="0">
              <a:latin typeface="Satoshi" pitchFamily="50" charset="0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10577036" y="4709041"/>
            <a:ext cx="2268260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200"/>
              </a:lnSpc>
              <a:buNone/>
            </a:pPr>
            <a:r>
              <a:rPr lang="en-US" sz="1750" b="1" dirty="0">
                <a:solidFill>
                  <a:srgbClr val="4C4C4C"/>
                </a:solidFill>
                <a:latin typeface="Satoshi" pitchFamily="50" charset="0"/>
                <a:ea typeface="Noto Serif Medium" pitchFamily="34" charset="-122"/>
                <a:cs typeface="Noto Serif Medium" pitchFamily="34" charset="-120"/>
              </a:rPr>
              <a:t>Market Discovery</a:t>
            </a:r>
            <a:endParaRPr lang="en-US" sz="1750" b="1" dirty="0">
              <a:latin typeface="Satoshi" pitchFamily="50" charset="0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9790033" y="5079563"/>
            <a:ext cx="3842266" cy="5224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050"/>
              </a:lnSpc>
              <a:buNone/>
            </a:pPr>
            <a:r>
              <a:rPr lang="en-US" sz="1400" dirty="0">
                <a:solidFill>
                  <a:srgbClr val="4C4C4C"/>
                </a:solidFill>
                <a:latin typeface="Satoshi" pitchFamily="50" charset="0"/>
                <a:ea typeface="Noto Serif" pitchFamily="34" charset="-122"/>
                <a:cs typeface="Noto Serif" pitchFamily="34" charset="-120"/>
              </a:rPr>
              <a:t>Farmer product listing with map integration fully functional</a:t>
            </a:r>
            <a:endParaRPr lang="en-US" sz="1400" dirty="0">
              <a:latin typeface="Satoshi" pitchFamily="50" charset="0"/>
            </a:endParaRPr>
          </a:p>
        </p:txBody>
      </p:sp>
      <p:sp>
        <p:nvSpPr>
          <p:cNvPr id="25" name="Shape 23"/>
          <p:cNvSpPr/>
          <p:nvPr/>
        </p:nvSpPr>
        <p:spPr>
          <a:xfrm>
            <a:off x="793790" y="6223635"/>
            <a:ext cx="13042821" cy="1289685"/>
          </a:xfrm>
          <a:prstGeom prst="roundRect">
            <a:avLst>
              <a:gd name="adj" fmla="val 8508"/>
            </a:avLst>
          </a:prstGeom>
          <a:solidFill>
            <a:srgbClr val="FDFBF7"/>
          </a:solidFill>
          <a:ln/>
          <a:effectLst>
            <a:outerShdw dist="22860" dir="2700000" algn="bl" rotWithShape="0">
              <a:srgbClr val="E6DED2">
                <a:alpha val="10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793790" y="6200775"/>
            <a:ext cx="13042821" cy="91440"/>
          </a:xfrm>
          <a:prstGeom prst="roundRect">
            <a:avLst>
              <a:gd name="adj" fmla="val 83349"/>
            </a:avLst>
          </a:prstGeom>
          <a:solidFill>
            <a:srgbClr val="E6DED2"/>
          </a:solidFill>
          <a:ln/>
        </p:spPr>
      </p:sp>
      <p:sp>
        <p:nvSpPr>
          <p:cNvPr id="27" name="Shape 25"/>
          <p:cNvSpPr/>
          <p:nvPr/>
        </p:nvSpPr>
        <p:spPr>
          <a:xfrm>
            <a:off x="7043023" y="5951458"/>
            <a:ext cx="544354" cy="544354"/>
          </a:xfrm>
          <a:prstGeom prst="roundRect">
            <a:avLst>
              <a:gd name="adj" fmla="val 167979"/>
            </a:avLst>
          </a:prstGeom>
          <a:solidFill>
            <a:srgbClr val="E6DED2">
              <a:alpha val="50000"/>
            </a:srgbClr>
          </a:solidFill>
          <a:ln/>
        </p:spPr>
      </p:sp>
      <p:sp>
        <p:nvSpPr>
          <p:cNvPr id="28" name="Text 26"/>
          <p:cNvSpPr/>
          <p:nvPr/>
        </p:nvSpPr>
        <p:spPr>
          <a:xfrm>
            <a:off x="7206377" y="6087547"/>
            <a:ext cx="217646" cy="2721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450"/>
              </a:lnSpc>
              <a:buNone/>
            </a:pPr>
            <a:r>
              <a:rPr lang="en-US" sz="1700" dirty="0">
                <a:solidFill>
                  <a:srgbClr val="000000"/>
                </a:solidFill>
                <a:latin typeface="Satoshi" pitchFamily="50" charset="0"/>
                <a:ea typeface="Noto Serif Medium" pitchFamily="34" charset="-122"/>
                <a:cs typeface="Noto Serif Medium" pitchFamily="34" charset="-120"/>
              </a:rPr>
              <a:t>4</a:t>
            </a:r>
            <a:endParaRPr lang="en-US" sz="1700" dirty="0">
              <a:latin typeface="Satoshi" pitchFamily="50" charset="0"/>
            </a:endParaRPr>
          </a:p>
        </p:txBody>
      </p:sp>
      <p:sp>
        <p:nvSpPr>
          <p:cNvPr id="29" name="Text 27"/>
          <p:cNvSpPr/>
          <p:nvPr/>
        </p:nvSpPr>
        <p:spPr>
          <a:xfrm>
            <a:off x="6181011" y="6677263"/>
            <a:ext cx="2268260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200"/>
              </a:lnSpc>
              <a:buNone/>
            </a:pPr>
            <a:r>
              <a:rPr lang="en-US" sz="1750" b="1" dirty="0">
                <a:solidFill>
                  <a:srgbClr val="4C4C4C"/>
                </a:solidFill>
                <a:latin typeface="Satoshi" pitchFamily="50" charset="0"/>
                <a:ea typeface="Noto Serif Medium" pitchFamily="34" charset="-122"/>
                <a:cs typeface="Noto Serif Medium" pitchFamily="34" charset="-120"/>
              </a:rPr>
              <a:t>Chatbot structure</a:t>
            </a:r>
            <a:endParaRPr lang="en-US" sz="1750" b="1" dirty="0">
              <a:latin typeface="Satoshi" pitchFamily="50" charset="0"/>
            </a:endParaRPr>
          </a:p>
        </p:txBody>
      </p:sp>
      <p:sp>
        <p:nvSpPr>
          <p:cNvPr id="30" name="Text 28"/>
          <p:cNvSpPr/>
          <p:nvPr/>
        </p:nvSpPr>
        <p:spPr>
          <a:xfrm>
            <a:off x="998101" y="7047786"/>
            <a:ext cx="12634198" cy="2612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050"/>
              </a:lnSpc>
              <a:buNone/>
            </a:pPr>
            <a:r>
              <a:rPr lang="en-US" sz="1400" dirty="0">
                <a:solidFill>
                  <a:srgbClr val="4C4C4C"/>
                </a:solidFill>
                <a:latin typeface="Satoshi" pitchFamily="50" charset="0"/>
                <a:ea typeface="Noto Serif" pitchFamily="34" charset="-122"/>
                <a:cs typeface="Noto Serif" pitchFamily="34" charset="-120"/>
              </a:rPr>
              <a:t>Basic Chatbot structure</a:t>
            </a:r>
            <a:endParaRPr lang="en-US" sz="1400" dirty="0">
              <a:latin typeface="Satoshi" pitchFamily="50" charset="0"/>
            </a:endParaRP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13876321-4D0C-D046-500E-DA1527BB884B}"/>
              </a:ext>
            </a:extLst>
          </p:cNvPr>
          <p:cNvSpPr/>
          <p:nvPr/>
        </p:nvSpPr>
        <p:spPr>
          <a:xfrm>
            <a:off x="12833405" y="7776376"/>
            <a:ext cx="1709531" cy="362903"/>
          </a:xfrm>
          <a:prstGeom prst="rect">
            <a:avLst/>
          </a:prstGeom>
          <a:solidFill>
            <a:srgbClr val="FDFBF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DDA0C675-9062-C573-FAF1-9EA758E8B1F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658450" y="0"/>
            <a:ext cx="1971950" cy="838317"/>
          </a:xfrm>
          <a:prstGeom prst="rect">
            <a:avLst/>
          </a:prstGeom>
        </p:spPr>
      </p:pic>
    </p:spTree>
  </p:cSld>
  <p:clrMapOvr>
    <a:masterClrMapping/>
  </p:clrMapOvr>
  <p:transition spd="slow">
    <p:cover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403</TotalTime>
  <Words>1197</Words>
  <Application>Microsoft Office PowerPoint</Application>
  <PresentationFormat>Custom</PresentationFormat>
  <Paragraphs>206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Satoshi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EC S&amp;H 2I NADA JEEL BHIKHUBHAI</cp:lastModifiedBy>
  <cp:revision>15</cp:revision>
  <dcterms:created xsi:type="dcterms:W3CDTF">2026-03-30T20:54:51Z</dcterms:created>
  <dcterms:modified xsi:type="dcterms:W3CDTF">2026-03-31T16:20:20Z</dcterms:modified>
</cp:coreProperties>
</file>