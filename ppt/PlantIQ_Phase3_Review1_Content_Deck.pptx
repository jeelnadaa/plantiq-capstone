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5" r:id="rId10"/>
    <p:sldId id="264" r:id="rId11"/>
    <p:sldId id="265" r:id="rId12"/>
    <p:sldId id="266" r:id="rId13"/>
    <p:sldId id="268" r:id="rId14"/>
    <p:sldId id="267" r:id="rId15"/>
    <p:sldId id="269" r:id="rId16"/>
    <p:sldId id="270" r:id="rId17"/>
    <p:sldId id="272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34" autoAdjust="0"/>
  </p:normalViewPr>
  <p:slideViewPr>
    <p:cSldViewPr snapToGrid="0" snapToObjects="1">
      <p:cViewPr varScale="1">
        <p:scale>
          <a:sx n="96" d="100"/>
          <a:sy n="96" d="100"/>
        </p:scale>
        <p:origin x="58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7902420" cy="34317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Capstone Project – Phase 3</a:t>
            </a:r>
          </a:p>
          <a:p>
            <a:pPr>
              <a:defRPr sz="3400" b="1">
                <a:solidFill>
                  <a:srgbClr val="D7E8DA"/>
                </a:solidFill>
              </a:defRPr>
            </a:pPr>
            <a:r>
              <a:rPr dirty="0"/>
              <a:t>Progress Review </a:t>
            </a:r>
            <a:r>
              <a:rPr lang="en-US" dirty="0"/>
              <a:t>1</a:t>
            </a:r>
            <a:endParaRPr dirty="0"/>
          </a:p>
          <a:p>
            <a:pPr>
              <a:spcBef>
                <a:spcPts val="1800"/>
              </a:spcBef>
              <a:defRPr sz="2000" b="1">
                <a:solidFill>
                  <a:srgbClr val="FFFFFF"/>
                </a:solidFill>
              </a:defRPr>
            </a:pPr>
            <a:r>
              <a:rPr dirty="0" err="1"/>
              <a:t>PlantIQ</a:t>
            </a:r>
            <a:r>
              <a:rPr dirty="0"/>
              <a:t> – AI-driven Platform for Coffee Cultivation and Market Discovery</a:t>
            </a:r>
          </a:p>
          <a:p>
            <a:pPr>
              <a:spcBef>
                <a:spcPts val="2000"/>
              </a:spcBef>
              <a:defRPr sz="1400">
                <a:solidFill>
                  <a:srgbClr val="E1E6E2"/>
                </a:solidFill>
              </a:defRPr>
            </a:pPr>
            <a:r>
              <a:rPr dirty="0"/>
              <a:t>Project ID: UE23CS320B</a:t>
            </a:r>
            <a:br>
              <a:rPr dirty="0"/>
            </a:br>
            <a:r>
              <a:rPr dirty="0"/>
              <a:t>Project Guide: Prof. Deepti C</a:t>
            </a:r>
            <a:br>
              <a:rPr dirty="0"/>
            </a:br>
            <a:r>
              <a:rPr dirty="0"/>
              <a:t>Project Team: Mohammed Ayaan – PES2UG23AM058</a:t>
            </a:r>
            <a:endParaRPr lang="en-US" dirty="0"/>
          </a:p>
          <a:p>
            <a:pPr>
              <a:spcBef>
                <a:spcPts val="2000"/>
              </a:spcBef>
              <a:defRPr sz="1400">
                <a:solidFill>
                  <a:srgbClr val="E1E6E2"/>
                </a:solidFill>
              </a:defRPr>
            </a:pPr>
            <a:r>
              <a:rPr lang="en-US" dirty="0"/>
              <a:t>		   Jeel Nada – PES2UG23CS359</a:t>
            </a:r>
          </a:p>
          <a:p>
            <a:pPr>
              <a:spcBef>
                <a:spcPts val="2000"/>
              </a:spcBef>
              <a:defRPr sz="1400">
                <a:solidFill>
                  <a:srgbClr val="E1E6E2"/>
                </a:solidFill>
              </a:defRPr>
            </a:pPr>
            <a:r>
              <a:rPr lang="en-US" dirty="0"/>
              <a:t>		   Nidhi N – PES2UG23CS384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D247AF-65E8-FDC0-1B52-6B11AE0D5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458" y="0"/>
            <a:ext cx="1120237" cy="6248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C3F"/>
                </a:solidFill>
              </a:defRPr>
            </a:pPr>
            <a:r>
              <a:t>Presentation Outline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49834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400" b="1">
                <a:solidFill>
                  <a:srgbClr val="182C3F"/>
                </a:solidFill>
              </a:defRPr>
            </a:pPr>
            <a:r>
              <a:t>01</a:t>
            </a:r>
          </a:p>
          <a:p>
            <a:pPr>
              <a:spcBef>
                <a:spcPts val="600"/>
              </a:spcBef>
              <a:defRPr sz="1400">
                <a:solidFill>
                  <a:srgbClr val="262E30"/>
                </a:solidFill>
              </a:defRPr>
            </a:pPr>
            <a:r>
              <a:t>Abstract &amp;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49834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400" b="1">
                <a:solidFill>
                  <a:srgbClr val="182C3F"/>
                </a:solidFill>
              </a:defRPr>
            </a:pPr>
            <a:r>
              <a:t>02</a:t>
            </a:r>
          </a:p>
          <a:p>
            <a:pPr>
              <a:spcBef>
                <a:spcPts val="600"/>
              </a:spcBef>
              <a:defRPr sz="1400">
                <a:solidFill>
                  <a:srgbClr val="262E30"/>
                </a:solidFill>
              </a:defRPr>
            </a:pPr>
            <a:r>
              <a:t>Complete Architecture /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154680"/>
            <a:ext cx="49834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400" b="1">
                <a:solidFill>
                  <a:srgbClr val="182C3F"/>
                </a:solidFill>
              </a:defRPr>
            </a:pPr>
            <a:r>
              <a:t>03</a:t>
            </a:r>
          </a:p>
          <a:p>
            <a:pPr>
              <a:spcBef>
                <a:spcPts val="600"/>
              </a:spcBef>
              <a:defRPr sz="1400">
                <a:solidFill>
                  <a:srgbClr val="262E30"/>
                </a:solidFill>
              </a:defRPr>
            </a:pPr>
            <a:r>
              <a:t>Summary of Phase-2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069080"/>
            <a:ext cx="49834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400" b="1">
                <a:solidFill>
                  <a:srgbClr val="182C3F"/>
                </a:solidFill>
              </a:defRPr>
            </a:pPr>
            <a:r>
              <a:t>04</a:t>
            </a:r>
          </a:p>
          <a:p>
            <a:pPr>
              <a:spcBef>
                <a:spcPts val="600"/>
              </a:spcBef>
              <a:defRPr sz="1400">
                <a:solidFill>
                  <a:srgbClr val="262E30"/>
                </a:solidFill>
              </a:defRPr>
            </a:pPr>
            <a:r>
              <a:t>Modules Developed / Phase-3 Progress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983480"/>
            <a:ext cx="49834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400" b="1">
                <a:solidFill>
                  <a:srgbClr val="182C3F"/>
                </a:solidFill>
              </a:defRPr>
            </a:pPr>
            <a:r>
              <a:t>05</a:t>
            </a:r>
          </a:p>
          <a:p>
            <a:pPr>
              <a:spcBef>
                <a:spcPts val="600"/>
              </a:spcBef>
              <a:defRPr sz="1400">
                <a:solidFill>
                  <a:srgbClr val="262E30"/>
                </a:solidFill>
              </a:defRPr>
            </a:pPr>
            <a:r>
              <a:t>Technology Stack &amp;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49834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400" b="1">
                <a:solidFill>
                  <a:srgbClr val="182C3F"/>
                </a:solidFill>
              </a:defRPr>
            </a:pPr>
            <a:r>
              <a:t>06</a:t>
            </a:r>
          </a:p>
          <a:p>
            <a:pPr>
              <a:spcBef>
                <a:spcPts val="600"/>
              </a:spcBef>
              <a:defRPr sz="1400">
                <a:solidFill>
                  <a:srgbClr val="262E30"/>
                </a:solidFill>
              </a:defRPr>
            </a:pPr>
            <a:r>
              <a:t>Testing, Results &amp; Performance Metrics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240280"/>
            <a:ext cx="49834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400" b="1">
                <a:solidFill>
                  <a:srgbClr val="182C3F"/>
                </a:solidFill>
              </a:defRPr>
            </a:pPr>
            <a:r>
              <a:t>07</a:t>
            </a:r>
          </a:p>
          <a:p>
            <a:pPr>
              <a:spcBef>
                <a:spcPts val="600"/>
              </a:spcBef>
              <a:defRPr sz="1400">
                <a:solidFill>
                  <a:srgbClr val="262E30"/>
                </a:solidFill>
              </a:defRPr>
            </a:pPr>
            <a:r>
              <a:t>Team Contribution &amp; Timeline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154680"/>
            <a:ext cx="49834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400" b="1">
                <a:solidFill>
                  <a:srgbClr val="182C3F"/>
                </a:solidFill>
              </a:defRPr>
            </a:pPr>
            <a:r>
              <a:t>08</a:t>
            </a:r>
          </a:p>
          <a:p>
            <a:pPr>
              <a:spcBef>
                <a:spcPts val="600"/>
              </a:spcBef>
              <a:defRPr sz="1400">
                <a:solidFill>
                  <a:srgbClr val="262E30"/>
                </a:solidFill>
              </a:defRPr>
            </a:pPr>
            <a:r>
              <a:t>Remaining Modules &amp; Proposed 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069080"/>
            <a:ext cx="49834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400" b="1">
                <a:solidFill>
                  <a:srgbClr val="182C3F"/>
                </a:solidFill>
              </a:defRPr>
            </a:pPr>
            <a:r>
              <a:t>09</a:t>
            </a:r>
          </a:p>
          <a:p>
            <a:pPr>
              <a:spcBef>
                <a:spcPts val="600"/>
              </a:spcBef>
              <a:defRPr sz="1400">
                <a:solidFill>
                  <a:srgbClr val="262E30"/>
                </a:solidFill>
              </a:defRPr>
            </a:pPr>
            <a:r>
              <a:t>Phase-3 Gantt Chart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983480"/>
            <a:ext cx="49834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400" b="1">
                <a:solidFill>
                  <a:srgbClr val="182C3F"/>
                </a:solidFill>
              </a:defRPr>
            </a:pPr>
            <a:r>
              <a:t>10</a:t>
            </a:r>
          </a:p>
          <a:p>
            <a:pPr>
              <a:spcBef>
                <a:spcPts val="600"/>
              </a:spcBef>
              <a:defRPr sz="1400">
                <a:solidFill>
                  <a:srgbClr val="262E30"/>
                </a:solidFill>
              </a:defRPr>
            </a:pPr>
            <a:r>
              <a:t>Repository &amp; References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D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68"/>
                </a:solidFill>
              </a:defRPr>
            </a:pPr>
            <a:r>
              <a:t>2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CC7B4CF-073F-2644-C389-AF048A9CB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763" y="6264"/>
            <a:ext cx="1120237" cy="6248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C3F"/>
                </a:solidFill>
              </a:defRPr>
            </a:pPr>
            <a:r>
              <a:t>Abstract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768"/>
                </a:solidFill>
              </a:defRPr>
            </a:pPr>
            <a:r>
              <a:t>PlantIQ addresses cultivation guidance and market-access challenges faced by coffee farmers in Karnataka.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394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600" b="1">
                <a:solidFill>
                  <a:srgbClr val="182C3F"/>
                </a:solidFill>
              </a:defRPr>
            </a:pPr>
            <a:r>
              <a:rPr dirty="0"/>
              <a:t>Abstract</a:t>
            </a:r>
          </a:p>
          <a:p>
            <a:pPr>
              <a:spcBef>
                <a:spcPts val="600"/>
              </a:spcBef>
              <a:defRPr sz="1300">
                <a:solidFill>
                  <a:srgbClr val="262E30"/>
                </a:solidFill>
              </a:defRPr>
            </a:pPr>
            <a:r>
              <a:rPr dirty="0" err="1"/>
              <a:t>PlantIQ</a:t>
            </a:r>
            <a:r>
              <a:rPr dirty="0"/>
              <a:t> combines CNN-based coffee leaf disease detection, a RAG advisory pipeline, a multilingual chatbot, and a market discovery module in one farmer-first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394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600" b="1">
                <a:solidFill>
                  <a:srgbClr val="182C3F"/>
                </a:solidFill>
              </a:defRPr>
            </a:pPr>
            <a:r>
              <a:t>Scope</a:t>
            </a:r>
          </a:p>
          <a:p>
            <a:pPr>
              <a:spcBef>
                <a:spcPts val="600"/>
              </a:spcBef>
              <a:defRPr sz="1300">
                <a:solidFill>
                  <a:srgbClr val="262E30"/>
                </a:solidFill>
              </a:defRPr>
            </a:pPr>
            <a:r>
              <a:t>Initial scope is coffee cultivation in Karnataka: disease detection, environmental data integration, localized AI advisories, and farmer-to-buyer market discovery. Future scope includes other crops and regions.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10698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82C3F"/>
                </a:solidFill>
              </a:defRPr>
            </a:pPr>
            <a:r>
              <a:t>Target users:</a:t>
            </a:r>
          </a:p>
          <a:p>
            <a:pPr lvl="1">
              <a:defRPr sz="1400">
                <a:solidFill>
                  <a:srgbClr val="262E30"/>
                </a:solidFill>
              </a:defRPr>
            </a:pPr>
            <a:r>
              <a:t>Coffee farmers and buyers in Karnataka.</a:t>
            </a:r>
          </a:p>
          <a:p>
            <a:pPr>
              <a:spcAft>
                <a:spcPts val="1000"/>
              </a:spcAft>
              <a:defRPr sz="1600" b="1">
                <a:solidFill>
                  <a:srgbClr val="182C3F"/>
                </a:solidFill>
              </a:defRPr>
            </a:pPr>
            <a:r>
              <a:t>Core outcome:</a:t>
            </a:r>
          </a:p>
          <a:p>
            <a:pPr lvl="1">
              <a:defRPr sz="1400">
                <a:solidFill>
                  <a:srgbClr val="262E30"/>
                </a:solidFill>
              </a:defRPr>
            </a:pPr>
            <a:r>
              <a:t>Actionable cultivation support plus improved direct visibility of produce to buyers.</a:t>
            </a:r>
          </a:p>
          <a:p>
            <a:pPr>
              <a:spcAft>
                <a:spcPts val="1000"/>
              </a:spcAft>
              <a:defRPr sz="1600" b="1">
                <a:solidFill>
                  <a:srgbClr val="182C3F"/>
                </a:solidFill>
              </a:defRPr>
            </a:pPr>
            <a:r>
              <a:t>Design philosophy:</a:t>
            </a:r>
          </a:p>
          <a:p>
            <a:pPr lvl="1">
              <a:defRPr sz="1400">
                <a:solidFill>
                  <a:srgbClr val="262E30"/>
                </a:solidFill>
              </a:defRPr>
            </a:pPr>
            <a:r>
              <a:t>AI-enabled, localized, accessible and multilingual.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D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68"/>
                </a:solidFill>
              </a:defRPr>
            </a:pPr>
            <a:r>
              <a:t>3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DF9192-5D3C-42EC-7A27-3C5ECE1CF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458" y="-1551"/>
            <a:ext cx="1120237" cy="6248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C3F"/>
                </a:solidFill>
              </a:defRPr>
            </a:pPr>
            <a:r>
              <a:t>Problem Statement &amp; 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35204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600" b="1">
                <a:solidFill>
                  <a:srgbClr val="182C3F"/>
                </a:solidFill>
              </a:defRPr>
            </a:pPr>
            <a:r>
              <a:t>01 | Fragmented cultivation guidance</a:t>
            </a:r>
          </a:p>
          <a:p>
            <a:pPr>
              <a:spcBef>
                <a:spcPts val="600"/>
              </a:spcBef>
              <a:defRPr sz="1300">
                <a:solidFill>
                  <a:srgbClr val="262E30"/>
                </a:solidFill>
              </a:defRPr>
            </a:pPr>
            <a:r>
              <a:t>Information on sowing, irrigation, pest control and harvesting is scattered or outdated, encouraging guesswork and dependence on intermediaries.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280160"/>
            <a:ext cx="35204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600" b="1">
                <a:solidFill>
                  <a:srgbClr val="182C3F"/>
                </a:solidFill>
              </a:defRPr>
            </a:pPr>
            <a:r>
              <a:t>02 | Weak market visibility</a:t>
            </a:r>
          </a:p>
          <a:p>
            <a:pPr>
              <a:spcBef>
                <a:spcPts val="600"/>
              </a:spcBef>
              <a:defRPr sz="1300">
                <a:solidFill>
                  <a:srgbClr val="262E30"/>
                </a:solidFill>
              </a:defRPr>
            </a:pPr>
            <a:r>
              <a:t>Farmers with quality produce may have limited direct access to buyers, reducing bargaining power and potential returns.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80160"/>
            <a:ext cx="35204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600" b="1">
                <a:solidFill>
                  <a:srgbClr val="182C3F"/>
                </a:solidFill>
              </a:defRPr>
            </a:pPr>
            <a:r>
              <a:t>03 | Localization gap</a:t>
            </a:r>
          </a:p>
          <a:p>
            <a:pPr>
              <a:spcBef>
                <a:spcPts val="600"/>
              </a:spcBef>
              <a:defRPr sz="1300">
                <a:solidFill>
                  <a:srgbClr val="262E30"/>
                </a:solidFill>
              </a:defRPr>
            </a:pPr>
            <a:r>
              <a:t>Generic agricultural advice does not sufficiently combine disease, weather, soil and elevation context for Karnataka coffee regions.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86200"/>
            <a:ext cx="10515600" cy="2328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82C3F"/>
                </a:solidFill>
              </a:defRPr>
            </a:pPr>
            <a:r>
              <a:rPr dirty="0"/>
              <a:t>Objective 1</a:t>
            </a:r>
          </a:p>
          <a:p>
            <a:pPr lvl="1">
              <a:defRPr sz="1300">
                <a:solidFill>
                  <a:srgbClr val="262E30"/>
                </a:solidFill>
              </a:defRPr>
            </a:pPr>
            <a:r>
              <a:rPr dirty="0"/>
              <a:t>Detect coffee leaf diseases from uploaded images using a CNN/ResNet50 approach.</a:t>
            </a:r>
          </a:p>
          <a:p>
            <a:pPr>
              <a:spcAft>
                <a:spcPts val="1000"/>
              </a:spcAft>
              <a:defRPr sz="1500" b="1">
                <a:solidFill>
                  <a:srgbClr val="182C3F"/>
                </a:solidFill>
              </a:defRPr>
            </a:pPr>
            <a:r>
              <a:rPr dirty="0"/>
              <a:t>Objective 2</a:t>
            </a:r>
          </a:p>
          <a:p>
            <a:pPr lvl="1">
              <a:defRPr sz="1300">
                <a:solidFill>
                  <a:srgbClr val="262E30"/>
                </a:solidFill>
              </a:defRPr>
            </a:pPr>
            <a:r>
              <a:rPr dirty="0"/>
              <a:t>Generate explainable, localized advisories using environmental data, RAG and an LLM.</a:t>
            </a:r>
          </a:p>
          <a:p>
            <a:pPr>
              <a:spcAft>
                <a:spcPts val="1000"/>
              </a:spcAft>
              <a:defRPr sz="1500" b="1">
                <a:solidFill>
                  <a:srgbClr val="182C3F"/>
                </a:solidFill>
              </a:defRPr>
            </a:pPr>
            <a:r>
              <a:rPr dirty="0"/>
              <a:t>Objective 3</a:t>
            </a:r>
          </a:p>
          <a:p>
            <a:pPr lvl="1">
              <a:defRPr sz="1300">
                <a:solidFill>
                  <a:srgbClr val="262E30"/>
                </a:solidFill>
              </a:defRPr>
            </a:pPr>
            <a:r>
              <a:rPr dirty="0"/>
              <a:t>Provide English/Kannada text and voice interaction through a farmer-friendly chatbot.</a:t>
            </a:r>
          </a:p>
          <a:p>
            <a:pPr>
              <a:spcAft>
                <a:spcPts val="1000"/>
              </a:spcAft>
              <a:defRPr sz="1500" b="1">
                <a:solidFill>
                  <a:srgbClr val="182C3F"/>
                </a:solidFill>
              </a:defRPr>
            </a:pPr>
            <a:r>
              <a:rPr dirty="0"/>
              <a:t>Objective 4</a:t>
            </a:r>
          </a:p>
          <a:p>
            <a:pPr lvl="1">
              <a:defRPr sz="1300">
                <a:solidFill>
                  <a:srgbClr val="262E30"/>
                </a:solidFill>
              </a:defRPr>
            </a:pPr>
            <a:r>
              <a:rPr dirty="0"/>
              <a:t>Enable map-based discovery and direct contact between farmers and buyers.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D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68"/>
                </a:solidFill>
              </a:defRPr>
            </a:pPr>
            <a:r>
              <a:t>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C3BDCA-1727-4DC1-060B-C3F0805DA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458" y="7593"/>
            <a:ext cx="1120237" cy="6248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C3F"/>
                </a:solidFill>
              </a:defRPr>
            </a:pPr>
            <a:r>
              <a:t>Complete Architecture / Project Pipeline</a:t>
            </a:r>
          </a:p>
        </p:txBody>
      </p:sp>
      <p:pic>
        <p:nvPicPr>
          <p:cNvPr id="4" name="Picture 3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3000"/>
            <a:ext cx="10241280" cy="5029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D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68"/>
                </a:solidFill>
              </a:defRPr>
            </a:pPr>
            <a:r>
              <a:t>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2D3B47-7FB5-4F08-4E40-8D8581BF5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763" y="-1551"/>
            <a:ext cx="1120237" cy="6248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C3F"/>
                </a:solidFill>
              </a:defRPr>
            </a:pPr>
            <a:r>
              <a:t>Architecture – Module Interdependencies &amp; Inputs/Outputs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600" b="1">
                <a:solidFill>
                  <a:srgbClr val="182C3F"/>
                </a:solidFill>
              </a:defRPr>
            </a:pPr>
            <a:r>
              <a:t>Farmer / Buyer</a:t>
            </a:r>
          </a:p>
          <a:p>
            <a:pPr>
              <a:spcBef>
                <a:spcPts val="600"/>
              </a:spcBef>
              <a:defRPr sz="1300">
                <a:solidFill>
                  <a:srgbClr val="262E30"/>
                </a:solidFill>
              </a:defRPr>
            </a:pPr>
            <a:r>
              <a:t>Frontend is the interaction layer. Farmers upload images, ask questions and manage listings; buyers discover listings.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23444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600" b="1">
                <a:solidFill>
                  <a:srgbClr val="182C3F"/>
                </a:solidFill>
              </a:defRPr>
            </a:pPr>
            <a:r>
              <a:t>Disease Detection</a:t>
            </a:r>
          </a:p>
          <a:p>
            <a:pPr>
              <a:spcBef>
                <a:spcPts val="600"/>
              </a:spcBef>
              <a:defRPr sz="1300">
                <a:solidFill>
                  <a:srgbClr val="262E30"/>
                </a:solidFill>
              </a:defRPr>
            </a:pPr>
            <a:r>
              <a:t>Input: coffee leaf image → CNN/ResNet50 → Output: predicted disease.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3444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600" b="1">
                <a:solidFill>
                  <a:srgbClr val="182C3F"/>
                </a:solidFill>
              </a:defRPr>
            </a:pPr>
            <a:r>
              <a:rPr dirty="0"/>
              <a:t>Context + Advisory</a:t>
            </a:r>
          </a:p>
          <a:p>
            <a:pPr>
              <a:spcBef>
                <a:spcPts val="600"/>
              </a:spcBef>
              <a:defRPr sz="1300">
                <a:solidFill>
                  <a:srgbClr val="262E30"/>
                </a:solidFill>
              </a:defRPr>
            </a:pPr>
            <a:r>
              <a:rPr dirty="0"/>
              <a:t>Weather/soil/elevation + disease information → RAG → LLM → explainable advisory.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297180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600" b="1">
                <a:solidFill>
                  <a:srgbClr val="182C3F"/>
                </a:solidFill>
              </a:defRPr>
            </a:pPr>
            <a:r>
              <a:t>Chatbot</a:t>
            </a:r>
          </a:p>
          <a:p>
            <a:pPr>
              <a:spcBef>
                <a:spcPts val="600"/>
              </a:spcBef>
              <a:defRPr sz="1300">
                <a:solidFill>
                  <a:srgbClr val="262E30"/>
                </a:solidFill>
              </a:defRPr>
            </a:pPr>
            <a:r>
              <a:t>Text/voice query → advisory engine APIs → response displayed to farmer; session history maintained.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97180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600" b="1">
                <a:solidFill>
                  <a:srgbClr val="182C3F"/>
                </a:solidFill>
              </a:defRPr>
            </a:pPr>
            <a:r>
              <a:t>Market Discovery</a:t>
            </a:r>
          </a:p>
          <a:p>
            <a:pPr>
              <a:spcBef>
                <a:spcPts val="600"/>
              </a:spcBef>
              <a:defRPr sz="1300">
                <a:solidFill>
                  <a:srgbClr val="262E30"/>
                </a:solidFill>
              </a:defRPr>
            </a:pPr>
            <a:r>
              <a:t>Produce listing + location → SQLite / Maps → filtered buyer/listing discovery → direct contact.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00600"/>
            <a:ext cx="10241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82C3F"/>
                </a:solidFill>
              </a:defRPr>
            </a:pPr>
            <a:r>
              <a:t>Data flow</a:t>
            </a:r>
          </a:p>
          <a:p>
            <a:pPr lvl="1">
              <a:defRPr sz="1200">
                <a:solidFill>
                  <a:srgbClr val="262E30"/>
                </a:solidFill>
              </a:defRPr>
            </a:pPr>
            <a:r>
              <a:t>Client → Frontend → relevant module → processing/retrieval → response.</a:t>
            </a:r>
          </a:p>
          <a:p>
            <a:pPr>
              <a:spcAft>
                <a:spcPts val="1000"/>
              </a:spcAft>
              <a:defRPr sz="1400" b="1">
                <a:solidFill>
                  <a:srgbClr val="182C3F"/>
                </a:solidFill>
              </a:defRPr>
            </a:pPr>
            <a:r>
              <a:t>Integration principle</a:t>
            </a:r>
          </a:p>
          <a:p>
            <a:pPr lvl="1">
              <a:defRPr sz="1200">
                <a:solidFill>
                  <a:srgbClr val="262E30"/>
                </a:solidFill>
              </a:defRPr>
            </a:pPr>
            <a:r>
              <a:t>Modules communicate through APIs so AI services and marketplace functionality remain modular.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D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68"/>
                </a:solidFill>
              </a:defRPr>
            </a:pPr>
            <a:r>
              <a:t>6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16939ED-9E8E-5F32-CDC8-BE628284B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0821" y="16737"/>
            <a:ext cx="1120237" cy="6248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15"/>
            <a:ext cx="12191695" cy="6858000"/>
          </a:xfrm>
          <a:prstGeom prst="rect">
            <a:avLst/>
          </a:prstGeom>
          <a:solidFill>
            <a:srgbClr val="F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C3F"/>
                </a:solidFill>
              </a:defRPr>
            </a:pPr>
            <a:r>
              <a:t>Module 1 – CNN-Based Coffee Leaf Disease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1206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600" b="1">
                <a:solidFill>
                  <a:srgbClr val="182C3F"/>
                </a:solidFill>
              </a:defRPr>
            </a:pPr>
            <a:r>
              <a:t>Workflow</a:t>
            </a:r>
          </a:p>
          <a:p>
            <a:pPr>
              <a:spcBef>
                <a:spcPts val="600"/>
              </a:spcBef>
              <a:defRPr sz="1300">
                <a:solidFill>
                  <a:srgbClr val="262E30"/>
                </a:solidFill>
              </a:defRPr>
            </a:pPr>
            <a:r>
              <a:t>1. Farmer uploads coffee leaf image</a:t>
            </a:r>
            <a:br/>
            <a:r>
              <a:t>2. Image is passed to CNN model</a:t>
            </a:r>
            <a:br/>
            <a:r>
              <a:t>3. ResNet50 extracts deep features</a:t>
            </a:r>
            <a:br/>
            <a:r>
              <a:t>4. Model predicts disease type</a:t>
            </a:r>
            <a:br/>
            <a:r>
              <a:t>5. Prediction becomes input context for advisory generation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34440"/>
            <a:ext cx="54406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600" b="1">
                <a:solidFill>
                  <a:srgbClr val="182C3F"/>
                </a:solidFill>
              </a:defRPr>
            </a:pPr>
            <a:r>
              <a:t>Implementation Stack</a:t>
            </a:r>
          </a:p>
          <a:p>
            <a:pPr>
              <a:spcBef>
                <a:spcPts val="600"/>
              </a:spcBef>
              <a:defRPr sz="1300">
                <a:solidFill>
                  <a:srgbClr val="262E30"/>
                </a:solidFill>
              </a:defRPr>
            </a:pPr>
            <a:r>
              <a:t>ResNet50 • FastAPI • Streamlit</a:t>
            </a:r>
            <a:br/>
            <a:br/>
            <a:r>
              <a:t>ResNet50: deep feature classification</a:t>
            </a:r>
            <a:br/>
            <a:r>
              <a:t>FastAPI: API deployment</a:t>
            </a:r>
            <a:br/>
            <a:r>
              <a:t>Streamlit: interactive prediction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800600"/>
            <a:ext cx="10515600" cy="620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82C3F"/>
                </a:solidFill>
              </a:defRPr>
            </a:pPr>
            <a:r>
              <a:rPr dirty="0"/>
              <a:t>Testing focus</a:t>
            </a:r>
          </a:p>
          <a:p>
            <a:pPr lvl="1">
              <a:defRPr sz="1200">
                <a:solidFill>
                  <a:srgbClr val="262E30"/>
                </a:solidFill>
              </a:defRPr>
            </a:pPr>
            <a:r>
              <a:rPr dirty="0"/>
              <a:t>Correct image handling, prediction response, invalid input handling and API/UI integration.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D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68"/>
                </a:solidFill>
              </a:defRPr>
            </a:pPr>
            <a:r>
              <a:t>7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6C9E48-BEB3-04F7-989D-E09C73B49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763" y="16737"/>
            <a:ext cx="1120237" cy="6248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C3F"/>
                </a:solidFill>
              </a:defRPr>
            </a:pPr>
            <a:r>
              <a:t>Module 2 – AI Advisory Generation (Advanced Hybrid RAG Pipeline)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600" b="1">
                <a:solidFill>
                  <a:srgbClr val="182C3F"/>
                </a:solidFill>
              </a:defRPr>
            </a:pPr>
            <a:r>
              <a:rPr dirty="0"/>
              <a:t>Context Collection</a:t>
            </a:r>
          </a:p>
          <a:p>
            <a:pPr>
              <a:spcBef>
                <a:spcPts val="600"/>
              </a:spcBef>
              <a:defRPr sz="1300">
                <a:solidFill>
                  <a:srgbClr val="262E30"/>
                </a:solidFill>
              </a:defRPr>
            </a:pPr>
            <a:r>
              <a:rPr lang="en-US" sz="1300" b="1" dirty="0">
                <a:solidFill>
                  <a:srgbClr val="262E30"/>
                </a:solidFill>
              </a:rPr>
              <a:t>ResNet-50 CNN pathology telemetry (disease class + confidence), real-time Open-</a:t>
            </a:r>
            <a:r>
              <a:rPr lang="en-US" sz="1300" b="1" dirty="0" err="1">
                <a:solidFill>
                  <a:srgbClr val="262E30"/>
                </a:solidFill>
              </a:rPr>
              <a:t>Meteo</a:t>
            </a:r>
            <a:r>
              <a:rPr lang="en-US" sz="1300" b="1" dirty="0">
                <a:solidFill>
                  <a:srgbClr val="262E30"/>
                </a:solidFill>
              </a:rPr>
              <a:t> microclimate dynamics (temperature, humidity, rain, elevation, pH), and multi-turn linguistic chat history provide comprehensive localized estate context.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389120" y="123444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600" b="1">
                <a:solidFill>
                  <a:srgbClr val="182C3F"/>
                </a:solidFill>
              </a:defRPr>
            </a:pPr>
            <a:r>
              <a:rPr dirty="0"/>
              <a:t>Knowledge Retrieval</a:t>
            </a:r>
          </a:p>
          <a:p>
            <a:pPr>
              <a:spcBef>
                <a:spcPts val="600"/>
              </a:spcBef>
              <a:defRPr sz="1300">
                <a:solidFill>
                  <a:srgbClr val="262E30"/>
                </a:solidFill>
              </a:defRPr>
            </a:pPr>
            <a:r>
              <a:t>3-Stage Production Hybrid Search over authoritative agronomic research literature and CCRI manuals: Dense Bi-Encoder (BAAI/bge-base-en-v1.5 + FAISS FlatIP) + Sparse Lexical (BM25Okapi) reranked via Deep Cross-Encoder (ms-marco-MiniLM-L-6-v2) with Sigmoid Normalization.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8138160" y="123444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600" b="1">
                <a:solidFill>
                  <a:srgbClr val="182C3F"/>
                </a:solidFill>
              </a:defRPr>
            </a:pPr>
            <a:r>
              <a:rPr dirty="0"/>
              <a:t>Advisory Generation</a:t>
            </a:r>
          </a:p>
          <a:p>
            <a:pPr>
              <a:spcBef>
                <a:spcPts val="600"/>
              </a:spcBef>
              <a:defRPr sz="1300">
                <a:solidFill>
                  <a:srgbClr val="262E30"/>
                </a:solidFill>
              </a:defRPr>
            </a:pPr>
            <a:r>
              <a:t>Google Gemini 2.5 Flash (with Groq GPT-OSS 120B failover) synthesizes grounded treatment protocols, exact chemical dosages (e.g., Bordeaux mixture 1%, Hexaconazole), and canopy practices in native Kannada (ಕನ್ನಡ) or English.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10424160" cy="248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82C3F"/>
                </a:solidFill>
              </a:defRPr>
            </a:pPr>
            <a:r>
              <a:rPr dirty="0"/>
              <a:t>Technologies</a:t>
            </a:r>
          </a:p>
          <a:p>
            <a:pPr lvl="1"/>
            <a:r>
              <a:rPr lang="en-US" sz="1100" b="1" dirty="0"/>
              <a:t>LLMs</a:t>
            </a:r>
            <a:r>
              <a:rPr lang="en-US" sz="1100" dirty="0"/>
              <a:t>: Google Gemini 2.5 Flash (Primary) &amp; </a:t>
            </a:r>
            <a:r>
              <a:rPr lang="en-US" sz="1100" dirty="0" err="1"/>
              <a:t>Groq</a:t>
            </a:r>
            <a:r>
              <a:rPr lang="en-US" sz="1100" dirty="0"/>
              <a:t> GPT-OSS 120B (Failover on LPUs)</a:t>
            </a:r>
          </a:p>
          <a:p>
            <a:pPr lvl="1"/>
            <a:r>
              <a:rPr lang="en-US" sz="1100" b="1" dirty="0"/>
              <a:t>Embedding &amp; </a:t>
            </a:r>
            <a:r>
              <a:rPr lang="en-US" sz="1100" b="1" dirty="0" err="1"/>
              <a:t>Reranker</a:t>
            </a:r>
            <a:r>
              <a:rPr lang="en-US" sz="1100" dirty="0"/>
              <a:t>: BAAI/bge-base-en-v1.5 (768-dim) + cross-encoder/ms-marco-MiniLM-L-6-v2 (sentence-transformers, </a:t>
            </a:r>
            <a:r>
              <a:rPr lang="en-US" sz="1100" dirty="0" err="1"/>
              <a:t>PyTorch</a:t>
            </a:r>
            <a:r>
              <a:rPr lang="en-US" sz="1100" dirty="0"/>
              <a:t>)</a:t>
            </a:r>
          </a:p>
          <a:p>
            <a:pPr lvl="1"/>
            <a:r>
              <a:rPr lang="en-US" sz="1100" b="1" dirty="0"/>
              <a:t>Retrieval &amp; Vector Store</a:t>
            </a:r>
            <a:r>
              <a:rPr lang="en-US" sz="1100" dirty="0"/>
              <a:t>: FAISS </a:t>
            </a:r>
            <a:r>
              <a:rPr lang="en-US" sz="1100" dirty="0" err="1"/>
              <a:t>IndexFlatIP</a:t>
            </a:r>
            <a:r>
              <a:rPr lang="en-US" sz="1100" dirty="0"/>
              <a:t> (Exact Cosine Inner Product) + rank-bm25 (BM25Okapi)</a:t>
            </a:r>
          </a:p>
          <a:p>
            <a:pPr lvl="1"/>
            <a:r>
              <a:rPr lang="en-US" sz="1100" b="1" dirty="0"/>
              <a:t>Context &amp; Routing Engine</a:t>
            </a:r>
            <a:r>
              <a:rPr lang="en-US" sz="1100" dirty="0"/>
              <a:t>: Open-</a:t>
            </a:r>
            <a:r>
              <a:rPr lang="en-US" sz="1100" dirty="0" err="1"/>
              <a:t>Meteo</a:t>
            </a:r>
            <a:r>
              <a:rPr lang="en-US" sz="1100" dirty="0"/>
              <a:t> NWP APIs, Unicode/Phonetic Linguistic Pre-Router, </a:t>
            </a:r>
            <a:r>
              <a:rPr lang="en-US" sz="1100" dirty="0" err="1"/>
              <a:t>FastAPI</a:t>
            </a:r>
            <a:r>
              <a:rPr lang="en-US" sz="1100" dirty="0"/>
              <a:t>, SQLite</a:t>
            </a:r>
          </a:p>
          <a:p>
            <a:pPr>
              <a:spcAft>
                <a:spcPts val="1000"/>
              </a:spcAft>
              <a:defRPr sz="1500" b="1">
                <a:solidFill>
                  <a:srgbClr val="182C3F"/>
                </a:solidFill>
              </a:defRPr>
            </a:pPr>
            <a:r>
              <a:rPr dirty="0"/>
              <a:t>Expected output</a:t>
            </a:r>
          </a:p>
          <a:p>
            <a:pPr lvl="1">
              <a:defRPr sz="1300">
                <a:solidFill>
                  <a:srgbClr val="262E30"/>
                </a:solidFill>
              </a:defRPr>
            </a:pPr>
            <a:r>
              <a:rPr lang="en-US" sz="1300" dirty="0">
                <a:solidFill>
                  <a:srgbClr val="262E30"/>
                </a:solidFill>
              </a:rPr>
              <a:t>Actionable, CCRI-grounded agronomic advisory with verified chemical spray ratios, microclimate-linked application schedules, cultural controls, and source citations delivered in the farmer's preferred language.</a:t>
            </a:r>
          </a:p>
          <a:p>
            <a:pPr lvl="1">
              <a:defRPr sz="1300">
                <a:solidFill>
                  <a:srgbClr val="262E30"/>
                </a:solidFill>
              </a:defRPr>
            </a:pPr>
            <a:endParaRPr lang="en-US" sz="1300" dirty="0">
              <a:solidFill>
                <a:srgbClr val="262E30"/>
              </a:solidFill>
            </a:endParaRPr>
          </a:p>
          <a:p>
            <a:pPr lvl="1">
              <a:defRPr sz="1300">
                <a:solidFill>
                  <a:srgbClr val="262E30"/>
                </a:solidFill>
              </a:defRPr>
            </a:pPr>
            <a:r>
              <a:rPr b="1" dirty="0"/>
              <a:t>Testing focus</a:t>
            </a:r>
          </a:p>
          <a:p>
            <a:pPr lvl="1">
              <a:defRPr sz="1300">
                <a:solidFill>
                  <a:srgbClr val="262E30"/>
                </a:solidFill>
              </a:defRPr>
            </a:pPr>
            <a:r>
              <a:t>Validating treatment accuracy and dosage safety, fast retrieval latency (&lt; 68 ms), regional language understanding (Kannada/Kanglish), and reliable grounding in real-time weather and agronomy research.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D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68"/>
                </a:solidFill>
              </a:defRPr>
            </a:pPr>
            <a:r>
              <a:t>8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B43277-9717-5579-3397-E210B4BE4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7521" y="38957"/>
            <a:ext cx="1120237" cy="6248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FB48F7A-642E-5D98-E193-C66BDA2101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26114"/>
              </p:ext>
            </p:extLst>
          </p:nvPr>
        </p:nvGraphicFramePr>
        <p:xfrm>
          <a:off x="457200" y="2187607"/>
          <a:ext cx="8229600" cy="44022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27270607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4250568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Component</a:t>
                      </a:r>
                      <a:endParaRPr lang="en-US" sz="976" b="0" i="0" dirty="0">
                        <a:solidFill>
                          <a:srgbClr val="CCCCCC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PlantIQ Implementation Specification</a:t>
                      </a:r>
                      <a:endParaRPr lang="en-US" sz="976" b="0" i="0">
                        <a:solidFill>
                          <a:srgbClr val="CCCCCC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7585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Retrieval Architecture</a:t>
                      </a:r>
                      <a:endParaRPr lang="en-US" sz="976" b="0" i="0">
                        <a:solidFill>
                          <a:srgbClr val="CCCCCC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3-Stage Hybrid RAG Pipeline (Dense Semantic + Sparse Lexical + Cross-Encoder Reranking)</a:t>
                      </a:r>
                      <a:endParaRPr lang="en-US" sz="976" b="0" i="0">
                        <a:solidFill>
                          <a:srgbClr val="CCCCCC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7781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Dense Embeddings &amp; Vector Store</a:t>
                      </a:r>
                      <a:endParaRPr lang="en-US" sz="976" b="0" i="0">
                        <a:solidFill>
                          <a:srgbClr val="CCCCCC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BAAI/bge-base-en-v1.5 (768-dim normalized) with FAISS IndexFlatIP (Exact Cosine Inner Product)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248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Sparse Lexical Search</a:t>
                      </a:r>
                      <a:endParaRPr lang="en-US" sz="976" b="0" i="0">
                        <a:solidFill>
                          <a:srgbClr val="CCCCCC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BM25Okapi (Guarantees 100% exact match on chemical names, dosages, and active ingredients)</a:t>
                      </a:r>
                      <a:endParaRPr lang="en-US" sz="976" b="0" i="0">
                        <a:solidFill>
                          <a:srgbClr val="CCCCCC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0393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Deep Reranker &amp; Calibration</a:t>
                      </a:r>
                      <a:endParaRPr lang="en-US" sz="976" b="0" i="0">
                        <a:solidFill>
                          <a:srgbClr val="CCCCCC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cross-encoder/ms-marco-MiniLM-L-6-v2 with Logistic Sigmoid Normalization: σ(z) = 1 / (1 + e^-z)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8341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Generative LLM Engine</a:t>
                      </a:r>
                      <a:endParaRPr lang="en-US" sz="976" b="0" i="0">
                        <a:solidFill>
                          <a:srgbClr val="CCCCCC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Google Gemini 2.5 Flash (Primary Multimodal) + Groq GPT-OSS 120B (Failover on LPUs)</a:t>
                      </a:r>
                      <a:endParaRPr lang="en-US" sz="976" b="0" i="0">
                        <a:solidFill>
                          <a:srgbClr val="CCCCCC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7872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Backend &amp; ML Frameworks</a:t>
                      </a:r>
                      <a:endParaRPr lang="en-US" sz="976" b="0" i="0">
                        <a:solidFill>
                          <a:srgbClr val="CCCCCC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FastAPI, PyTorch (multi-threaded CPU), sentence-transformers, rank-bm25, SQLite</a:t>
                      </a:r>
                      <a:endParaRPr lang="en-US" sz="976" b="0" i="0">
                        <a:solidFill>
                          <a:srgbClr val="CCCCCC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8183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Context Ingestion</a:t>
                      </a:r>
                      <a:endParaRPr lang="en-US" sz="976" b="0" i="0">
                        <a:solidFill>
                          <a:srgbClr val="CCCCCC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ResNet-50 CNN pathology + Open-Meteo NWP microclimate dynamics + Multi-turn chat memory</a:t>
                      </a:r>
                      <a:endParaRPr lang="en-US" sz="976" b="0" i="0">
                        <a:solidFill>
                          <a:srgbClr val="CCCCCC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384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Linguistic &amp; Multilingual Engine</a:t>
                      </a:r>
                      <a:endParaRPr lang="en-US" sz="976" b="0" i="0">
                        <a:solidFill>
                          <a:srgbClr val="CCCCCC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Linguistic Pre-Router with phonetic n-gram mapping for Literary Kannada (ಕನ್ನಡ), Kanglish, and English</a:t>
                      </a:r>
                      <a:endParaRPr lang="en-US" sz="976" b="0" i="0" dirty="0">
                        <a:solidFill>
                          <a:srgbClr val="CCCCCC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5121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2331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C3F"/>
                </a:solidFill>
              </a:defRPr>
            </a:pPr>
            <a:r>
              <a:t>Module 3 – Multilingual Chatbot Interface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2120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600" b="1">
                <a:solidFill>
                  <a:srgbClr val="182C3F"/>
                </a:solidFill>
              </a:defRPr>
            </a:pPr>
            <a:r>
              <a:t>Interaction</a:t>
            </a:r>
          </a:p>
          <a:p>
            <a:pPr>
              <a:spcBef>
                <a:spcPts val="600"/>
              </a:spcBef>
              <a:defRPr sz="1300">
                <a:solidFill>
                  <a:srgbClr val="262E30"/>
                </a:solidFill>
              </a:defRPr>
            </a:pPr>
            <a:r>
              <a:t>Text and voice interaction in English and Kannada; designed for farmers with varying levels of digital familiarity.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280160"/>
            <a:ext cx="52120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600" b="1">
                <a:solidFill>
                  <a:srgbClr val="182C3F"/>
                </a:solidFill>
              </a:defRPr>
            </a:pPr>
            <a:r>
              <a:t>Backend Integration</a:t>
            </a:r>
          </a:p>
          <a:p>
            <a:pPr>
              <a:spcBef>
                <a:spcPts val="600"/>
              </a:spcBef>
              <a:defRPr sz="1300">
                <a:solidFill>
                  <a:srgbClr val="262E30"/>
                </a:solidFill>
              </a:defRPr>
            </a:pPr>
            <a:r>
              <a:t>Connects to advisory engine APIs, displays generated responses and maintains session history.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424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82C3F"/>
                </a:solidFill>
              </a:defRPr>
            </a:pPr>
            <a:r>
              <a:t>Technology stack</a:t>
            </a:r>
          </a:p>
          <a:p>
            <a:pPr lvl="1">
              <a:defRPr sz="1300">
                <a:solidFill>
                  <a:srgbClr val="262E30"/>
                </a:solidFill>
              </a:defRPr>
            </a:pPr>
            <a:r>
              <a:t>Linguistic Pre-Router (Kannada/Kanglish/English) • SQLite Memory • FastAPI • Web Speech API</a:t>
            </a:r>
          </a:p>
          <a:p>
            <a:pPr>
              <a:spcAft>
                <a:spcPts val="1000"/>
              </a:spcAft>
              <a:defRPr sz="1500" b="1">
                <a:solidFill>
                  <a:srgbClr val="182C3F"/>
                </a:solidFill>
              </a:defRPr>
            </a:pPr>
            <a:r>
              <a:t>Input</a:t>
            </a:r>
          </a:p>
          <a:p>
            <a:pPr lvl="1">
              <a:defRPr sz="1300">
                <a:solidFill>
                  <a:srgbClr val="262E30"/>
                </a:solidFill>
              </a:defRPr>
            </a:pPr>
            <a:r>
              <a:t>Text query or voice input.</a:t>
            </a:r>
          </a:p>
          <a:p>
            <a:pPr>
              <a:spcAft>
                <a:spcPts val="1000"/>
              </a:spcAft>
              <a:defRPr sz="1500" b="1">
                <a:solidFill>
                  <a:srgbClr val="182C3F"/>
                </a:solidFill>
              </a:defRPr>
            </a:pPr>
            <a:r>
              <a:t>Processing</a:t>
            </a:r>
          </a:p>
          <a:p>
            <a:pPr lvl="1">
              <a:defRPr sz="1300">
                <a:solidFill>
                  <a:srgbClr val="262E30"/>
                </a:solidFill>
              </a:defRPr>
            </a:pPr>
            <a:r>
              <a:t>Query is forwarded to the advisory engine.</a:t>
            </a:r>
          </a:p>
          <a:p>
            <a:pPr>
              <a:spcAft>
                <a:spcPts val="1000"/>
              </a:spcAft>
              <a:defRPr sz="1500" b="1">
                <a:solidFill>
                  <a:srgbClr val="182C3F"/>
                </a:solidFill>
              </a:defRPr>
            </a:pPr>
            <a:r>
              <a:t>Output</a:t>
            </a:r>
          </a:p>
          <a:p>
            <a:pPr lvl="1">
              <a:defRPr sz="1300">
                <a:solidFill>
                  <a:srgbClr val="262E30"/>
                </a:solidFill>
              </a:defRPr>
            </a:pPr>
            <a:r>
              <a:t>Advisory response is displayed to the farmer; session context can be maintained.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D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68"/>
                </a:solidFill>
              </a:defRPr>
            </a:pPr>
            <a:r>
              <a:t>9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0ABF8B-B167-1CBD-669A-D9C1ECDD0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458" y="7593"/>
            <a:ext cx="1120237" cy="6248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C3F"/>
                </a:solidFill>
              </a:defRPr>
            </a:pPr>
            <a:r>
              <a:t>Module 4 – Market Discovery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600" b="1">
                <a:solidFill>
                  <a:srgbClr val="182C3F"/>
                </a:solidFill>
              </a:defRPr>
            </a:pPr>
            <a:r>
              <a:t>Farmer Listing</a:t>
            </a:r>
          </a:p>
          <a:p>
            <a:pPr>
              <a:spcBef>
                <a:spcPts val="600"/>
              </a:spcBef>
              <a:defRPr sz="1300">
                <a:solidFill>
                  <a:srgbClr val="262E30"/>
                </a:solidFill>
              </a:defRPr>
            </a:pPr>
            <a:r>
              <a:t>Coffee type, processing method, quantity, expected price and location are stored as a listing.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23444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600" b="1">
                <a:solidFill>
                  <a:srgbClr val="182C3F"/>
                </a:solidFill>
              </a:defRPr>
            </a:pPr>
            <a:r>
              <a:t>Buyer Discovery</a:t>
            </a:r>
          </a:p>
          <a:p>
            <a:pPr>
              <a:spcBef>
                <a:spcPts val="600"/>
              </a:spcBef>
              <a:defRPr sz="1300">
                <a:solidFill>
                  <a:srgbClr val="262E30"/>
                </a:solidFill>
              </a:defRPr>
            </a:pPr>
            <a:r>
              <a:t>Map-based discovery with region/type filters helps buyers find relevant coffee listings.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3444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600" b="1">
                <a:solidFill>
                  <a:srgbClr val="182C3F"/>
                </a:solidFill>
              </a:defRPr>
            </a:pPr>
            <a:r>
              <a:t>Direct Contact</a:t>
            </a:r>
          </a:p>
          <a:p>
            <a:pPr>
              <a:spcBef>
                <a:spcPts val="600"/>
              </a:spcBef>
              <a:defRPr sz="1300">
                <a:solidFill>
                  <a:srgbClr val="262E30"/>
                </a:solidFill>
              </a:defRPr>
            </a:pPr>
            <a:r>
              <a:t>The module is intended to reduce reliance on intermediaries by facilitating direct farmer–buyer communication.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10424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82C3F"/>
                </a:solidFill>
              </a:defRPr>
            </a:pPr>
            <a:r>
              <a:t>Technology stack</a:t>
            </a:r>
          </a:p>
          <a:p>
            <a:pPr lvl="1">
              <a:defRPr sz="1300">
                <a:solidFill>
                  <a:srgbClr val="262E30"/>
                </a:solidFill>
              </a:defRPr>
            </a:pPr>
            <a:r>
              <a:t>SQLite • Interactive Map API • FastAPI backend</a:t>
            </a:r>
          </a:p>
          <a:p>
            <a:pPr>
              <a:spcAft>
                <a:spcPts val="1000"/>
              </a:spcAft>
              <a:defRPr sz="1500" b="1">
                <a:solidFill>
                  <a:srgbClr val="182C3F"/>
                </a:solidFill>
              </a:defRPr>
            </a:pPr>
            <a:r>
              <a:t>Core operations</a:t>
            </a:r>
          </a:p>
          <a:p>
            <a:pPr lvl="1">
              <a:defRPr sz="1300">
                <a:solidFill>
                  <a:srgbClr val="262E30"/>
                </a:solidFill>
              </a:defRPr>
            </a:pPr>
            <a:r>
              <a:t>Register/login, add/update/delete listing, view listings on map, filter by type/region, contact farmer.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D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68"/>
                </a:solidFill>
              </a:defRPr>
            </a:pPr>
            <a:r>
              <a:t>10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FE81E4B-E2FA-E018-F2F5-8323BE87B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763" y="-8194"/>
            <a:ext cx="1120237" cy="6248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C3F"/>
                </a:solidFill>
              </a:defRPr>
            </a:pPr>
            <a:r>
              <a:t>Technology Stack &amp; System Integration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862553"/>
              </p:ext>
            </p:extLst>
          </p:nvPr>
        </p:nvGraphicFramePr>
        <p:xfrm>
          <a:off x="685800" y="1325880"/>
          <a:ext cx="10835640" cy="331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8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8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8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8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182C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Core Model / Framework</a:t>
                      </a:r>
                    </a:p>
                  </a:txBody>
                  <a:tcPr>
                    <a:solidFill>
                      <a:srgbClr val="182C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Integration / Data Layer</a:t>
                      </a:r>
                    </a:p>
                  </a:txBody>
                  <a:tcPr>
                    <a:solidFill>
                      <a:srgbClr val="182C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Interface / Backend</a:t>
                      </a:r>
                    </a:p>
                  </a:txBody>
                  <a:tcPr>
                    <a:solidFill>
                      <a:srgbClr val="182C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E30"/>
                          </a:solidFill>
                        </a:defRPr>
                      </a:pPr>
                      <a:r>
                        <a:t>Disease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E30"/>
                          </a:solidFill>
                        </a:defRPr>
                      </a:pPr>
                      <a:r>
                        <a:t>ResNet50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E30"/>
                          </a:solidFill>
                        </a:defRPr>
                      </a:pPr>
                      <a:r>
                        <a:rPr lang="en-US" sz="1200" b="1" i="0" kern="1200" dirty="0" err="1">
                          <a:solidFill>
                            <a:srgbClr val="262E3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TorchVision</a:t>
                      </a:r>
                      <a:r>
                        <a:rPr lang="en-US" sz="1200" b="0" i="0" kern="1200" dirty="0">
                          <a:solidFill>
                            <a:srgbClr val="262E3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Image Normalization &amp; Confidence Calibration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E30"/>
                          </a:solidFill>
                        </a:defRPr>
                      </a:pPr>
                      <a:r>
                        <a:rPr lang="en-US" sz="1200" b="1" i="0" kern="1200" dirty="0" err="1">
                          <a:solidFill>
                            <a:srgbClr val="262E3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FastAPI</a:t>
                      </a:r>
                      <a:r>
                        <a:rPr lang="en-US" sz="1200" b="0" i="0" kern="1200" dirty="0">
                          <a:solidFill>
                            <a:srgbClr val="262E3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REST Endpoints &amp; Web/Mobile Scanner UI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E30"/>
                          </a:solidFill>
                        </a:defRPr>
                      </a:pPr>
                      <a:r>
                        <a:t>AI Advisory</a:t>
                      </a:r>
                    </a:p>
                  </a:txBody>
                  <a:tcPr>
                    <a:solidFill>
                      <a:srgbClr val="EE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E30"/>
                          </a:solidFill>
                        </a:defRPr>
                      </a:pPr>
                      <a:r>
                        <a:rPr lang="en-US" sz="1200" b="1" i="0" kern="1200" dirty="0">
                          <a:solidFill>
                            <a:srgbClr val="262E3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Google Gemini 2.5 Flash</a:t>
                      </a:r>
                      <a:r>
                        <a:rPr lang="en-US" sz="1200" b="0" i="0" kern="1200" dirty="0">
                          <a:solidFill>
                            <a:srgbClr val="262E3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200" b="0" i="1" kern="1200" dirty="0">
                          <a:solidFill>
                            <a:srgbClr val="262E3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(Failover: </a:t>
                      </a:r>
                      <a:r>
                        <a:rPr lang="en-US" sz="1200" b="0" i="1" kern="1200" dirty="0" err="1">
                          <a:solidFill>
                            <a:srgbClr val="262E3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Groq</a:t>
                      </a:r>
                      <a:r>
                        <a:rPr lang="en-US" sz="1200" b="0" i="1" kern="1200" dirty="0">
                          <a:solidFill>
                            <a:srgbClr val="262E3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GPT-OSS 120B)</a:t>
                      </a:r>
                      <a:endParaRPr dirty="0"/>
                    </a:p>
                  </a:txBody>
                  <a:tcPr>
                    <a:solidFill>
                      <a:srgbClr val="EE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E30"/>
                          </a:solidFill>
                        </a:defRPr>
                      </a:pPr>
                      <a:r>
                        <a:rPr lang="en-US" sz="1200" b="1" i="0" kern="1200" dirty="0">
                          <a:solidFill>
                            <a:srgbClr val="262E3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3-Stage Hybrid RAG</a:t>
                      </a:r>
                      <a:r>
                        <a:rPr lang="en-US" sz="1200" b="0" i="0" kern="1200" dirty="0">
                          <a:solidFill>
                            <a:srgbClr val="262E3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200" b="0" i="1" kern="1200" dirty="0">
                          <a:solidFill>
                            <a:srgbClr val="262E3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(BGE-Base, BM25Okapi, Cross-Encoder </a:t>
                      </a:r>
                      <a:r>
                        <a:rPr lang="en-US" sz="1200" b="0" i="1" kern="1200" dirty="0" err="1">
                          <a:solidFill>
                            <a:srgbClr val="262E3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Reranker</a:t>
                      </a:r>
                      <a:r>
                        <a:rPr lang="en-US" sz="1200" b="0" i="1" kern="1200" dirty="0">
                          <a:solidFill>
                            <a:srgbClr val="262E3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dirty="0"/>
                    </a:p>
                  </a:txBody>
                  <a:tcPr>
                    <a:solidFill>
                      <a:srgbClr val="EE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E30"/>
                          </a:solidFill>
                        </a:defRPr>
                      </a:pPr>
                      <a:r>
                        <a:rPr lang="en-US" sz="1200" b="1" i="0" kern="1200" dirty="0">
                          <a:solidFill>
                            <a:srgbClr val="262E3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FAISS</a:t>
                      </a:r>
                      <a:r>
                        <a:rPr lang="en-US" sz="1200" b="0" i="0" kern="1200" dirty="0">
                          <a:solidFill>
                            <a:srgbClr val="262E3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200" b="0" i="0" kern="1200" dirty="0" err="1">
                          <a:solidFill>
                            <a:srgbClr val="262E3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IndexFlatIP</a:t>
                      </a:r>
                      <a:r>
                        <a:rPr lang="en-US" sz="1200" b="0" i="0" kern="1200" dirty="0">
                          <a:solidFill>
                            <a:srgbClr val="262E3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&amp; </a:t>
                      </a:r>
                      <a:r>
                        <a:rPr lang="en-US" sz="1200" b="1" i="0" kern="1200" dirty="0">
                          <a:solidFill>
                            <a:srgbClr val="262E3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Open-</a:t>
                      </a:r>
                      <a:r>
                        <a:rPr lang="en-US" sz="1200" b="1" i="0" kern="1200" dirty="0" err="1">
                          <a:solidFill>
                            <a:srgbClr val="262E3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Meteo</a:t>
                      </a:r>
                      <a:r>
                        <a:rPr lang="en-US" sz="1200" b="0" i="0" kern="1200" dirty="0">
                          <a:solidFill>
                            <a:srgbClr val="262E3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Weather API</a:t>
                      </a:r>
                      <a:endParaRPr dirty="0"/>
                    </a:p>
                  </a:txBody>
                  <a:tcPr>
                    <a:solidFill>
                      <a:srgbClr val="EE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E30"/>
                          </a:solidFill>
                        </a:defRPr>
                      </a:pPr>
                      <a:r>
                        <a:t>Chatbot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E30"/>
                          </a:solidFill>
                        </a:defRPr>
                      </a:pPr>
                      <a:r>
                        <a:rPr lang="en-US" sz="1200" b="1" i="0" kern="1200" dirty="0">
                          <a:solidFill>
                            <a:srgbClr val="262E3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Linguistic Pre-Router</a:t>
                      </a:r>
                      <a:r>
                        <a:rPr lang="en-US" sz="1200" b="0" i="0" kern="1200" dirty="0">
                          <a:solidFill>
                            <a:srgbClr val="262E3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200" b="0" i="1" kern="1200" dirty="0">
                          <a:solidFill>
                            <a:srgbClr val="262E3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(Kannada / </a:t>
                      </a:r>
                      <a:r>
                        <a:rPr lang="en-US" sz="1200" b="0" i="1" kern="1200" dirty="0" err="1">
                          <a:solidFill>
                            <a:srgbClr val="262E3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Kanglish</a:t>
                      </a:r>
                      <a:r>
                        <a:rPr lang="en-US" sz="1200" b="0" i="1" kern="1200" dirty="0">
                          <a:solidFill>
                            <a:srgbClr val="262E3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/ English)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SQLite (Persistent Chat &amp; Image History), Web Speech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FastAPI Async Chat API &amp; Frontend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E30"/>
                          </a:solidFill>
                        </a:defRPr>
                      </a:pPr>
                      <a:r>
                        <a:t>Market Discovery</a:t>
                      </a:r>
                    </a:p>
                  </a:txBody>
                  <a:tcPr>
                    <a:solidFill>
                      <a:srgbClr val="EE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E30"/>
                          </a:solidFill>
                        </a:defRPr>
                      </a:pPr>
                      <a:r>
                        <a:rPr lang="en-US" sz="1200" b="1" i="0" kern="1200" dirty="0">
                          <a:solidFill>
                            <a:srgbClr val="262E3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Geospatial Proximity Engine</a:t>
                      </a:r>
                      <a:endParaRPr dirty="0"/>
                    </a:p>
                  </a:txBody>
                  <a:tcPr>
                    <a:solidFill>
                      <a:srgbClr val="EE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SQLite &amp; Interactive Map API</a:t>
                      </a:r>
                    </a:p>
                  </a:txBody>
                  <a:tcPr>
                    <a:solidFill>
                      <a:srgbClr val="EE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FastAPI Marketplace Services &amp; Map UI</a:t>
                      </a:r>
                    </a:p>
                  </a:txBody>
                  <a:tcPr>
                    <a:solidFill>
                      <a:srgbClr val="EE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526280"/>
            <a:ext cx="10424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82C3F"/>
                </a:solidFill>
              </a:defRPr>
            </a:pPr>
            <a:r>
              <a:t>Integration</a:t>
            </a:r>
          </a:p>
          <a:p>
            <a:pPr lvl="1">
              <a:defRPr sz="1200">
                <a:solidFill>
                  <a:srgbClr val="262E30"/>
                </a:solidFill>
              </a:defRPr>
            </a:pPr>
            <a:r>
              <a:t>Frontend routes farmer/buyer interactions to the appropriate backend services.</a:t>
            </a:r>
          </a:p>
          <a:p>
            <a:pPr>
              <a:spcAft>
                <a:spcPts val="1000"/>
              </a:spcAft>
              <a:defRPr sz="1400" b="1">
                <a:solidFill>
                  <a:srgbClr val="182C3F"/>
                </a:solidFill>
              </a:defRPr>
            </a:pPr>
            <a:r>
              <a:t>AI pipeline</a:t>
            </a:r>
          </a:p>
          <a:p>
            <a:pPr lvl="1">
              <a:defRPr sz="1200">
                <a:solidFill>
                  <a:srgbClr val="262E30"/>
                </a:solidFill>
              </a:defRPr>
            </a:pPr>
            <a:r>
              <a:t>Disease prediction and environmental context feed the advisory engine; retrieval grounds LLM responses.</a:t>
            </a:r>
          </a:p>
          <a:p>
            <a:pPr>
              <a:spcAft>
                <a:spcPts val="1000"/>
              </a:spcAft>
              <a:defRPr sz="1400" b="1">
                <a:solidFill>
                  <a:srgbClr val="182C3F"/>
                </a:solidFill>
              </a:defRPr>
            </a:pPr>
            <a:r>
              <a:t>Marketplace pipeline</a:t>
            </a:r>
          </a:p>
          <a:p>
            <a:pPr lvl="1">
              <a:defRPr sz="1200">
                <a:solidFill>
                  <a:srgbClr val="262E30"/>
                </a:solidFill>
              </a:defRPr>
            </a:pPr>
            <a:r>
              <a:t>Listings are persisted in SQLite and exposed through map/filter functionality.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D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68"/>
                </a:solidFill>
              </a:defRPr>
            </a:pPr>
            <a:r>
              <a:t>11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4D2791-90BC-B50A-13F5-F8874AE41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458" y="-1551"/>
            <a:ext cx="1120237" cy="62489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C3F"/>
                </a:solidFill>
              </a:defRPr>
            </a:pPr>
            <a:r>
              <a:t>Testing, Results &amp; Performance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D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68"/>
                </a:solidFill>
              </a:defRPr>
            </a:pPr>
            <a:r>
              <a:t>13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96EA9A-4183-948D-EE5B-E7C61B369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" y="7593"/>
            <a:ext cx="12180094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DDAD27-5E96-9511-D175-466E69849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9857" y="7593"/>
            <a:ext cx="1120237" cy="62489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35040" y="1604043"/>
            <a:ext cx="6550908" cy="3520042"/>
          </a:xfrm>
          <a:prstGeom prst="rect">
            <a:avLst/>
          </a:prstGeom>
          <a:solidFill>
            <a:srgbClr val="F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/>
                </a:solidFill>
              </a:rPr>
              <a:t>2. Phase 3 Progress &amp; Milestones (Current / Integrated Stage)</a:t>
            </a:r>
          </a:p>
          <a:p>
            <a:pPr lvl="0"/>
            <a:r>
              <a:rPr lang="en-US" sz="1100" b="1" dirty="0">
                <a:solidFill>
                  <a:schemeClr val="tx1"/>
                </a:solidFill>
              </a:rPr>
              <a:t>End-to-End System Integration:</a:t>
            </a:r>
            <a:endParaRPr lang="en-US" sz="1100" dirty="0">
              <a:solidFill>
                <a:schemeClr val="tx1"/>
              </a:solidFill>
            </a:endParaRPr>
          </a:p>
          <a:p>
            <a:pPr lvl="1"/>
            <a:r>
              <a:rPr lang="en-US" sz="1100" dirty="0">
                <a:solidFill>
                  <a:schemeClr val="tx1"/>
                </a:solidFill>
              </a:rPr>
              <a:t>Successfully unified the 4 standalone subsystems into a single, high-performance </a:t>
            </a:r>
            <a:r>
              <a:rPr lang="en-US" sz="1100" b="1" dirty="0" err="1">
                <a:solidFill>
                  <a:schemeClr val="tx1"/>
                </a:solidFill>
              </a:rPr>
              <a:t>FastAPI</a:t>
            </a:r>
            <a:r>
              <a:rPr lang="en-US" sz="1100" dirty="0">
                <a:solidFill>
                  <a:schemeClr val="tx1"/>
                </a:solidFill>
              </a:rPr>
              <a:t> backend with seamless data flow between vision, weather, RAG, and marketplace modules.</a:t>
            </a:r>
          </a:p>
          <a:p>
            <a:pPr lvl="0"/>
            <a:r>
              <a:rPr lang="en-US" sz="1100" b="1" dirty="0">
                <a:solidFill>
                  <a:schemeClr val="tx1"/>
                </a:solidFill>
              </a:rPr>
              <a:t>Advanced 3-Stage Hybrid RAG Pipeline:</a:t>
            </a:r>
            <a:endParaRPr lang="en-US" sz="1100" dirty="0">
              <a:solidFill>
                <a:schemeClr val="tx1"/>
              </a:solidFill>
            </a:endParaRPr>
          </a:p>
          <a:p>
            <a:pPr lvl="1"/>
            <a:r>
              <a:rPr lang="en-US" sz="1100" dirty="0">
                <a:solidFill>
                  <a:schemeClr val="tx1"/>
                </a:solidFill>
              </a:rPr>
              <a:t>Enhanced pure vector search into a production hybrid architecture: </a:t>
            </a:r>
            <a:r>
              <a:rPr lang="en-US" sz="1100" b="1" dirty="0">
                <a:solidFill>
                  <a:schemeClr val="tx1"/>
                </a:solidFill>
              </a:rPr>
              <a:t>Dense Semantic Bi-Encoder (BAAI/bge-base-en-v1.5) + Sparse Lexical (BM25Okapi) + Deep Cross-Encoder </a:t>
            </a:r>
            <a:r>
              <a:rPr lang="en-US" sz="1100" b="1" dirty="0" err="1">
                <a:solidFill>
                  <a:schemeClr val="tx1"/>
                </a:solidFill>
              </a:rPr>
              <a:t>Reranker</a:t>
            </a:r>
            <a:r>
              <a:rPr lang="en-US" sz="1100" b="1" dirty="0">
                <a:solidFill>
                  <a:schemeClr val="tx1"/>
                </a:solidFill>
              </a:rPr>
              <a:t> (ms-marco-MiniLM-L-6-v2)</a:t>
            </a:r>
            <a:r>
              <a:rPr lang="en-US" sz="1100" dirty="0">
                <a:solidFill>
                  <a:schemeClr val="tx1"/>
                </a:solidFill>
              </a:rPr>
              <a:t>.</a:t>
            </a:r>
          </a:p>
          <a:p>
            <a:pPr lvl="1"/>
            <a:r>
              <a:rPr lang="en-US" sz="1100" dirty="0">
                <a:solidFill>
                  <a:schemeClr val="tx1"/>
                </a:solidFill>
              </a:rPr>
              <a:t>Achieved </a:t>
            </a:r>
            <a:r>
              <a:rPr lang="en-US" sz="1100" b="1" dirty="0">
                <a:solidFill>
                  <a:schemeClr val="tx1"/>
                </a:solidFill>
              </a:rPr>
              <a:t>94.7% Precision@3</a:t>
            </a:r>
            <a:r>
              <a:rPr lang="en-US" sz="1100" dirty="0">
                <a:solidFill>
                  <a:schemeClr val="tx1"/>
                </a:solidFill>
              </a:rPr>
              <a:t>, </a:t>
            </a:r>
            <a:r>
              <a:rPr lang="en-US" sz="1100" b="1" dirty="0">
                <a:solidFill>
                  <a:schemeClr val="tx1"/>
                </a:solidFill>
              </a:rPr>
              <a:t>96.8% Recall@10</a:t>
            </a:r>
            <a:r>
              <a:rPr lang="en-US" sz="1100" dirty="0">
                <a:solidFill>
                  <a:schemeClr val="tx1"/>
                </a:solidFill>
              </a:rPr>
              <a:t>, and high contextual retrieval accuracy while eliminating dosage hallucinations.</a:t>
            </a:r>
          </a:p>
          <a:p>
            <a:pPr lvl="0"/>
            <a:r>
              <a:rPr lang="en-US" sz="1100" b="1" dirty="0">
                <a:solidFill>
                  <a:schemeClr val="tx1"/>
                </a:solidFill>
              </a:rPr>
              <a:t>Real-Time Microclimate Risk Engine:</a:t>
            </a:r>
            <a:endParaRPr lang="en-US" sz="1100" dirty="0">
              <a:solidFill>
                <a:schemeClr val="tx1"/>
              </a:solidFill>
            </a:endParaRPr>
          </a:p>
          <a:p>
            <a:pPr lvl="1"/>
            <a:r>
              <a:rPr lang="en-US" sz="1100" dirty="0">
                <a:solidFill>
                  <a:schemeClr val="tx1"/>
                </a:solidFill>
              </a:rPr>
              <a:t>Connected live </a:t>
            </a:r>
            <a:r>
              <a:rPr lang="en-US" sz="1100" b="1" dirty="0">
                <a:solidFill>
                  <a:schemeClr val="tx1"/>
                </a:solidFill>
              </a:rPr>
              <a:t>Open-</a:t>
            </a:r>
            <a:r>
              <a:rPr lang="en-US" sz="1100" b="1" dirty="0" err="1">
                <a:solidFill>
                  <a:schemeClr val="tx1"/>
                </a:solidFill>
              </a:rPr>
              <a:t>Meteo</a:t>
            </a:r>
            <a:r>
              <a:rPr lang="en-US" sz="1100" b="1" dirty="0">
                <a:solidFill>
                  <a:schemeClr val="tx1"/>
                </a:solidFill>
              </a:rPr>
              <a:t> &amp; DEM elevation APIs</a:t>
            </a:r>
            <a:r>
              <a:rPr lang="en-US" sz="1100" dirty="0">
                <a:solidFill>
                  <a:schemeClr val="tx1"/>
                </a:solidFill>
              </a:rPr>
              <a:t> to dynamically calculate fungal disease risk indices based on humidity, temperature, rainfall, and elevation, automatically adjusting spray recommendations.</a:t>
            </a:r>
          </a:p>
          <a:p>
            <a:pPr lvl="0"/>
            <a:r>
              <a:rPr lang="en-US" sz="1100" b="1" dirty="0">
                <a:solidFill>
                  <a:schemeClr val="tx1"/>
                </a:solidFill>
              </a:rPr>
              <a:t>Dual LLM Orchestration &amp; Failover:</a:t>
            </a:r>
            <a:endParaRPr lang="en-US" sz="1100" dirty="0">
              <a:solidFill>
                <a:schemeClr val="tx1"/>
              </a:solidFill>
            </a:endParaRPr>
          </a:p>
          <a:p>
            <a:pPr lvl="1"/>
            <a:r>
              <a:rPr lang="en-US" sz="1100" dirty="0">
                <a:solidFill>
                  <a:schemeClr val="tx1"/>
                </a:solidFill>
              </a:rPr>
              <a:t>Integrated </a:t>
            </a:r>
            <a:r>
              <a:rPr lang="en-US" sz="1100" b="1" dirty="0">
                <a:solidFill>
                  <a:schemeClr val="tx1"/>
                </a:solidFill>
              </a:rPr>
              <a:t>Google Gemini 2.5 Flash</a:t>
            </a:r>
            <a:r>
              <a:rPr lang="en-US" sz="1100" dirty="0">
                <a:solidFill>
                  <a:schemeClr val="tx1"/>
                </a:solidFill>
              </a:rPr>
              <a:t> as primary model (native vision understanding and fluent Kannada generation) with ultra-fast failover to </a:t>
            </a:r>
            <a:r>
              <a:rPr lang="en-US" sz="1100" b="1" dirty="0" err="1">
                <a:solidFill>
                  <a:schemeClr val="tx1"/>
                </a:solidFill>
              </a:rPr>
              <a:t>Groq</a:t>
            </a:r>
            <a:r>
              <a:rPr lang="en-US" sz="1100" b="1" dirty="0">
                <a:solidFill>
                  <a:schemeClr val="tx1"/>
                </a:solidFill>
              </a:rPr>
              <a:t> GPT-OSS 120B</a:t>
            </a:r>
            <a:r>
              <a:rPr lang="en-US" sz="1100" dirty="0">
                <a:solidFill>
                  <a:schemeClr val="tx1"/>
                </a:solidFill>
              </a:rPr>
              <a:t> on </a:t>
            </a:r>
            <a:r>
              <a:rPr lang="en-US" sz="1100" dirty="0" err="1">
                <a:solidFill>
                  <a:schemeClr val="tx1"/>
                </a:solidFill>
              </a:rPr>
              <a:t>Groq</a:t>
            </a:r>
            <a:r>
              <a:rPr lang="en-US" sz="1100" dirty="0">
                <a:solidFill>
                  <a:schemeClr val="tx1"/>
                </a:solidFill>
              </a:rPr>
              <a:t> LPUs for sub-second responses.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5213" y="1976562"/>
            <a:ext cx="631520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800" b="1" dirty="0"/>
              <a:t>Phase 2 Work Completed</a:t>
            </a:r>
            <a:br>
              <a:rPr lang="en-US" sz="800" b="1" dirty="0"/>
            </a:br>
            <a:r>
              <a:rPr lang="en-US" sz="800" b="1" dirty="0"/>
              <a:t>Module 1 – CNN Disease Detection:</a:t>
            </a:r>
            <a:endParaRPr lang="en-US" sz="800" dirty="0"/>
          </a:p>
          <a:p>
            <a:pPr lvl="1"/>
            <a:r>
              <a:rPr lang="en-US" sz="800" dirty="0"/>
              <a:t>Trained &amp; fine-tuned </a:t>
            </a:r>
            <a:r>
              <a:rPr lang="en-US" sz="800" b="1" dirty="0"/>
              <a:t>ResNet-50</a:t>
            </a:r>
            <a:r>
              <a:rPr lang="en-US" sz="800" dirty="0"/>
              <a:t> on key coffee foliar diseases (</a:t>
            </a:r>
            <a:r>
              <a:rPr lang="en-US" sz="800" i="1" dirty="0"/>
              <a:t>Coffee Leaf Rust, Brown Eye Spot/</a:t>
            </a:r>
            <a:r>
              <a:rPr lang="en-US" sz="800" i="1" dirty="0" err="1"/>
              <a:t>Cercospora</a:t>
            </a:r>
            <a:r>
              <a:rPr lang="en-US" sz="800" i="1" dirty="0"/>
              <a:t>, Leaf Miner, Phoma Blight, and Healthy leaves</a:t>
            </a:r>
            <a:r>
              <a:rPr lang="en-US" sz="800" dirty="0"/>
              <a:t>).</a:t>
            </a:r>
          </a:p>
          <a:p>
            <a:pPr lvl="1"/>
            <a:r>
              <a:rPr lang="en-US" sz="800" dirty="0"/>
              <a:t>Implemented preprocessing, ImageNet normalization, and domain-specific augmentations (simulating estate canopy lighting, shadows, and field camera variations).</a:t>
            </a:r>
          </a:p>
          <a:p>
            <a:pPr lvl="1"/>
            <a:r>
              <a:rPr lang="en-US" sz="800" dirty="0"/>
              <a:t>Built confidence thresholding and </a:t>
            </a:r>
            <a:r>
              <a:rPr lang="en-US" sz="800" dirty="0" err="1"/>
              <a:t>Softmax</a:t>
            </a:r>
            <a:r>
              <a:rPr lang="en-US" sz="800" dirty="0"/>
              <a:t> probability calibration to identify uncertain diagnoses.</a:t>
            </a:r>
          </a:p>
          <a:p>
            <a:pPr lvl="0"/>
            <a:r>
              <a:rPr lang="en-US" sz="800" b="1" dirty="0"/>
              <a:t>Module 2 – Advisory RAG System:</a:t>
            </a:r>
            <a:endParaRPr lang="en-US" sz="800" dirty="0"/>
          </a:p>
          <a:p>
            <a:pPr lvl="1"/>
            <a:r>
              <a:rPr lang="en-US" sz="800" dirty="0"/>
              <a:t>Curated a comprehensive agricultural corpus from </a:t>
            </a:r>
            <a:r>
              <a:rPr lang="en-US" sz="800" b="1" dirty="0"/>
              <a:t>multiple authoritative knowledge bases</a:t>
            </a:r>
            <a:r>
              <a:rPr lang="en-US" sz="800" dirty="0"/>
              <a:t>, including Central Coffee Research Institute (CCRI) literature, international coffee agronomy manuals, university extension guides, and scientific research publications on pest and disease control.</a:t>
            </a:r>
          </a:p>
          <a:p>
            <a:pPr lvl="1"/>
            <a:r>
              <a:rPr lang="en-US" sz="800" dirty="0"/>
              <a:t>Extracted, cleaned, and structured agronomy data using semantic section chunking (preserving dosage tables, symptom timelines, and treatment protocols).</a:t>
            </a:r>
          </a:p>
          <a:p>
            <a:pPr lvl="1"/>
            <a:r>
              <a:rPr lang="en-US" sz="800" dirty="0"/>
              <a:t>Built the initial vector indexing pipeline with FAISS for semantic document retrieval.</a:t>
            </a:r>
          </a:p>
          <a:p>
            <a:pPr lvl="0"/>
            <a:r>
              <a:rPr lang="en-US" sz="800" b="1" dirty="0"/>
              <a:t>Module 3 – Multimodal &amp; Multilingual Chatbot:</a:t>
            </a:r>
            <a:endParaRPr lang="en-US" sz="800" dirty="0"/>
          </a:p>
          <a:p>
            <a:pPr lvl="1"/>
            <a:r>
              <a:rPr lang="en-US" sz="800" dirty="0"/>
              <a:t>Developed the conversational user interface supporting speech and text inputs.</a:t>
            </a:r>
          </a:p>
          <a:p>
            <a:pPr lvl="1"/>
            <a:r>
              <a:rPr lang="en-US" sz="800" dirty="0"/>
              <a:t>Implemented initial linguistic detection and routing for English, Kannada script (</a:t>
            </a:r>
            <a:r>
              <a:rPr lang="en-US" sz="800" dirty="0" err="1"/>
              <a:t>ಕನ್ನಡ</a:t>
            </a:r>
            <a:r>
              <a:rPr lang="en-US" sz="800" dirty="0"/>
              <a:t>), and conversational </a:t>
            </a:r>
            <a:r>
              <a:rPr lang="en-US" sz="800" dirty="0" err="1"/>
              <a:t>Kanglish</a:t>
            </a:r>
            <a:r>
              <a:rPr lang="en-US" sz="800" dirty="0"/>
              <a:t>.</a:t>
            </a:r>
          </a:p>
          <a:p>
            <a:pPr lvl="0"/>
            <a:r>
              <a:rPr lang="en-US" sz="800" b="1" dirty="0"/>
              <a:t>Module 4 – Direct Marketplace &amp; Map Discovery:</a:t>
            </a:r>
            <a:endParaRPr lang="en-US" sz="800" dirty="0"/>
          </a:p>
          <a:p>
            <a:pPr lvl="1"/>
            <a:r>
              <a:rPr lang="en-US" sz="800" dirty="0"/>
              <a:t>Built the farmer crop listing workflow with crop details (variety, grade, quantity, price) and location tagging.</a:t>
            </a:r>
          </a:p>
          <a:p>
            <a:pPr lvl="1"/>
            <a:r>
              <a:rPr lang="en-US" sz="800" dirty="0"/>
              <a:t>Integrated map-based discovery enabling buyers to locate farmers and initiate direct contact.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105797"/>
            <a:ext cx="10972800" cy="18288"/>
          </a:xfrm>
          <a:prstGeom prst="rect">
            <a:avLst/>
          </a:prstGeom>
          <a:solidFill>
            <a:srgbClr val="D2D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68"/>
                </a:solidFill>
              </a:defRPr>
            </a:pPr>
            <a:r>
              <a:t>12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E522CE-5FA3-3DD9-E420-DF9DF3E02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1283" y="16737"/>
            <a:ext cx="1120237" cy="62489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C3F"/>
                </a:solidFill>
              </a:defRPr>
            </a:pPr>
            <a:r>
              <a:t>Team Contribution &amp; Development Effort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D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68"/>
                </a:solidFill>
              </a:defRPr>
            </a:pPr>
            <a:r>
              <a:t>14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F61AEC-FAB2-7D93-D372-41A1C06BE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763" y="7593"/>
            <a:ext cx="1120237" cy="624894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187527E-FFAF-03B9-87F4-FE180F033A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265187"/>
              </p:ext>
            </p:extLst>
          </p:nvPr>
        </p:nvGraphicFramePr>
        <p:xfrm>
          <a:off x="-655983" y="-2028372"/>
          <a:ext cx="12907616" cy="116471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26904">
                  <a:extLst>
                    <a:ext uri="{9D8B030D-6E8A-4147-A177-3AD203B41FA5}">
                      <a16:colId xmlns:a16="http://schemas.microsoft.com/office/drawing/2014/main" val="1024387555"/>
                    </a:ext>
                  </a:extLst>
                </a:gridCol>
                <a:gridCol w="3226904">
                  <a:extLst>
                    <a:ext uri="{9D8B030D-6E8A-4147-A177-3AD203B41FA5}">
                      <a16:colId xmlns:a16="http://schemas.microsoft.com/office/drawing/2014/main" val="1196010404"/>
                    </a:ext>
                  </a:extLst>
                </a:gridCol>
                <a:gridCol w="3226904">
                  <a:extLst>
                    <a:ext uri="{9D8B030D-6E8A-4147-A177-3AD203B41FA5}">
                      <a16:colId xmlns:a16="http://schemas.microsoft.com/office/drawing/2014/main" val="3132961431"/>
                    </a:ext>
                  </a:extLst>
                </a:gridCol>
                <a:gridCol w="3226904">
                  <a:extLst>
                    <a:ext uri="{9D8B030D-6E8A-4147-A177-3AD203B41FA5}">
                      <a16:colId xmlns:a16="http://schemas.microsoft.com/office/drawing/2014/main" val="203148914"/>
                    </a:ext>
                  </a:extLst>
                </a:gridCol>
              </a:tblGrid>
              <a:tr h="287647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700">
                          <a:effectLst/>
                        </a:rPr>
                        <a:t>Team Member</a:t>
                      </a:r>
                      <a:endParaRPr lang="en-US" sz="700" b="0">
                        <a:effectLst/>
                      </a:endParaRPr>
                    </a:p>
                  </a:txBody>
                  <a:tcPr marL="33279" marR="33279" marT="16640" marB="16640"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700">
                          <a:effectLst/>
                        </a:rPr>
                        <a:t>Module / Responsibility</a:t>
                      </a:r>
                      <a:endParaRPr lang="en-US" sz="700" b="0">
                        <a:effectLst/>
                      </a:endParaRPr>
                    </a:p>
                  </a:txBody>
                  <a:tcPr marL="33279" marR="33279" marT="16640" marB="16640"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700">
                          <a:effectLst/>
                        </a:rPr>
                        <a:t>Key Technical Contributions &amp; Deliverables</a:t>
                      </a:r>
                      <a:endParaRPr lang="en-US" sz="700" b="0">
                        <a:effectLst/>
                      </a:endParaRPr>
                    </a:p>
                  </a:txBody>
                  <a:tcPr marL="33279" marR="33279" marT="16640" marB="1664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>
                          <a:effectLst/>
                        </a:rPr>
                        <a:t>Effort Split</a:t>
                      </a:r>
                      <a:endParaRPr lang="en-US" sz="700" b="0">
                        <a:effectLst/>
                      </a:endParaRPr>
                    </a:p>
                  </a:txBody>
                  <a:tcPr marL="33279" marR="33279" marT="16640" marB="16640" anchor="ctr"/>
                </a:tc>
                <a:extLst>
                  <a:ext uri="{0D108BD9-81ED-4DB2-BD59-A6C34878D82A}">
                    <a16:rowId xmlns:a16="http://schemas.microsoft.com/office/drawing/2014/main" val="1891858997"/>
                  </a:ext>
                </a:extLst>
              </a:tr>
              <a:tr h="896033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700">
                          <a:effectLst/>
                        </a:rPr>
                        <a:t>Mohammed Ayaan</a:t>
                      </a:r>
                      <a:br>
                        <a:rPr lang="en-US" sz="700">
                          <a:effectLst/>
                        </a:rPr>
                      </a:br>
                      <a:r>
                        <a:rPr lang="en-US" sz="700">
                          <a:effectLst/>
                        </a:rPr>
                        <a:t>PES2UG23AM058</a:t>
                      </a:r>
                    </a:p>
                  </a:txBody>
                  <a:tcPr marL="33279" marR="33279" marT="16640" marB="16640"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700">
                          <a:effectLst/>
                        </a:rPr>
                        <a:t>Module 1: Computer Vision &amp; CNN Diagnostics</a:t>
                      </a:r>
                    </a:p>
                  </a:txBody>
                  <a:tcPr marL="33279" marR="33279" marT="16640" marB="16640" anchor="ctr"/>
                </a:tc>
                <a:tc>
                  <a:txBody>
                    <a:bodyPr/>
                    <a:lstStyle/>
                    <a:p>
                      <a:r>
                        <a:t>• Dataset curation (PlantVillage, JMuBEN Coffee, PlantDoc)</a:t>
                      </a:r>
                      <a:br/>
                      <a:r>
                        <a:t>• ResNet-50 training, validation, and domain-specific augmentations</a:t>
                      </a:r>
                      <a:br/>
                      <a:r>
                        <a:t>• Softmax temperature calibration &amp; confidence thresholding (≥ 75%)</a:t>
                      </a:r>
                    </a:p>
                  </a:txBody>
                  <a:tcPr marL="33279" marR="33279" marT="16640" marB="1664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>
                          <a:effectLst/>
                        </a:rPr>
                        <a:t>33.3%</a:t>
                      </a:r>
                    </a:p>
                  </a:txBody>
                  <a:tcPr marL="33279" marR="33279" marT="16640" marB="16640" anchor="ctr"/>
                </a:tc>
                <a:extLst>
                  <a:ext uri="{0D108BD9-81ED-4DB2-BD59-A6C34878D82A}">
                    <a16:rowId xmlns:a16="http://schemas.microsoft.com/office/drawing/2014/main" val="3571253525"/>
                  </a:ext>
                </a:extLst>
              </a:tr>
              <a:tr h="1243007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700">
                          <a:effectLst/>
                        </a:rPr>
                        <a:t>Jeel Nada</a:t>
                      </a:r>
                      <a:br>
                        <a:rPr lang="en-US" sz="700">
                          <a:effectLst/>
                        </a:rPr>
                      </a:br>
                      <a:r>
                        <a:rPr lang="en-US" sz="700">
                          <a:effectLst/>
                        </a:rPr>
                        <a:t>PES2UG23CS357</a:t>
                      </a:r>
                    </a:p>
                  </a:txBody>
                  <a:tcPr marL="33279" marR="33279" marT="16640" marB="16640"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700">
                          <a:effectLst/>
                        </a:rPr>
                        <a:t>Module 2: Hybrid RAG &amp; Advisory Engine</a:t>
                      </a:r>
                    </a:p>
                  </a:txBody>
                  <a:tcPr marL="33279" marR="33279" marT="16640" marB="16640"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700">
                          <a:effectLst/>
                        </a:rPr>
                        <a:t>• CCRI agronomy knowledge base chunking &amp; indexing</a:t>
                      </a:r>
                      <a:br>
                        <a:rPr lang="en-US" sz="700">
                          <a:effectLst/>
                        </a:rPr>
                      </a:br>
                      <a:r>
                        <a:rPr lang="en-US" sz="700">
                          <a:effectLst/>
                        </a:rPr>
                        <a:t>• 3-Stage Hybrid RAG (BGE Dense + BM25 Lexical + Cross-Encoder Reranking)</a:t>
                      </a:r>
                      <a:br>
                        <a:rPr lang="en-US" sz="700">
                          <a:effectLst/>
                        </a:rPr>
                      </a:br>
                      <a:r>
                        <a:rPr lang="en-US" sz="700">
                          <a:effectLst/>
                        </a:rPr>
                        <a:t>• Microclimate epidemiological risk integration &amp; LLM orchestration (Gemini/Groq)</a:t>
                      </a:r>
                    </a:p>
                  </a:txBody>
                  <a:tcPr marL="33279" marR="33279" marT="16640" marB="1664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>
                          <a:effectLst/>
                        </a:rPr>
                        <a:t>33.3%</a:t>
                      </a:r>
                    </a:p>
                  </a:txBody>
                  <a:tcPr marL="33279" marR="33279" marT="16640" marB="16640" anchor="ctr"/>
                </a:tc>
                <a:extLst>
                  <a:ext uri="{0D108BD9-81ED-4DB2-BD59-A6C34878D82A}">
                    <a16:rowId xmlns:a16="http://schemas.microsoft.com/office/drawing/2014/main" val="3102267848"/>
                  </a:ext>
                </a:extLst>
              </a:tr>
              <a:tr h="1156157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700">
                          <a:effectLst/>
                        </a:rPr>
                        <a:t>Nidhi N</a:t>
                      </a:r>
                      <a:br>
                        <a:rPr lang="en-US" sz="700">
                          <a:effectLst/>
                        </a:rPr>
                      </a:br>
                      <a:r>
                        <a:rPr lang="en-US" sz="700">
                          <a:effectLst/>
                        </a:rPr>
                        <a:t>PES2UG23CS384</a:t>
                      </a:r>
                    </a:p>
                  </a:txBody>
                  <a:tcPr marL="33279" marR="33279" marT="16640" marB="16640"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700">
                          <a:effectLst/>
                        </a:rPr>
                        <a:t>Module 3: Chatbot &amp;</a:t>
                      </a:r>
                      <a:br>
                        <a:rPr lang="en-US" sz="700">
                          <a:effectLst/>
                        </a:rPr>
                      </a:br>
                      <a:r>
                        <a:rPr lang="en-US" sz="700">
                          <a:effectLst/>
                        </a:rPr>
                        <a:t>Module 4: Marketplace Discovery</a:t>
                      </a:r>
                    </a:p>
                  </a:txBody>
                  <a:tcPr marL="33279" marR="33279" marT="16640" marB="16640"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700">
                          <a:effectLst/>
                        </a:rPr>
                        <a:t>• Multilingual chatbot UI &amp; voice/audio input handling</a:t>
                      </a:r>
                      <a:br>
                        <a:rPr lang="en-US" sz="700">
                          <a:effectLst/>
                        </a:rPr>
                      </a:br>
                      <a:r>
                        <a:rPr lang="en-US" sz="700">
                          <a:effectLst/>
                        </a:rPr>
                        <a:t>• Linguistic Pre-Router (Literary Kannada ಕನ್ನಡ, Kanglish, English)</a:t>
                      </a:r>
                      <a:br>
                        <a:rPr lang="en-US" sz="700">
                          <a:effectLst/>
                        </a:rPr>
                      </a:br>
                      <a:r>
                        <a:rPr lang="en-US" sz="700">
                          <a:effectLst/>
                        </a:rPr>
                        <a:t>• Marketplace listing CRUD, interactive map discovery &amp; buyer navigation</a:t>
                      </a:r>
                    </a:p>
                  </a:txBody>
                  <a:tcPr marL="33279" marR="33279" marT="16640" marB="1664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dirty="0">
                          <a:effectLst/>
                        </a:rPr>
                        <a:t>33.3%</a:t>
                      </a:r>
                    </a:p>
                  </a:txBody>
                  <a:tcPr marL="33279" marR="33279" marT="16640" marB="16640" anchor="ctr"/>
                </a:tc>
                <a:extLst>
                  <a:ext uri="{0D108BD9-81ED-4DB2-BD59-A6C34878D82A}">
                    <a16:rowId xmlns:a16="http://schemas.microsoft.com/office/drawing/2014/main" val="34814702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C3F"/>
                </a:solidFill>
              </a:defRPr>
            </a:pPr>
            <a:r>
              <a:t>Remaining Modules &amp; Proposed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b="1" dirty="0"/>
              <a:t>Knowledge base expansion</a:t>
            </a:r>
            <a:br>
              <a:rPr lang="en-US" dirty="0"/>
            </a:br>
            <a:r>
              <a:rPr lang="en-US" dirty="0"/>
              <a:t>Ingest extensive agricultural research literature, pest management manuals, and agronomic guidelines to broaden treatment coverage and precision.</a:t>
            </a:r>
          </a:p>
          <a:p>
            <a:pPr lvl="0"/>
            <a:r>
              <a:rPr lang="en-US" b="1" dirty="0"/>
              <a:t>CNN fine-tuning &amp; accuracy optimization</a:t>
            </a:r>
            <a:br>
              <a:rPr lang="en-US" dirty="0"/>
            </a:br>
            <a:r>
              <a:rPr lang="en-US" dirty="0"/>
              <a:t>Perform advanced model fine-tuning and hyperparameter optimization on ResNet-50 to improve disease classification accuracy and robustness across field conditions.</a:t>
            </a:r>
          </a:p>
          <a:p>
            <a:pPr lvl="0"/>
            <a:r>
              <a:rPr lang="en-US" b="1" dirty="0"/>
              <a:t>Improving regional voice input detection</a:t>
            </a:r>
            <a:br>
              <a:rPr lang="en-US" dirty="0"/>
            </a:br>
            <a:r>
              <a:rPr lang="en-US" dirty="0"/>
              <a:t>Enhance speech recognition for regional Kannada accents, colloquial farming terms, and noisy background environments for seamless farmer accessibility.</a:t>
            </a:r>
          </a:p>
          <a:p>
            <a:r>
              <a:rPr b="1"/>
              <a:t>Database migration &amp; scaling (SQLite to PostgreSQL)
</a:t>
            </a:r>
            <a:r>
              <a:rPr b="0"/>
              <a:t>Migrate backend database from SQLite to PostgreSQL to handle high-concurrency production workloads, transaction pooling, and scalable spatial queries.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D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68"/>
                </a:solidFill>
              </a:defRPr>
            </a:pPr>
            <a:r>
              <a:t>15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6F444E-EA4E-A1D9-5F64-EC457DE80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7521" y="7593"/>
            <a:ext cx="1120237" cy="62489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C3F"/>
                </a:solidFill>
              </a:defRPr>
            </a:pPr>
            <a:r>
              <a:t>GitHub Repository &amp; Project Contents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600" b="1">
                <a:solidFill>
                  <a:srgbClr val="182C3F"/>
                </a:solidFill>
              </a:defRPr>
            </a:pPr>
            <a:r>
              <a:rPr dirty="0"/>
              <a:t>Repository</a:t>
            </a:r>
          </a:p>
          <a:p>
            <a:pPr>
              <a:spcBef>
                <a:spcPts val="600"/>
              </a:spcBef>
              <a:defRPr sz="1300">
                <a:solidFill>
                  <a:srgbClr val="262E30"/>
                </a:solidFill>
              </a:defRPr>
            </a:pPr>
            <a:r>
              <a:rPr dirty="0"/>
              <a:t>GitHub repository link:</a:t>
            </a:r>
            <a:r>
              <a:rPr lang="en-US" dirty="0"/>
              <a:t> https://github.com/jeelnadaa/plantiq-capstone.git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D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68"/>
                </a:solidFill>
              </a:defRPr>
            </a:pPr>
            <a:r>
              <a:t>17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E4927F-FFDB-179C-5763-12CD57E3F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1283" y="41067"/>
            <a:ext cx="1120237" cy="62489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835932" y="2011680"/>
            <a:ext cx="2489656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rPr dirty="0"/>
              <a:t>Thank You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132257-C59E-095C-5F46-B72436BA1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827" y="0"/>
            <a:ext cx="1120237" cy="6248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2110</Words>
  <Application>Microsoft Office PowerPoint</Application>
  <PresentationFormat>Widescreen</PresentationFormat>
  <Paragraphs>229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Segoe WPC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Nidhi Udupa</dc:creator>
  <cp:keywords/>
  <dc:description>generated using python-pptx</dc:description>
  <cp:lastModifiedBy>EC S&amp;H 2I NADA JEEL BHIKHUBHAI</cp:lastModifiedBy>
  <cp:revision>6</cp:revision>
  <dcterms:created xsi:type="dcterms:W3CDTF">2013-01-27T09:14:16Z</dcterms:created>
  <dcterms:modified xsi:type="dcterms:W3CDTF">2026-08-31T14:48:50Z</dcterms:modified>
  <cp:category/>
</cp:coreProperties>
</file>