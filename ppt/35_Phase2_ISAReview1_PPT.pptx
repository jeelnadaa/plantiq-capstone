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80"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8" r:id="rId22"/>
    <p:sldId id="275" r:id="rId23"/>
    <p:sldId id="276" r:id="rId24"/>
    <p:sldId id="279" r:id="rId25"/>
    <p:sldId id="277" r:id="rId26"/>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54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010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hyperlink" Target="https://www.kaggle.com/datasets/noamaanabdulazeem/jmuben-coffee-dataset" TargetMode="External"/><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hyperlink" Target="https://github.com/Jorl17/open-elevation/blob/master/docs/api.md" TargetMode="External"/><Relationship Id="rId4" Type="http://schemas.openxmlformats.org/officeDocument/2006/relationships/hyperlink" Target="https://power.larc.nasa.gov/docs/services/api/temporal/daily/"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2FBE93-9904-AAD0-0B4A-C050A5724768}"/>
              </a:ext>
            </a:extLst>
          </p:cNvPr>
          <p:cNvPicPr>
            <a:picLocks noChangeAspect="1"/>
          </p:cNvPicPr>
          <p:nvPr/>
        </p:nvPicPr>
        <p:blipFill>
          <a:blip r:embed="rId2"/>
          <a:stretch>
            <a:fillRect/>
          </a:stretch>
        </p:blipFill>
        <p:spPr>
          <a:xfrm>
            <a:off x="3505004" y="641171"/>
            <a:ext cx="7620392" cy="6947257"/>
          </a:xfrm>
          <a:prstGeom prst="rect">
            <a:avLst/>
          </a:prstGeom>
        </p:spPr>
      </p:pic>
      <p:sp>
        <p:nvSpPr>
          <p:cNvPr id="4" name="Rectangle 3">
            <a:extLst>
              <a:ext uri="{FF2B5EF4-FFF2-40B4-BE49-F238E27FC236}">
                <a16:creationId xmlns:a16="http://schemas.microsoft.com/office/drawing/2014/main" id="{2D23D197-CC63-1033-CB59-A559BB8168E8}"/>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9712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704975"/>
            <a:ext cx="9399389"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Capstone Project – Phase 2 Review</a:t>
            </a:r>
            <a:endParaRPr lang="en-US" sz="4450" dirty="0"/>
          </a:p>
        </p:txBody>
      </p:sp>
      <p:sp>
        <p:nvSpPr>
          <p:cNvPr id="3" name="Text 1"/>
          <p:cNvSpPr/>
          <p:nvPr/>
        </p:nvSpPr>
        <p:spPr>
          <a:xfrm>
            <a:off x="793790" y="2504480"/>
            <a:ext cx="4066103" cy="354330"/>
          </a:xfrm>
          <a:prstGeom prst="rect">
            <a:avLst/>
          </a:prstGeom>
          <a:noFill/>
          <a:ln/>
        </p:spPr>
        <p:txBody>
          <a:bodyPr wrap="none" lIns="0" tIns="0" rIns="0" bIns="0" rtlCol="0" anchor="t"/>
          <a:lstStyle/>
          <a:p>
            <a:pPr marL="0" indent="0" algn="l">
              <a:lnSpc>
                <a:spcPts val="2750"/>
              </a:lnSpc>
              <a:buNone/>
            </a:pPr>
            <a:r>
              <a:rPr lang="en-US" sz="2200" dirty="0">
                <a:solidFill>
                  <a:srgbClr val="3A3A3A"/>
                </a:solidFill>
                <a:latin typeface="Noto Serif Medium" pitchFamily="34" charset="0"/>
                <a:ea typeface="Noto Serif Medium" pitchFamily="34" charset="-122"/>
                <a:cs typeface="Noto Serif Medium" pitchFamily="34" charset="-120"/>
              </a:rPr>
              <a:t>UE23CS320B – Project Phase 2</a:t>
            </a:r>
            <a:endParaRPr lang="en-US" sz="2200" dirty="0"/>
          </a:p>
        </p:txBody>
      </p:sp>
      <p:sp>
        <p:nvSpPr>
          <p:cNvPr id="4" name="Shape 2"/>
          <p:cNvSpPr/>
          <p:nvPr/>
        </p:nvSpPr>
        <p:spPr>
          <a:xfrm>
            <a:off x="793790" y="3198971"/>
            <a:ext cx="6407944" cy="1730812"/>
          </a:xfrm>
          <a:prstGeom prst="roundRect">
            <a:avLst>
              <a:gd name="adj" fmla="val 8453"/>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5" name="Shape 3"/>
          <p:cNvSpPr/>
          <p:nvPr/>
        </p:nvSpPr>
        <p:spPr>
          <a:xfrm>
            <a:off x="763310" y="3198971"/>
            <a:ext cx="121920" cy="1730812"/>
          </a:xfrm>
          <a:prstGeom prst="roundRect">
            <a:avLst>
              <a:gd name="adj" fmla="val 78139"/>
            </a:avLst>
          </a:prstGeom>
          <a:solidFill>
            <a:srgbClr val="E6DED2"/>
          </a:solidFill>
          <a:ln/>
        </p:spPr>
      </p:sp>
      <p:sp>
        <p:nvSpPr>
          <p:cNvPr id="6" name="Text 4"/>
          <p:cNvSpPr/>
          <p:nvPr/>
        </p:nvSpPr>
        <p:spPr>
          <a:xfrm>
            <a:off x="2625804" y="3456265"/>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Project Title</a:t>
            </a:r>
            <a:endParaRPr lang="en-US" sz="2200" dirty="0"/>
          </a:p>
        </p:txBody>
      </p:sp>
      <p:sp>
        <p:nvSpPr>
          <p:cNvPr id="7" name="Text 5"/>
          <p:cNvSpPr/>
          <p:nvPr/>
        </p:nvSpPr>
        <p:spPr>
          <a:xfrm>
            <a:off x="1142524" y="3946684"/>
            <a:ext cx="5801916" cy="725805"/>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PlantIQ: AI-Driven Coffee Cultivation and Market Platform</a:t>
            </a:r>
            <a:endParaRPr lang="en-US" sz="1750" dirty="0"/>
          </a:p>
        </p:txBody>
      </p:sp>
      <p:sp>
        <p:nvSpPr>
          <p:cNvPr id="8" name="Shape 6"/>
          <p:cNvSpPr/>
          <p:nvPr/>
        </p:nvSpPr>
        <p:spPr>
          <a:xfrm>
            <a:off x="7428548" y="3198971"/>
            <a:ext cx="6408063" cy="1730812"/>
          </a:xfrm>
          <a:prstGeom prst="roundRect">
            <a:avLst>
              <a:gd name="adj" fmla="val 8453"/>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9" name="Shape 7"/>
          <p:cNvSpPr/>
          <p:nvPr/>
        </p:nvSpPr>
        <p:spPr>
          <a:xfrm>
            <a:off x="7398067" y="3198971"/>
            <a:ext cx="121920" cy="1730812"/>
          </a:xfrm>
          <a:prstGeom prst="roundRect">
            <a:avLst>
              <a:gd name="adj" fmla="val 78139"/>
            </a:avLst>
          </a:prstGeom>
          <a:solidFill>
            <a:srgbClr val="E6DED2"/>
          </a:solidFill>
          <a:ln/>
        </p:spPr>
      </p:sp>
      <p:sp>
        <p:nvSpPr>
          <p:cNvPr id="10" name="Text 8"/>
          <p:cNvSpPr/>
          <p:nvPr/>
        </p:nvSpPr>
        <p:spPr>
          <a:xfrm>
            <a:off x="9260681" y="3456265"/>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Project ID</a:t>
            </a:r>
            <a:endParaRPr lang="en-US" sz="2200" dirty="0"/>
          </a:p>
        </p:txBody>
      </p:sp>
      <p:sp>
        <p:nvSpPr>
          <p:cNvPr id="11" name="Text 9"/>
          <p:cNvSpPr/>
          <p:nvPr/>
        </p:nvSpPr>
        <p:spPr>
          <a:xfrm>
            <a:off x="7777282" y="3946684"/>
            <a:ext cx="5802035" cy="362903"/>
          </a:xfrm>
          <a:prstGeom prst="rect">
            <a:avLst/>
          </a:prstGeom>
          <a:noFill/>
          <a:ln/>
        </p:spPr>
        <p:txBody>
          <a:bodyPr wrap="non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35</a:t>
            </a:r>
            <a:endParaRPr lang="en-US" sz="1750" dirty="0"/>
          </a:p>
        </p:txBody>
      </p:sp>
      <p:sp>
        <p:nvSpPr>
          <p:cNvPr id="12" name="Shape 10"/>
          <p:cNvSpPr/>
          <p:nvPr/>
        </p:nvSpPr>
        <p:spPr>
          <a:xfrm>
            <a:off x="793790" y="5156597"/>
            <a:ext cx="6407944" cy="1971959"/>
          </a:xfrm>
          <a:prstGeom prst="roundRect">
            <a:avLst>
              <a:gd name="adj" fmla="val 10695"/>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3" name="Shape 11"/>
          <p:cNvSpPr/>
          <p:nvPr/>
        </p:nvSpPr>
        <p:spPr>
          <a:xfrm>
            <a:off x="762257" y="5156597"/>
            <a:ext cx="121918" cy="1971960"/>
          </a:xfrm>
          <a:prstGeom prst="roundRect">
            <a:avLst>
              <a:gd name="adj" fmla="val 78139"/>
            </a:avLst>
          </a:prstGeom>
          <a:solidFill>
            <a:srgbClr val="E6DED2"/>
          </a:solidFill>
          <a:ln/>
        </p:spPr>
      </p:sp>
      <p:sp>
        <p:nvSpPr>
          <p:cNvPr id="14" name="Text 12"/>
          <p:cNvSpPr/>
          <p:nvPr/>
        </p:nvSpPr>
        <p:spPr>
          <a:xfrm>
            <a:off x="2625804" y="5413891"/>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Project Guide</a:t>
            </a:r>
            <a:endParaRPr lang="en-US" sz="2200" dirty="0"/>
          </a:p>
        </p:txBody>
      </p:sp>
      <p:sp>
        <p:nvSpPr>
          <p:cNvPr id="15" name="Text 13"/>
          <p:cNvSpPr/>
          <p:nvPr/>
        </p:nvSpPr>
        <p:spPr>
          <a:xfrm>
            <a:off x="1142524" y="5904309"/>
            <a:ext cx="5801916" cy="362903"/>
          </a:xfrm>
          <a:prstGeom prst="rect">
            <a:avLst/>
          </a:prstGeom>
          <a:noFill/>
          <a:ln/>
        </p:spPr>
        <p:txBody>
          <a:bodyPr wrap="non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Prof. Deepti C</a:t>
            </a:r>
            <a:endParaRPr lang="en-US" sz="1750" dirty="0"/>
          </a:p>
        </p:txBody>
      </p:sp>
      <p:sp>
        <p:nvSpPr>
          <p:cNvPr id="16" name="Shape 14"/>
          <p:cNvSpPr/>
          <p:nvPr/>
        </p:nvSpPr>
        <p:spPr>
          <a:xfrm>
            <a:off x="7428548" y="5156597"/>
            <a:ext cx="6408063" cy="1971959"/>
          </a:xfrm>
          <a:prstGeom prst="roundRect">
            <a:avLst>
              <a:gd name="adj" fmla="val 10695"/>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7" name="Shape 15"/>
          <p:cNvSpPr/>
          <p:nvPr/>
        </p:nvSpPr>
        <p:spPr>
          <a:xfrm>
            <a:off x="7398067" y="5156597"/>
            <a:ext cx="121918" cy="1971959"/>
          </a:xfrm>
          <a:prstGeom prst="roundRect">
            <a:avLst>
              <a:gd name="adj" fmla="val 78139"/>
            </a:avLst>
          </a:prstGeom>
          <a:solidFill>
            <a:srgbClr val="E6DED2"/>
          </a:solidFill>
          <a:ln/>
        </p:spPr>
      </p:sp>
      <p:sp>
        <p:nvSpPr>
          <p:cNvPr id="18" name="Text 16"/>
          <p:cNvSpPr/>
          <p:nvPr/>
        </p:nvSpPr>
        <p:spPr>
          <a:xfrm>
            <a:off x="9260681" y="5413891"/>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Project Team</a:t>
            </a:r>
            <a:endParaRPr lang="en-US" sz="2200" dirty="0"/>
          </a:p>
        </p:txBody>
      </p:sp>
      <p:sp>
        <p:nvSpPr>
          <p:cNvPr id="19" name="Text 17"/>
          <p:cNvSpPr/>
          <p:nvPr/>
        </p:nvSpPr>
        <p:spPr>
          <a:xfrm>
            <a:off x="7777282" y="5904309"/>
            <a:ext cx="5802035" cy="362903"/>
          </a:xfrm>
          <a:prstGeom prst="rect">
            <a:avLst/>
          </a:prstGeom>
          <a:noFill/>
          <a:ln/>
        </p:spPr>
        <p:txBody>
          <a:bodyPr wrap="non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Jeel Nada – PES2UG23CS357</a:t>
            </a:r>
          </a:p>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Nidhi N – PES2UG23CS384</a:t>
            </a:r>
          </a:p>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Mohammed Ayaan – PES2UG23AM058</a:t>
            </a:r>
          </a:p>
          <a:p>
            <a:pPr marL="0" indent="0" algn="ctr">
              <a:lnSpc>
                <a:spcPts val="2850"/>
              </a:lnSpc>
              <a:buNone/>
            </a:pPr>
            <a:endParaRPr lang="en-US" sz="1750" dirty="0"/>
          </a:p>
        </p:txBody>
      </p:sp>
      <p:sp>
        <p:nvSpPr>
          <p:cNvPr id="20" name="Rectangle 19">
            <a:extLst>
              <a:ext uri="{FF2B5EF4-FFF2-40B4-BE49-F238E27FC236}">
                <a16:creationId xmlns:a16="http://schemas.microsoft.com/office/drawing/2014/main" id="{309B0A46-AA11-7B12-56E3-69D4562DE230}"/>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2"/>
          <p:cNvSpPr/>
          <p:nvPr/>
        </p:nvSpPr>
        <p:spPr>
          <a:xfrm>
            <a:off x="793790" y="236743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Today's Discussion (Agenda)</a:t>
            </a:r>
            <a:endParaRPr lang="en-US" sz="4450" dirty="0"/>
          </a:p>
        </p:txBody>
      </p:sp>
      <p:sp>
        <p:nvSpPr>
          <p:cNvPr id="5" name="Shape 3"/>
          <p:cNvSpPr/>
          <p:nvPr/>
        </p:nvSpPr>
        <p:spPr>
          <a:xfrm>
            <a:off x="793790" y="3416379"/>
            <a:ext cx="6407944" cy="1367909"/>
          </a:xfrm>
          <a:prstGeom prst="roundRect">
            <a:avLst>
              <a:gd name="adj" fmla="val 10695"/>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6" name="Shape 4"/>
          <p:cNvSpPr/>
          <p:nvPr/>
        </p:nvSpPr>
        <p:spPr>
          <a:xfrm>
            <a:off x="763310" y="3416379"/>
            <a:ext cx="121920" cy="1367909"/>
          </a:xfrm>
          <a:prstGeom prst="roundRect">
            <a:avLst>
              <a:gd name="adj" fmla="val 78139"/>
            </a:avLst>
          </a:prstGeom>
          <a:solidFill>
            <a:srgbClr val="E6DED2"/>
          </a:solidFill>
          <a:ln/>
        </p:spPr>
      </p:sp>
      <p:sp>
        <p:nvSpPr>
          <p:cNvPr id="7" name="Text 5"/>
          <p:cNvSpPr/>
          <p:nvPr/>
        </p:nvSpPr>
        <p:spPr>
          <a:xfrm>
            <a:off x="2625804" y="3673673"/>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Foundation</a:t>
            </a:r>
            <a:endParaRPr lang="en-US" sz="2200" dirty="0"/>
          </a:p>
        </p:txBody>
      </p:sp>
      <p:sp>
        <p:nvSpPr>
          <p:cNvPr id="8" name="Text 6"/>
          <p:cNvSpPr/>
          <p:nvPr/>
        </p:nvSpPr>
        <p:spPr>
          <a:xfrm>
            <a:off x="1142524" y="4164092"/>
            <a:ext cx="5801916" cy="362903"/>
          </a:xfrm>
          <a:prstGeom prst="rect">
            <a:avLst/>
          </a:prstGeom>
          <a:noFill/>
          <a:ln/>
        </p:spPr>
        <p:txBody>
          <a:bodyPr wrap="non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Problem statement, abstract, and Phase 1 feedback</a:t>
            </a:r>
            <a:endParaRPr lang="en-US" sz="1750" dirty="0"/>
          </a:p>
        </p:txBody>
      </p:sp>
      <p:sp>
        <p:nvSpPr>
          <p:cNvPr id="9" name="Shape 7"/>
          <p:cNvSpPr/>
          <p:nvPr/>
        </p:nvSpPr>
        <p:spPr>
          <a:xfrm>
            <a:off x="7428548" y="3416379"/>
            <a:ext cx="6408063" cy="1367909"/>
          </a:xfrm>
          <a:prstGeom prst="roundRect">
            <a:avLst>
              <a:gd name="adj" fmla="val 10695"/>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0" name="Shape 8"/>
          <p:cNvSpPr/>
          <p:nvPr/>
        </p:nvSpPr>
        <p:spPr>
          <a:xfrm>
            <a:off x="7398067" y="3416379"/>
            <a:ext cx="121920" cy="1367909"/>
          </a:xfrm>
          <a:prstGeom prst="roundRect">
            <a:avLst>
              <a:gd name="adj" fmla="val 78139"/>
            </a:avLst>
          </a:prstGeom>
          <a:solidFill>
            <a:srgbClr val="E6DED2"/>
          </a:solidFill>
          <a:ln/>
        </p:spPr>
      </p:sp>
      <p:sp>
        <p:nvSpPr>
          <p:cNvPr id="11" name="Text 9"/>
          <p:cNvSpPr/>
          <p:nvPr/>
        </p:nvSpPr>
        <p:spPr>
          <a:xfrm>
            <a:off x="9260681" y="3673673"/>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Requirements</a:t>
            </a:r>
            <a:endParaRPr lang="en-US" sz="2200" dirty="0"/>
          </a:p>
        </p:txBody>
      </p:sp>
      <p:sp>
        <p:nvSpPr>
          <p:cNvPr id="12" name="Text 10"/>
          <p:cNvSpPr/>
          <p:nvPr/>
        </p:nvSpPr>
        <p:spPr>
          <a:xfrm>
            <a:off x="7777282" y="4164092"/>
            <a:ext cx="5802035" cy="362903"/>
          </a:xfrm>
          <a:prstGeom prst="rect">
            <a:avLst/>
          </a:prstGeom>
          <a:noFill/>
          <a:ln/>
        </p:spPr>
        <p:txBody>
          <a:bodyPr wrap="non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Technical specifications and dataset details</a:t>
            </a:r>
            <a:endParaRPr lang="en-US" sz="1750" dirty="0"/>
          </a:p>
        </p:txBody>
      </p:sp>
      <p:sp>
        <p:nvSpPr>
          <p:cNvPr id="13" name="Shape 11"/>
          <p:cNvSpPr/>
          <p:nvPr/>
        </p:nvSpPr>
        <p:spPr>
          <a:xfrm>
            <a:off x="793790" y="5011103"/>
            <a:ext cx="6407944" cy="1367909"/>
          </a:xfrm>
          <a:prstGeom prst="roundRect">
            <a:avLst>
              <a:gd name="adj" fmla="val 10695"/>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4" name="Shape 12"/>
          <p:cNvSpPr/>
          <p:nvPr/>
        </p:nvSpPr>
        <p:spPr>
          <a:xfrm>
            <a:off x="763310" y="5011103"/>
            <a:ext cx="121920" cy="1367909"/>
          </a:xfrm>
          <a:prstGeom prst="roundRect">
            <a:avLst>
              <a:gd name="adj" fmla="val 78139"/>
            </a:avLst>
          </a:prstGeom>
          <a:solidFill>
            <a:srgbClr val="E6DED2"/>
          </a:solidFill>
          <a:ln/>
        </p:spPr>
      </p:sp>
      <p:sp>
        <p:nvSpPr>
          <p:cNvPr id="15" name="Text 13"/>
          <p:cNvSpPr/>
          <p:nvPr/>
        </p:nvSpPr>
        <p:spPr>
          <a:xfrm>
            <a:off x="2625804" y="5268397"/>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Design</a:t>
            </a:r>
            <a:endParaRPr lang="en-US" sz="2200" dirty="0"/>
          </a:p>
        </p:txBody>
      </p:sp>
      <p:sp>
        <p:nvSpPr>
          <p:cNvPr id="16" name="Text 14"/>
          <p:cNvSpPr/>
          <p:nvPr/>
        </p:nvSpPr>
        <p:spPr>
          <a:xfrm>
            <a:off x="1142524" y="5758815"/>
            <a:ext cx="5801916" cy="362903"/>
          </a:xfrm>
          <a:prstGeom prst="rect">
            <a:avLst/>
          </a:prstGeom>
          <a:noFill/>
          <a:ln/>
        </p:spPr>
        <p:txBody>
          <a:bodyPr wrap="non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System architecture and module approach</a:t>
            </a:r>
            <a:endParaRPr lang="en-US" sz="1750" dirty="0"/>
          </a:p>
        </p:txBody>
      </p:sp>
      <p:sp>
        <p:nvSpPr>
          <p:cNvPr id="17" name="Shape 15"/>
          <p:cNvSpPr/>
          <p:nvPr/>
        </p:nvSpPr>
        <p:spPr>
          <a:xfrm>
            <a:off x="7428548" y="5011103"/>
            <a:ext cx="6408063" cy="1367909"/>
          </a:xfrm>
          <a:prstGeom prst="roundRect">
            <a:avLst>
              <a:gd name="adj" fmla="val 10695"/>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8" name="Shape 16"/>
          <p:cNvSpPr/>
          <p:nvPr/>
        </p:nvSpPr>
        <p:spPr>
          <a:xfrm>
            <a:off x="7398067" y="5011103"/>
            <a:ext cx="121920" cy="1367909"/>
          </a:xfrm>
          <a:prstGeom prst="roundRect">
            <a:avLst>
              <a:gd name="adj" fmla="val 78139"/>
            </a:avLst>
          </a:prstGeom>
          <a:solidFill>
            <a:srgbClr val="E6DED2"/>
          </a:solidFill>
          <a:ln/>
        </p:spPr>
      </p:sp>
      <p:sp>
        <p:nvSpPr>
          <p:cNvPr id="19" name="Text 17"/>
          <p:cNvSpPr/>
          <p:nvPr/>
        </p:nvSpPr>
        <p:spPr>
          <a:xfrm>
            <a:off x="9260681" y="5268397"/>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Progress</a:t>
            </a:r>
            <a:endParaRPr lang="en-US" sz="2200" dirty="0"/>
          </a:p>
        </p:txBody>
      </p:sp>
      <p:sp>
        <p:nvSpPr>
          <p:cNvPr id="20" name="Text 18"/>
          <p:cNvSpPr/>
          <p:nvPr/>
        </p:nvSpPr>
        <p:spPr>
          <a:xfrm>
            <a:off x="7777282" y="5758815"/>
            <a:ext cx="5802035" cy="362903"/>
          </a:xfrm>
          <a:prstGeom prst="rect">
            <a:avLst/>
          </a:prstGeom>
          <a:noFill/>
          <a:ln/>
        </p:spPr>
        <p:txBody>
          <a:bodyPr wrap="non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Current milestones and next steps</a:t>
            </a:r>
            <a:endParaRPr lang="en-US" sz="1750" dirty="0"/>
          </a:p>
        </p:txBody>
      </p:sp>
      <p:sp>
        <p:nvSpPr>
          <p:cNvPr id="21" name="Rectangle 20">
            <a:extLst>
              <a:ext uri="{FF2B5EF4-FFF2-40B4-BE49-F238E27FC236}">
                <a16:creationId xmlns:a16="http://schemas.microsoft.com/office/drawing/2014/main" id="{07F00388-5C43-FD96-C087-6015B3A74700}"/>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5" name="Text 2"/>
          <p:cNvSpPr/>
          <p:nvPr/>
        </p:nvSpPr>
        <p:spPr>
          <a:xfrm>
            <a:off x="785098" y="1159550"/>
            <a:ext cx="7271147" cy="700921"/>
          </a:xfrm>
          <a:prstGeom prst="rect">
            <a:avLst/>
          </a:prstGeom>
          <a:noFill/>
          <a:ln/>
        </p:spPr>
        <p:txBody>
          <a:bodyPr wrap="none" lIns="0" tIns="0" rIns="0" bIns="0" rtlCol="0" anchor="t"/>
          <a:lstStyle/>
          <a:p>
            <a:pPr marL="0" indent="0" algn="l">
              <a:lnSpc>
                <a:spcPts val="5500"/>
              </a:lnSpc>
              <a:buNone/>
            </a:pPr>
            <a:r>
              <a:rPr lang="en-US" sz="4400" dirty="0">
                <a:solidFill>
                  <a:srgbClr val="3A3A3A"/>
                </a:solidFill>
                <a:latin typeface="Noto Serif Medium" pitchFamily="34" charset="0"/>
                <a:ea typeface="Noto Serif Medium" pitchFamily="34" charset="-122"/>
                <a:cs typeface="Noto Serif Medium" pitchFamily="34" charset="-120"/>
              </a:rPr>
              <a:t>The Problem Farmers Face</a:t>
            </a:r>
            <a:endParaRPr lang="en-US" sz="4400" dirty="0"/>
          </a:p>
        </p:txBody>
      </p:sp>
      <p:sp>
        <p:nvSpPr>
          <p:cNvPr id="6" name="Shape 3"/>
          <p:cNvSpPr/>
          <p:nvPr/>
        </p:nvSpPr>
        <p:spPr>
          <a:xfrm>
            <a:off x="785098" y="2193250"/>
            <a:ext cx="6419136" cy="3490913"/>
          </a:xfrm>
          <a:prstGeom prst="roundRect">
            <a:avLst>
              <a:gd name="adj" fmla="val 4191"/>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7" name="Shape 4"/>
          <p:cNvSpPr/>
          <p:nvPr/>
        </p:nvSpPr>
        <p:spPr>
          <a:xfrm>
            <a:off x="754618" y="2193250"/>
            <a:ext cx="121920" cy="3490913"/>
          </a:xfrm>
          <a:prstGeom prst="roundRect">
            <a:avLst>
              <a:gd name="adj" fmla="val 77281"/>
            </a:avLst>
          </a:prstGeom>
          <a:solidFill>
            <a:srgbClr val="E6DED2"/>
          </a:solidFill>
          <a:ln/>
        </p:spPr>
      </p:sp>
      <p:sp>
        <p:nvSpPr>
          <p:cNvPr id="8" name="Text 5"/>
          <p:cNvSpPr/>
          <p:nvPr/>
        </p:nvSpPr>
        <p:spPr>
          <a:xfrm>
            <a:off x="1817608" y="2448044"/>
            <a:ext cx="4445437" cy="350401"/>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Scattered Cultivation Knowledge</a:t>
            </a:r>
            <a:endParaRPr lang="en-US" sz="2200" dirty="0"/>
          </a:p>
        </p:txBody>
      </p:sp>
      <p:sp>
        <p:nvSpPr>
          <p:cNvPr id="9" name="Text 6"/>
          <p:cNvSpPr/>
          <p:nvPr/>
        </p:nvSpPr>
        <p:spPr>
          <a:xfrm>
            <a:off x="1131332" y="2931557"/>
            <a:ext cx="5818108" cy="2497812"/>
          </a:xfrm>
          <a:prstGeom prst="rect">
            <a:avLst/>
          </a:prstGeom>
          <a:noFill/>
          <a:ln/>
        </p:spPr>
        <p:txBody>
          <a:bodyPr wrap="square" lIns="0" tIns="0" rIns="0" bIns="0" rtlCol="0" anchor="t"/>
          <a:lstStyle/>
          <a:p>
            <a:pPr marL="0" indent="0" algn="ctr">
              <a:lnSpc>
                <a:spcPts val="2800"/>
              </a:lnSpc>
              <a:buNone/>
            </a:pPr>
            <a:r>
              <a:rPr lang="en-US" sz="1750" dirty="0">
                <a:solidFill>
                  <a:srgbClr val="4C4C4C"/>
                </a:solidFill>
                <a:latin typeface="Noto Serif" pitchFamily="34" charset="0"/>
                <a:ea typeface="Noto Serif" pitchFamily="34" charset="-122"/>
                <a:cs typeface="Noto Serif" pitchFamily="34" charset="-120"/>
              </a:rPr>
              <a:t>Reliable information about sowing methods, irrigation schedules, pest control, and harvesting techniques is spread across multiple sources. Content is often outdated or not localized for Karnataka's unique crops and climate conditions. Farmers rely on guesswork or depend on costly intermediaries for advice.</a:t>
            </a:r>
            <a:endParaRPr lang="en-US" sz="1750" dirty="0"/>
          </a:p>
        </p:txBody>
      </p:sp>
      <p:sp>
        <p:nvSpPr>
          <p:cNvPr id="10" name="Shape 7"/>
          <p:cNvSpPr/>
          <p:nvPr/>
        </p:nvSpPr>
        <p:spPr>
          <a:xfrm>
            <a:off x="7426047" y="2193250"/>
            <a:ext cx="6419255" cy="3490913"/>
          </a:xfrm>
          <a:prstGeom prst="roundRect">
            <a:avLst>
              <a:gd name="adj" fmla="val 4191"/>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1" name="Shape 8"/>
          <p:cNvSpPr/>
          <p:nvPr/>
        </p:nvSpPr>
        <p:spPr>
          <a:xfrm>
            <a:off x="7395567" y="2193250"/>
            <a:ext cx="121920" cy="3490913"/>
          </a:xfrm>
          <a:prstGeom prst="roundRect">
            <a:avLst>
              <a:gd name="adj" fmla="val 77281"/>
            </a:avLst>
          </a:prstGeom>
          <a:solidFill>
            <a:srgbClr val="E6DED2"/>
          </a:solidFill>
          <a:ln/>
        </p:spPr>
      </p:sp>
      <p:sp>
        <p:nvSpPr>
          <p:cNvPr id="12" name="Text 9"/>
          <p:cNvSpPr/>
          <p:nvPr/>
        </p:nvSpPr>
        <p:spPr>
          <a:xfrm>
            <a:off x="8980646" y="2448044"/>
            <a:ext cx="3401497" cy="350401"/>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Limited Market Visibility</a:t>
            </a:r>
            <a:endParaRPr lang="en-US" sz="2200" dirty="0"/>
          </a:p>
        </p:txBody>
      </p:sp>
      <p:sp>
        <p:nvSpPr>
          <p:cNvPr id="13" name="Text 10"/>
          <p:cNvSpPr/>
          <p:nvPr/>
        </p:nvSpPr>
        <p:spPr>
          <a:xfrm>
            <a:off x="7772281" y="2931557"/>
            <a:ext cx="5818227" cy="1784152"/>
          </a:xfrm>
          <a:prstGeom prst="rect">
            <a:avLst/>
          </a:prstGeom>
          <a:noFill/>
          <a:ln/>
        </p:spPr>
        <p:txBody>
          <a:bodyPr wrap="square" lIns="0" tIns="0" rIns="0" bIns="0" rtlCol="0" anchor="t"/>
          <a:lstStyle/>
          <a:p>
            <a:pPr marL="0" indent="0" algn="ctr">
              <a:lnSpc>
                <a:spcPts val="2800"/>
              </a:lnSpc>
              <a:buNone/>
            </a:pPr>
            <a:r>
              <a:rPr lang="en-US" sz="1750" dirty="0">
                <a:solidFill>
                  <a:srgbClr val="4C4C4C"/>
                </a:solidFill>
                <a:latin typeface="Noto Serif" pitchFamily="34" charset="0"/>
                <a:ea typeface="Noto Serif" pitchFamily="34" charset="-122"/>
                <a:cs typeface="Noto Serif" pitchFamily="34" charset="-120"/>
              </a:rPr>
              <a:t>Even after producing quality crops, farmers struggle to make their produce visible to buyers. They typically depend on middlemen, which significantly reduces their profits and bargaining power. Direct buyer connections remain difficult to establish.</a:t>
            </a:r>
            <a:endParaRPr lang="en-US" sz="1750" dirty="0"/>
          </a:p>
        </p:txBody>
      </p:sp>
      <p:sp>
        <p:nvSpPr>
          <p:cNvPr id="14" name="Shape 11"/>
          <p:cNvSpPr/>
          <p:nvPr/>
        </p:nvSpPr>
        <p:spPr>
          <a:xfrm>
            <a:off x="785098" y="5933718"/>
            <a:ext cx="13060204" cy="1660208"/>
          </a:xfrm>
          <a:prstGeom prst="roundRect">
            <a:avLst>
              <a:gd name="adj" fmla="val 5675"/>
            </a:avLst>
          </a:prstGeom>
          <a:solidFill>
            <a:srgbClr val="DDDAD4"/>
          </a:solidFill>
          <a:ln/>
        </p:spPr>
      </p:sp>
      <p:pic>
        <p:nvPicPr>
          <p:cNvPr id="15" name="Image 1" descr="preencoded.png"/>
          <p:cNvPicPr>
            <a:picLocks noChangeAspect="1"/>
          </p:cNvPicPr>
          <p:nvPr/>
        </p:nvPicPr>
        <p:blipFill>
          <a:blip r:embed="rId3"/>
          <a:stretch>
            <a:fillRect/>
          </a:stretch>
        </p:blipFill>
        <p:spPr>
          <a:xfrm>
            <a:off x="1009412" y="6276856"/>
            <a:ext cx="280392" cy="224314"/>
          </a:xfrm>
          <a:prstGeom prst="rect">
            <a:avLst/>
          </a:prstGeom>
        </p:spPr>
      </p:pic>
      <p:sp>
        <p:nvSpPr>
          <p:cNvPr id="16" name="Text 12"/>
          <p:cNvSpPr/>
          <p:nvPr/>
        </p:nvSpPr>
        <p:spPr>
          <a:xfrm>
            <a:off x="1514118" y="6211610"/>
            <a:ext cx="12106870" cy="1070491"/>
          </a:xfrm>
          <a:prstGeom prst="rect">
            <a:avLst/>
          </a:prstGeom>
          <a:noFill/>
          <a:ln/>
        </p:spPr>
        <p:txBody>
          <a:bodyPr wrap="square" lIns="0" tIns="0" rIns="0" bIns="0" rtlCol="0" anchor="t"/>
          <a:lstStyle/>
          <a:p>
            <a:pPr marL="0" indent="0" algn="l">
              <a:lnSpc>
                <a:spcPts val="2800"/>
              </a:lnSpc>
              <a:buNone/>
            </a:pPr>
            <a:r>
              <a:rPr lang="en-US" sz="1750" b="1" dirty="0">
                <a:solidFill>
                  <a:srgbClr val="000000"/>
                </a:solidFill>
                <a:latin typeface="Noto Serif" pitchFamily="34" charset="0"/>
                <a:ea typeface="Noto Serif" pitchFamily="34" charset="-122"/>
                <a:cs typeface="Noto Serif" pitchFamily="34" charset="-120"/>
              </a:rPr>
              <a:t>The Gap:</a:t>
            </a:r>
            <a:r>
              <a:rPr lang="en-US" sz="1750" dirty="0">
                <a:solidFill>
                  <a:srgbClr val="000000"/>
                </a:solidFill>
                <a:latin typeface="Noto Serif" pitchFamily="34" charset="0"/>
                <a:ea typeface="Noto Serif" pitchFamily="34" charset="-122"/>
                <a:cs typeface="Noto Serif" pitchFamily="34" charset="-120"/>
              </a:rPr>
              <a:t> Farmers lack a unified, localized, and accessible platform that supports both cultivation decisions and direct crop visibility to buyers. </a:t>
            </a:r>
            <a:r>
              <a:rPr lang="en-US" sz="1750" b="1" dirty="0">
                <a:solidFill>
                  <a:srgbClr val="000000"/>
                </a:solidFill>
                <a:latin typeface="Noto Serif" pitchFamily="34" charset="0"/>
                <a:ea typeface="Noto Serif" pitchFamily="34" charset="-122"/>
                <a:cs typeface="Noto Serif" pitchFamily="34" charset="-120"/>
              </a:rPr>
              <a:t>PlantIQ</a:t>
            </a:r>
            <a:r>
              <a:rPr lang="en-US" sz="1750" dirty="0">
                <a:solidFill>
                  <a:srgbClr val="000000"/>
                </a:solidFill>
                <a:latin typeface="Noto Serif" pitchFamily="34" charset="0"/>
                <a:ea typeface="Noto Serif" pitchFamily="34" charset="-122"/>
                <a:cs typeface="Noto Serif" pitchFamily="34" charset="-120"/>
              </a:rPr>
              <a:t> is our solution an AI-driven platform designed to address both challenges in a farmer-first way.</a:t>
            </a:r>
            <a:endParaRPr lang="en-US" sz="1750" dirty="0"/>
          </a:p>
        </p:txBody>
      </p:sp>
      <p:sp>
        <p:nvSpPr>
          <p:cNvPr id="17" name="Rectangle 16">
            <a:extLst>
              <a:ext uri="{FF2B5EF4-FFF2-40B4-BE49-F238E27FC236}">
                <a16:creationId xmlns:a16="http://schemas.microsoft.com/office/drawing/2014/main" id="{A648624E-B389-BBE5-1450-10939740CAF8}"/>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63573"/>
            <a:ext cx="8734901"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PlantIQ: Our Solution Approach</a:t>
            </a:r>
            <a:endParaRPr lang="en-US" sz="4450" dirty="0"/>
          </a:p>
        </p:txBody>
      </p:sp>
      <p:sp>
        <p:nvSpPr>
          <p:cNvPr id="3" name="Shape 1"/>
          <p:cNvSpPr/>
          <p:nvPr/>
        </p:nvSpPr>
        <p:spPr>
          <a:xfrm>
            <a:off x="793790" y="2125980"/>
            <a:ext cx="6407944" cy="2456617"/>
          </a:xfrm>
          <a:prstGeom prst="roundRect">
            <a:avLst>
              <a:gd name="adj" fmla="val 5956"/>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4" name="Shape 2"/>
          <p:cNvSpPr/>
          <p:nvPr/>
        </p:nvSpPr>
        <p:spPr>
          <a:xfrm>
            <a:off x="763310" y="2125980"/>
            <a:ext cx="121920" cy="2456617"/>
          </a:xfrm>
          <a:prstGeom prst="roundRect">
            <a:avLst>
              <a:gd name="adj" fmla="val 78139"/>
            </a:avLst>
          </a:prstGeom>
          <a:solidFill>
            <a:srgbClr val="E6DED2"/>
          </a:solidFill>
          <a:ln/>
        </p:spPr>
      </p:sp>
      <p:sp>
        <p:nvSpPr>
          <p:cNvPr id="5" name="Text 3"/>
          <p:cNvSpPr/>
          <p:nvPr/>
        </p:nvSpPr>
        <p:spPr>
          <a:xfrm>
            <a:off x="2625804" y="2383274"/>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AI Cultivation Agent</a:t>
            </a:r>
            <a:endParaRPr lang="en-US" sz="2200" dirty="0"/>
          </a:p>
        </p:txBody>
      </p:sp>
      <p:sp>
        <p:nvSpPr>
          <p:cNvPr id="6" name="Text 4"/>
          <p:cNvSpPr/>
          <p:nvPr/>
        </p:nvSpPr>
        <p:spPr>
          <a:xfrm>
            <a:off x="1142524" y="2873693"/>
            <a:ext cx="5801916" cy="1451610"/>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RAG-based assistant providing localized, multilingual, voice-enabled guidance on best cultivation practices tailored to Karnataka's agricultural context.</a:t>
            </a:r>
            <a:endParaRPr lang="en-US" sz="1750" dirty="0"/>
          </a:p>
        </p:txBody>
      </p:sp>
      <p:sp>
        <p:nvSpPr>
          <p:cNvPr id="7" name="Shape 5"/>
          <p:cNvSpPr/>
          <p:nvPr/>
        </p:nvSpPr>
        <p:spPr>
          <a:xfrm>
            <a:off x="7428548" y="2125980"/>
            <a:ext cx="6408063" cy="2456617"/>
          </a:xfrm>
          <a:prstGeom prst="roundRect">
            <a:avLst>
              <a:gd name="adj" fmla="val 5956"/>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8" name="Shape 6"/>
          <p:cNvSpPr/>
          <p:nvPr/>
        </p:nvSpPr>
        <p:spPr>
          <a:xfrm>
            <a:off x="7398067" y="2125980"/>
            <a:ext cx="121920" cy="2456617"/>
          </a:xfrm>
          <a:prstGeom prst="roundRect">
            <a:avLst>
              <a:gd name="adj" fmla="val 78139"/>
            </a:avLst>
          </a:prstGeom>
          <a:solidFill>
            <a:srgbClr val="E6DED2"/>
          </a:solidFill>
          <a:ln/>
        </p:spPr>
      </p:sp>
      <p:sp>
        <p:nvSpPr>
          <p:cNvPr id="9" name="Text 7"/>
          <p:cNvSpPr/>
          <p:nvPr/>
        </p:nvSpPr>
        <p:spPr>
          <a:xfrm>
            <a:off x="9260681" y="2383274"/>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Field Level Tools</a:t>
            </a:r>
            <a:endParaRPr lang="en-US" sz="2200" dirty="0"/>
          </a:p>
        </p:txBody>
      </p:sp>
      <p:sp>
        <p:nvSpPr>
          <p:cNvPr id="10" name="Text 8"/>
          <p:cNvSpPr/>
          <p:nvPr/>
        </p:nvSpPr>
        <p:spPr>
          <a:xfrm>
            <a:off x="7777282" y="2873693"/>
            <a:ext cx="5802035" cy="1088708"/>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Integration of computer vision for plant disease detection and real-time weather-based advisories to support decision-making at the farm level.</a:t>
            </a:r>
            <a:endParaRPr lang="en-US" sz="1750" dirty="0"/>
          </a:p>
        </p:txBody>
      </p:sp>
      <p:sp>
        <p:nvSpPr>
          <p:cNvPr id="11" name="Shape 9"/>
          <p:cNvSpPr/>
          <p:nvPr/>
        </p:nvSpPr>
        <p:spPr>
          <a:xfrm>
            <a:off x="793790" y="4809411"/>
            <a:ext cx="6407944" cy="2456617"/>
          </a:xfrm>
          <a:prstGeom prst="roundRect">
            <a:avLst>
              <a:gd name="adj" fmla="val 5956"/>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2" name="Shape 10"/>
          <p:cNvSpPr/>
          <p:nvPr/>
        </p:nvSpPr>
        <p:spPr>
          <a:xfrm>
            <a:off x="763310" y="4809411"/>
            <a:ext cx="121920" cy="2456617"/>
          </a:xfrm>
          <a:prstGeom prst="roundRect">
            <a:avLst>
              <a:gd name="adj" fmla="val 78139"/>
            </a:avLst>
          </a:prstGeom>
          <a:solidFill>
            <a:srgbClr val="E6DED2"/>
          </a:solidFill>
          <a:ln/>
        </p:spPr>
      </p:sp>
      <p:sp>
        <p:nvSpPr>
          <p:cNvPr id="13" name="Text 11"/>
          <p:cNvSpPr/>
          <p:nvPr/>
        </p:nvSpPr>
        <p:spPr>
          <a:xfrm>
            <a:off x="2625804" y="5066705"/>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Farmer-First Design</a:t>
            </a:r>
            <a:endParaRPr lang="en-US" sz="2200" dirty="0"/>
          </a:p>
        </p:txBody>
      </p:sp>
      <p:sp>
        <p:nvSpPr>
          <p:cNvPr id="14" name="Text 12"/>
          <p:cNvSpPr/>
          <p:nvPr/>
        </p:nvSpPr>
        <p:spPr>
          <a:xfrm>
            <a:off x="1142524" y="5557123"/>
            <a:ext cx="5801916" cy="1088708"/>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Built with accessibility at its core, featuring support for regional languages, voice inputs, and intuitive interfaces designed for low-literacy users.</a:t>
            </a:r>
            <a:endParaRPr lang="en-US" sz="1750" dirty="0"/>
          </a:p>
        </p:txBody>
      </p:sp>
      <p:sp>
        <p:nvSpPr>
          <p:cNvPr id="15" name="Shape 13"/>
          <p:cNvSpPr/>
          <p:nvPr/>
        </p:nvSpPr>
        <p:spPr>
          <a:xfrm>
            <a:off x="7428548" y="4809411"/>
            <a:ext cx="6408063" cy="2456617"/>
          </a:xfrm>
          <a:prstGeom prst="roundRect">
            <a:avLst>
              <a:gd name="adj" fmla="val 5956"/>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6" name="Shape 14"/>
          <p:cNvSpPr/>
          <p:nvPr/>
        </p:nvSpPr>
        <p:spPr>
          <a:xfrm>
            <a:off x="7398067" y="4809411"/>
            <a:ext cx="121920" cy="2456617"/>
          </a:xfrm>
          <a:prstGeom prst="roundRect">
            <a:avLst>
              <a:gd name="adj" fmla="val 78139"/>
            </a:avLst>
          </a:prstGeom>
          <a:solidFill>
            <a:srgbClr val="E6DED2"/>
          </a:solidFill>
          <a:ln/>
        </p:spPr>
      </p:sp>
      <p:sp>
        <p:nvSpPr>
          <p:cNvPr id="17" name="Text 15"/>
          <p:cNvSpPr/>
          <p:nvPr/>
        </p:nvSpPr>
        <p:spPr>
          <a:xfrm>
            <a:off x="8976241" y="5066705"/>
            <a:ext cx="3404116"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Market Visibility Module</a:t>
            </a:r>
            <a:endParaRPr lang="en-US" sz="2200" dirty="0"/>
          </a:p>
        </p:txBody>
      </p:sp>
      <p:sp>
        <p:nvSpPr>
          <p:cNvPr id="18" name="Text 16"/>
          <p:cNvSpPr/>
          <p:nvPr/>
        </p:nvSpPr>
        <p:spPr>
          <a:xfrm>
            <a:off x="7777282" y="5557123"/>
            <a:ext cx="5802035" cy="1451610"/>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Allows farmers to list crop details such as type, quantity, price and location. Buyers can explore offerings on an interactive map and initiate direct contact, eliminating middlemen.</a:t>
            </a:r>
            <a:endParaRPr lang="en-US" sz="1750" dirty="0"/>
          </a:p>
        </p:txBody>
      </p:sp>
      <p:sp>
        <p:nvSpPr>
          <p:cNvPr id="19" name="Rectangle 18">
            <a:extLst>
              <a:ext uri="{FF2B5EF4-FFF2-40B4-BE49-F238E27FC236}">
                <a16:creationId xmlns:a16="http://schemas.microsoft.com/office/drawing/2014/main" id="{11F82742-F785-279D-C7E0-47F3484D25FB}"/>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5" name="Text 2"/>
          <p:cNvSpPr/>
          <p:nvPr/>
        </p:nvSpPr>
        <p:spPr>
          <a:xfrm>
            <a:off x="793790" y="1261943"/>
            <a:ext cx="7717155"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Project Milestones Achieved</a:t>
            </a:r>
            <a:endParaRPr lang="en-US" sz="4450" dirty="0"/>
          </a:p>
        </p:txBody>
      </p:sp>
      <p:sp>
        <p:nvSpPr>
          <p:cNvPr id="6" name="Shape 3"/>
          <p:cNvSpPr/>
          <p:nvPr/>
        </p:nvSpPr>
        <p:spPr>
          <a:xfrm>
            <a:off x="793790" y="2310884"/>
            <a:ext cx="6407944" cy="2252305"/>
          </a:xfrm>
          <a:prstGeom prst="roundRect">
            <a:avLst>
              <a:gd name="adj" fmla="val 6496"/>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7" name="Shape 4"/>
          <p:cNvSpPr/>
          <p:nvPr/>
        </p:nvSpPr>
        <p:spPr>
          <a:xfrm>
            <a:off x="763310" y="2310884"/>
            <a:ext cx="121920" cy="2252305"/>
          </a:xfrm>
          <a:prstGeom prst="roundRect">
            <a:avLst>
              <a:gd name="adj" fmla="val 78139"/>
            </a:avLst>
          </a:prstGeom>
          <a:solidFill>
            <a:srgbClr val="E6DED2"/>
          </a:solidFill>
          <a:ln/>
        </p:spPr>
      </p:sp>
      <p:sp>
        <p:nvSpPr>
          <p:cNvPr id="8" name="Text 5"/>
          <p:cNvSpPr/>
          <p:nvPr/>
        </p:nvSpPr>
        <p:spPr>
          <a:xfrm>
            <a:off x="2625804" y="2568178"/>
            <a:ext cx="2835235" cy="354330"/>
          </a:xfrm>
          <a:prstGeom prst="rect">
            <a:avLst/>
          </a:prstGeom>
          <a:noFill/>
          <a:ln/>
        </p:spPr>
        <p:txBody>
          <a:bodyPr wrap="none" lIns="0" tIns="0" rIns="0" bIns="0" rtlCol="0" anchor="t"/>
          <a:lstStyle/>
          <a:p>
            <a:pPr algn="ctr">
              <a:lnSpc>
                <a:spcPts val="2750"/>
              </a:lnSpc>
            </a:pPr>
            <a:r>
              <a:rPr lang="en-US" sz="2200" dirty="0">
                <a:solidFill>
                  <a:srgbClr val="4C4C4C"/>
                </a:solidFill>
                <a:latin typeface="Noto Serif Medium" pitchFamily="34" charset="0"/>
                <a:ea typeface="Noto Serif Medium" pitchFamily="34" charset="-122"/>
                <a:cs typeface="Noto Serif Medium" pitchFamily="34" charset="-120"/>
              </a:rPr>
              <a:t>Dataset Secured ✓</a:t>
            </a:r>
            <a:endParaRPr lang="en-US" sz="2200" dirty="0"/>
          </a:p>
        </p:txBody>
      </p:sp>
      <p:sp>
        <p:nvSpPr>
          <p:cNvPr id="9" name="Text 6"/>
          <p:cNvSpPr/>
          <p:nvPr/>
        </p:nvSpPr>
        <p:spPr>
          <a:xfrm>
            <a:off x="1142524" y="3058597"/>
            <a:ext cx="5801916"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Coffee leaves dataset for disease detection</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Real-time weather data via API integration</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Regional soil characteristics database</a:t>
            </a:r>
            <a:endParaRPr lang="en-US" sz="1750" dirty="0"/>
          </a:p>
        </p:txBody>
      </p:sp>
      <p:sp>
        <p:nvSpPr>
          <p:cNvPr id="10" name="Shape 7"/>
          <p:cNvSpPr/>
          <p:nvPr/>
        </p:nvSpPr>
        <p:spPr>
          <a:xfrm>
            <a:off x="7428548" y="2310884"/>
            <a:ext cx="6408063" cy="2252305"/>
          </a:xfrm>
          <a:prstGeom prst="roundRect">
            <a:avLst>
              <a:gd name="adj" fmla="val 6496"/>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1" name="Shape 8"/>
          <p:cNvSpPr/>
          <p:nvPr/>
        </p:nvSpPr>
        <p:spPr>
          <a:xfrm>
            <a:off x="7398067" y="2310884"/>
            <a:ext cx="121920" cy="2252305"/>
          </a:xfrm>
          <a:prstGeom prst="roundRect">
            <a:avLst>
              <a:gd name="adj" fmla="val 78139"/>
            </a:avLst>
          </a:prstGeom>
          <a:solidFill>
            <a:srgbClr val="E6DED2"/>
          </a:solidFill>
          <a:ln/>
        </p:spPr>
      </p:sp>
      <p:sp>
        <p:nvSpPr>
          <p:cNvPr id="12" name="Text 9"/>
          <p:cNvSpPr/>
          <p:nvPr/>
        </p:nvSpPr>
        <p:spPr>
          <a:xfrm>
            <a:off x="8817769" y="2568178"/>
            <a:ext cx="3720941" cy="354330"/>
          </a:xfrm>
          <a:prstGeom prst="rect">
            <a:avLst/>
          </a:prstGeom>
          <a:noFill/>
          <a:ln/>
        </p:spPr>
        <p:txBody>
          <a:bodyPr wrap="none" lIns="0" tIns="0" rIns="0" bIns="0" rtlCol="0" anchor="t"/>
          <a:lstStyle/>
          <a:p>
            <a:pPr algn="ctr">
              <a:lnSpc>
                <a:spcPts val="2750"/>
              </a:lnSpc>
            </a:pPr>
            <a:r>
              <a:rPr lang="en-US" sz="2200" dirty="0">
                <a:solidFill>
                  <a:srgbClr val="4C4C4C"/>
                </a:solidFill>
                <a:latin typeface="Noto Serif Medium" pitchFamily="34" charset="0"/>
                <a:ea typeface="Noto Serif Medium" pitchFamily="34" charset="-122"/>
                <a:cs typeface="Noto Serif Medium" pitchFamily="34" charset="-120"/>
              </a:rPr>
              <a:t>Technology Stack Finalized ✓</a:t>
            </a:r>
            <a:endParaRPr lang="en-US" sz="2200" dirty="0"/>
          </a:p>
        </p:txBody>
      </p:sp>
      <p:sp>
        <p:nvSpPr>
          <p:cNvPr id="13" name="Text 10"/>
          <p:cNvSpPr/>
          <p:nvPr/>
        </p:nvSpPr>
        <p:spPr>
          <a:xfrm>
            <a:off x="7777282" y="3058597"/>
            <a:ext cx="5802035"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Computer Vision: ResNet50 (CNN-based)</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Frontend: Streamlit for rapid prototyping</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Backend: FastAPI for scalable services</a:t>
            </a:r>
            <a:endParaRPr lang="en-US" sz="1750" dirty="0"/>
          </a:p>
        </p:txBody>
      </p:sp>
      <p:sp>
        <p:nvSpPr>
          <p:cNvPr id="14" name="Shape 11"/>
          <p:cNvSpPr/>
          <p:nvPr/>
        </p:nvSpPr>
        <p:spPr>
          <a:xfrm>
            <a:off x="793790" y="4790003"/>
            <a:ext cx="6407944" cy="2694503"/>
          </a:xfrm>
          <a:prstGeom prst="roundRect">
            <a:avLst>
              <a:gd name="adj" fmla="val 543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5" name="Shape 12"/>
          <p:cNvSpPr/>
          <p:nvPr/>
        </p:nvSpPr>
        <p:spPr>
          <a:xfrm>
            <a:off x="763310" y="4790003"/>
            <a:ext cx="121920" cy="2694503"/>
          </a:xfrm>
          <a:prstGeom prst="roundRect">
            <a:avLst>
              <a:gd name="adj" fmla="val 78139"/>
            </a:avLst>
          </a:prstGeom>
          <a:solidFill>
            <a:srgbClr val="E6DED2"/>
          </a:solidFill>
          <a:ln/>
        </p:spPr>
      </p:sp>
      <p:sp>
        <p:nvSpPr>
          <p:cNvPr id="16" name="Text 13"/>
          <p:cNvSpPr/>
          <p:nvPr/>
        </p:nvSpPr>
        <p:spPr>
          <a:xfrm>
            <a:off x="2509242" y="5047298"/>
            <a:ext cx="3068360" cy="354330"/>
          </a:xfrm>
          <a:prstGeom prst="rect">
            <a:avLst/>
          </a:prstGeom>
          <a:noFill/>
          <a:ln/>
        </p:spPr>
        <p:txBody>
          <a:bodyPr wrap="none" lIns="0" tIns="0" rIns="0" bIns="0" rtlCol="0" anchor="t"/>
          <a:lstStyle/>
          <a:p>
            <a:pPr algn="ctr">
              <a:lnSpc>
                <a:spcPts val="2750"/>
              </a:lnSpc>
            </a:pPr>
            <a:r>
              <a:rPr lang="en-US" sz="2200" dirty="0">
                <a:solidFill>
                  <a:srgbClr val="4C4C4C"/>
                </a:solidFill>
                <a:latin typeface="Noto Serif Medium" pitchFamily="34" charset="0"/>
                <a:ea typeface="Noto Serif Medium" pitchFamily="34" charset="-122"/>
                <a:cs typeface="Noto Serif Medium" pitchFamily="34" charset="-120"/>
              </a:rPr>
              <a:t>Architecture Designed ✓</a:t>
            </a:r>
            <a:endParaRPr lang="en-US" sz="2200" dirty="0"/>
          </a:p>
        </p:txBody>
      </p:sp>
      <p:sp>
        <p:nvSpPr>
          <p:cNvPr id="17" name="Text 14"/>
          <p:cNvSpPr/>
          <p:nvPr/>
        </p:nvSpPr>
        <p:spPr>
          <a:xfrm>
            <a:off x="1142524" y="5537716"/>
            <a:ext cx="5801916"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Disease Detection Module</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Advisory Generation Module</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Chatbot Interface Module</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Market Discovery Module</a:t>
            </a:r>
            <a:endParaRPr lang="en-US" sz="1750" dirty="0"/>
          </a:p>
        </p:txBody>
      </p:sp>
      <p:sp>
        <p:nvSpPr>
          <p:cNvPr id="22" name="Rectangle 21">
            <a:extLst>
              <a:ext uri="{FF2B5EF4-FFF2-40B4-BE49-F238E27FC236}">
                <a16:creationId xmlns:a16="http://schemas.microsoft.com/office/drawing/2014/main" id="{55387891-399A-A2B9-6326-3B244602C9FB}"/>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402318"/>
            <a:ext cx="8030647"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Addressing Phase 1 Feedback</a:t>
            </a:r>
            <a:endParaRPr lang="en-US" sz="4450" dirty="0"/>
          </a:p>
        </p:txBody>
      </p:sp>
      <p:sp>
        <p:nvSpPr>
          <p:cNvPr id="3" name="Shape 1"/>
          <p:cNvSpPr/>
          <p:nvPr/>
        </p:nvSpPr>
        <p:spPr>
          <a:xfrm>
            <a:off x="793790" y="2564725"/>
            <a:ext cx="4196358" cy="4262557"/>
          </a:xfrm>
          <a:prstGeom prst="roundRect">
            <a:avLst>
              <a:gd name="adj" fmla="val 3486"/>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4" name="Shape 2"/>
          <p:cNvSpPr/>
          <p:nvPr/>
        </p:nvSpPr>
        <p:spPr>
          <a:xfrm>
            <a:off x="763310" y="2564725"/>
            <a:ext cx="121920" cy="4262557"/>
          </a:xfrm>
          <a:prstGeom prst="roundRect">
            <a:avLst>
              <a:gd name="adj" fmla="val 78139"/>
            </a:avLst>
          </a:prstGeom>
          <a:solidFill>
            <a:srgbClr val="E6DED2"/>
          </a:solidFill>
          <a:ln/>
        </p:spPr>
      </p:sp>
      <p:sp>
        <p:nvSpPr>
          <p:cNvPr id="5" name="Text 3"/>
          <p:cNvSpPr/>
          <p:nvPr/>
        </p:nvSpPr>
        <p:spPr>
          <a:xfrm>
            <a:off x="1142524" y="2822019"/>
            <a:ext cx="3590330" cy="708660"/>
          </a:xfrm>
          <a:prstGeom prst="rect">
            <a:avLst/>
          </a:prstGeom>
          <a:noFill/>
          <a:ln/>
        </p:spPr>
        <p:txBody>
          <a:bodyPr wrap="squar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Dataset Sourcing Resolved</a:t>
            </a:r>
            <a:endParaRPr lang="en-US" sz="2200" dirty="0"/>
          </a:p>
        </p:txBody>
      </p:sp>
      <p:sp>
        <p:nvSpPr>
          <p:cNvPr id="6" name="Text 4"/>
          <p:cNvSpPr/>
          <p:nvPr/>
        </p:nvSpPr>
        <p:spPr>
          <a:xfrm>
            <a:off x="1142524" y="3666768"/>
            <a:ext cx="3590330" cy="2540318"/>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Successfully obtained comprehensive image datasets of coffee leaves for CNN model training. Data cleaning process is underway to ensure quality and consistency across all disease categories.</a:t>
            </a:r>
            <a:endParaRPr lang="en-US" sz="1750" dirty="0"/>
          </a:p>
        </p:txBody>
      </p:sp>
      <p:sp>
        <p:nvSpPr>
          <p:cNvPr id="7" name="Shape 5"/>
          <p:cNvSpPr/>
          <p:nvPr/>
        </p:nvSpPr>
        <p:spPr>
          <a:xfrm>
            <a:off x="5216962" y="2564725"/>
            <a:ext cx="4196358" cy="4262557"/>
          </a:xfrm>
          <a:prstGeom prst="roundRect">
            <a:avLst>
              <a:gd name="adj" fmla="val 3486"/>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8" name="Shape 6"/>
          <p:cNvSpPr/>
          <p:nvPr/>
        </p:nvSpPr>
        <p:spPr>
          <a:xfrm>
            <a:off x="5186482" y="2564725"/>
            <a:ext cx="121920" cy="4262557"/>
          </a:xfrm>
          <a:prstGeom prst="roundRect">
            <a:avLst>
              <a:gd name="adj" fmla="val 78139"/>
            </a:avLst>
          </a:prstGeom>
          <a:solidFill>
            <a:srgbClr val="E6DED2"/>
          </a:solidFill>
          <a:ln/>
        </p:spPr>
      </p:sp>
      <p:sp>
        <p:nvSpPr>
          <p:cNvPr id="9" name="Text 7"/>
          <p:cNvSpPr/>
          <p:nvPr/>
        </p:nvSpPr>
        <p:spPr>
          <a:xfrm>
            <a:off x="5565696" y="2822019"/>
            <a:ext cx="3590330" cy="708660"/>
          </a:xfrm>
          <a:prstGeom prst="rect">
            <a:avLst/>
          </a:prstGeom>
          <a:noFill/>
          <a:ln/>
        </p:spPr>
        <p:txBody>
          <a:bodyPr wrap="squar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Technology Adoption Validated</a:t>
            </a:r>
            <a:endParaRPr lang="en-US" sz="2200" dirty="0"/>
          </a:p>
        </p:txBody>
      </p:sp>
      <p:sp>
        <p:nvSpPr>
          <p:cNvPr id="10" name="Text 8"/>
          <p:cNvSpPr/>
          <p:nvPr/>
        </p:nvSpPr>
        <p:spPr>
          <a:xfrm>
            <a:off x="5565696" y="3666768"/>
            <a:ext cx="3590330" cy="2903220"/>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As of February 2020, over 25,353 coffee growers actively used the "Coffee Krishi Taranga" mobile-based service. This demonstrates that coffee planters in Karnataka are technologically equipped with smartphones and reliable internet access.</a:t>
            </a:r>
            <a:endParaRPr lang="en-US" sz="1750" dirty="0"/>
          </a:p>
        </p:txBody>
      </p:sp>
      <p:sp>
        <p:nvSpPr>
          <p:cNvPr id="11" name="Shape 9"/>
          <p:cNvSpPr/>
          <p:nvPr/>
        </p:nvSpPr>
        <p:spPr>
          <a:xfrm>
            <a:off x="9640133" y="2564725"/>
            <a:ext cx="4196358" cy="4262557"/>
          </a:xfrm>
          <a:prstGeom prst="roundRect">
            <a:avLst>
              <a:gd name="adj" fmla="val 3486"/>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2" name="Shape 10"/>
          <p:cNvSpPr/>
          <p:nvPr/>
        </p:nvSpPr>
        <p:spPr>
          <a:xfrm>
            <a:off x="9609653" y="2564725"/>
            <a:ext cx="121920" cy="4262557"/>
          </a:xfrm>
          <a:prstGeom prst="roundRect">
            <a:avLst>
              <a:gd name="adj" fmla="val 78139"/>
            </a:avLst>
          </a:prstGeom>
          <a:solidFill>
            <a:srgbClr val="E6DED2"/>
          </a:solidFill>
          <a:ln/>
        </p:spPr>
      </p:sp>
      <p:sp>
        <p:nvSpPr>
          <p:cNvPr id="13" name="Text 11"/>
          <p:cNvSpPr/>
          <p:nvPr/>
        </p:nvSpPr>
        <p:spPr>
          <a:xfrm>
            <a:off x="9988868" y="2822019"/>
            <a:ext cx="3590330" cy="708660"/>
          </a:xfrm>
          <a:prstGeom prst="rect">
            <a:avLst/>
          </a:prstGeom>
          <a:noFill/>
          <a:ln/>
        </p:spPr>
        <p:txBody>
          <a:bodyPr wrap="squar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User Readiness Confirmed</a:t>
            </a:r>
            <a:endParaRPr lang="en-US" sz="2200" dirty="0"/>
          </a:p>
        </p:txBody>
      </p:sp>
      <p:sp>
        <p:nvSpPr>
          <p:cNvPr id="14" name="Text 12"/>
          <p:cNvSpPr/>
          <p:nvPr/>
        </p:nvSpPr>
        <p:spPr>
          <a:xfrm>
            <a:off x="9988868" y="3666768"/>
            <a:ext cx="3590330" cy="2177415"/>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Market research confirms our target audience has the necessary infrastructure and digital literacy to adopt PlantIQ, reducing implementation barriers significantly.</a:t>
            </a:r>
            <a:endParaRPr lang="en-US" sz="1750" dirty="0"/>
          </a:p>
        </p:txBody>
      </p:sp>
      <p:sp>
        <p:nvSpPr>
          <p:cNvPr id="15" name="Rectangle 14">
            <a:extLst>
              <a:ext uri="{FF2B5EF4-FFF2-40B4-BE49-F238E27FC236}">
                <a16:creationId xmlns:a16="http://schemas.microsoft.com/office/drawing/2014/main" id="{D0A2E949-25B6-4839-F3B7-20EA8728B001}"/>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2"/>
          <p:cNvSpPr/>
          <p:nvPr/>
        </p:nvSpPr>
        <p:spPr>
          <a:xfrm>
            <a:off x="793790" y="2509123"/>
            <a:ext cx="9784913"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Requirements Overview</a:t>
            </a:r>
            <a:endParaRPr lang="en-US" sz="4450" dirty="0"/>
          </a:p>
        </p:txBody>
      </p:sp>
      <p:sp>
        <p:nvSpPr>
          <p:cNvPr id="5" name="Shape 3"/>
          <p:cNvSpPr/>
          <p:nvPr/>
        </p:nvSpPr>
        <p:spPr>
          <a:xfrm>
            <a:off x="793790" y="3558064"/>
            <a:ext cx="6407944" cy="2694503"/>
          </a:xfrm>
          <a:prstGeom prst="roundRect">
            <a:avLst>
              <a:gd name="adj" fmla="val 543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6" name="Shape 4"/>
          <p:cNvSpPr/>
          <p:nvPr/>
        </p:nvSpPr>
        <p:spPr>
          <a:xfrm>
            <a:off x="763310" y="3558064"/>
            <a:ext cx="121920" cy="2694503"/>
          </a:xfrm>
          <a:prstGeom prst="roundRect">
            <a:avLst>
              <a:gd name="adj" fmla="val 78139"/>
            </a:avLst>
          </a:prstGeom>
          <a:solidFill>
            <a:srgbClr val="E6DED2"/>
          </a:solidFill>
          <a:ln/>
        </p:spPr>
      </p:sp>
      <p:sp>
        <p:nvSpPr>
          <p:cNvPr id="7" name="Text 5"/>
          <p:cNvSpPr/>
          <p:nvPr/>
        </p:nvSpPr>
        <p:spPr>
          <a:xfrm>
            <a:off x="2120027" y="3815358"/>
            <a:ext cx="3846790"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Module 1: Disease Detection</a:t>
            </a:r>
            <a:endParaRPr lang="en-US" sz="2200" dirty="0"/>
          </a:p>
        </p:txBody>
      </p:sp>
      <p:sp>
        <p:nvSpPr>
          <p:cNvPr id="8" name="Text 6"/>
          <p:cNvSpPr/>
          <p:nvPr/>
        </p:nvSpPr>
        <p:spPr>
          <a:xfrm>
            <a:off x="1142524" y="4305776"/>
            <a:ext cx="5801916"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Allow farmers to upload coffee leaf images</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Detect disease type using CNN model</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Provide confidence scores and visual feedback</a:t>
            </a:r>
            <a:endParaRPr lang="en-US" sz="1750" dirty="0"/>
          </a:p>
        </p:txBody>
      </p:sp>
      <p:sp>
        <p:nvSpPr>
          <p:cNvPr id="9" name="Shape 7"/>
          <p:cNvSpPr/>
          <p:nvPr/>
        </p:nvSpPr>
        <p:spPr>
          <a:xfrm>
            <a:off x="7428548" y="3558064"/>
            <a:ext cx="6408063" cy="2694503"/>
          </a:xfrm>
          <a:prstGeom prst="roundRect">
            <a:avLst>
              <a:gd name="adj" fmla="val 543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0" name="Shape 8"/>
          <p:cNvSpPr/>
          <p:nvPr/>
        </p:nvSpPr>
        <p:spPr>
          <a:xfrm>
            <a:off x="7398067" y="3558064"/>
            <a:ext cx="121920" cy="2694503"/>
          </a:xfrm>
          <a:prstGeom prst="roundRect">
            <a:avLst>
              <a:gd name="adj" fmla="val 78139"/>
            </a:avLst>
          </a:prstGeom>
          <a:solidFill>
            <a:srgbClr val="E6DED2"/>
          </a:solidFill>
          <a:ln/>
        </p:spPr>
      </p:sp>
      <p:sp>
        <p:nvSpPr>
          <p:cNvPr id="11" name="Text 9"/>
          <p:cNvSpPr/>
          <p:nvPr/>
        </p:nvSpPr>
        <p:spPr>
          <a:xfrm>
            <a:off x="8542258" y="3815358"/>
            <a:ext cx="4272082"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Module 2: Advisory Generation</a:t>
            </a:r>
            <a:endParaRPr lang="en-US" sz="2200" dirty="0"/>
          </a:p>
        </p:txBody>
      </p:sp>
      <p:sp>
        <p:nvSpPr>
          <p:cNvPr id="12" name="Text 10"/>
          <p:cNvSpPr/>
          <p:nvPr/>
        </p:nvSpPr>
        <p:spPr>
          <a:xfrm>
            <a:off x="7777282" y="4305776"/>
            <a:ext cx="5802035"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Fetch environmental data based on location</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Retrieve disease solutions from knowledge graph / RAG</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Generate explainable advisories using LLM</a:t>
            </a:r>
            <a:endParaRPr lang="en-US" sz="1750" dirty="0"/>
          </a:p>
        </p:txBody>
      </p:sp>
      <p:sp>
        <p:nvSpPr>
          <p:cNvPr id="13" name="Rectangle 12">
            <a:extLst>
              <a:ext uri="{FF2B5EF4-FFF2-40B4-BE49-F238E27FC236}">
                <a16:creationId xmlns:a16="http://schemas.microsoft.com/office/drawing/2014/main" id="{A14D8CB7-B06F-1F96-C549-BCD9F52B3181}"/>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2"/>
          <p:cNvSpPr/>
          <p:nvPr/>
        </p:nvSpPr>
        <p:spPr>
          <a:xfrm>
            <a:off x="793790" y="2154793"/>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Requirements Overview(Continued)</a:t>
            </a:r>
            <a:endParaRPr lang="en-US" sz="4450" dirty="0"/>
          </a:p>
        </p:txBody>
      </p:sp>
      <p:sp>
        <p:nvSpPr>
          <p:cNvPr id="5" name="Shape 3"/>
          <p:cNvSpPr/>
          <p:nvPr/>
        </p:nvSpPr>
        <p:spPr>
          <a:xfrm>
            <a:off x="793790" y="3344951"/>
            <a:ext cx="6407944" cy="2694503"/>
          </a:xfrm>
          <a:prstGeom prst="roundRect">
            <a:avLst>
              <a:gd name="adj" fmla="val 543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6" name="Shape 4"/>
          <p:cNvSpPr/>
          <p:nvPr/>
        </p:nvSpPr>
        <p:spPr>
          <a:xfrm>
            <a:off x="763310" y="3344951"/>
            <a:ext cx="121920" cy="2694503"/>
          </a:xfrm>
          <a:prstGeom prst="roundRect">
            <a:avLst>
              <a:gd name="adj" fmla="val 78139"/>
            </a:avLst>
          </a:prstGeom>
          <a:solidFill>
            <a:srgbClr val="E6DED2"/>
          </a:solidFill>
          <a:ln/>
        </p:spPr>
      </p:sp>
      <p:sp>
        <p:nvSpPr>
          <p:cNvPr id="7" name="Text 5"/>
          <p:cNvSpPr/>
          <p:nvPr/>
        </p:nvSpPr>
        <p:spPr>
          <a:xfrm>
            <a:off x="2129076" y="3602245"/>
            <a:ext cx="3828693"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Module 3: Chatbot Interface</a:t>
            </a:r>
            <a:endParaRPr lang="en-US" sz="2200" dirty="0"/>
          </a:p>
        </p:txBody>
      </p:sp>
      <p:sp>
        <p:nvSpPr>
          <p:cNvPr id="8" name="Text 6"/>
          <p:cNvSpPr/>
          <p:nvPr/>
        </p:nvSpPr>
        <p:spPr>
          <a:xfrm>
            <a:off x="1142524" y="4092663"/>
            <a:ext cx="5801916"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Support text and voice interactions</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Multilingual support (English + Kannada)</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Maintain conversation history</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Connect to backend advisory engine</a:t>
            </a:r>
            <a:endParaRPr lang="en-US" sz="1750" dirty="0"/>
          </a:p>
        </p:txBody>
      </p:sp>
      <p:sp>
        <p:nvSpPr>
          <p:cNvPr id="9" name="Shape 7"/>
          <p:cNvSpPr/>
          <p:nvPr/>
        </p:nvSpPr>
        <p:spPr>
          <a:xfrm>
            <a:off x="7428548" y="3344951"/>
            <a:ext cx="6408063" cy="2694503"/>
          </a:xfrm>
          <a:prstGeom prst="roundRect">
            <a:avLst>
              <a:gd name="adj" fmla="val 543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0" name="Shape 8"/>
          <p:cNvSpPr/>
          <p:nvPr/>
        </p:nvSpPr>
        <p:spPr>
          <a:xfrm>
            <a:off x="7398067" y="3344951"/>
            <a:ext cx="121920" cy="2694503"/>
          </a:xfrm>
          <a:prstGeom prst="roundRect">
            <a:avLst>
              <a:gd name="adj" fmla="val 78139"/>
            </a:avLst>
          </a:prstGeom>
          <a:solidFill>
            <a:srgbClr val="E6DED2"/>
          </a:solidFill>
          <a:ln/>
        </p:spPr>
      </p:sp>
      <p:sp>
        <p:nvSpPr>
          <p:cNvPr id="11" name="Text 9"/>
          <p:cNvSpPr/>
          <p:nvPr/>
        </p:nvSpPr>
        <p:spPr>
          <a:xfrm>
            <a:off x="8752999" y="3602245"/>
            <a:ext cx="3850481"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Module 4: Market Discovery</a:t>
            </a:r>
            <a:endParaRPr lang="en-US" sz="2200" dirty="0"/>
          </a:p>
        </p:txBody>
      </p:sp>
      <p:sp>
        <p:nvSpPr>
          <p:cNvPr id="12" name="Text 10"/>
          <p:cNvSpPr/>
          <p:nvPr/>
        </p:nvSpPr>
        <p:spPr>
          <a:xfrm>
            <a:off x="7777282" y="4092663"/>
            <a:ext cx="5802035"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Enable farmer produce listings</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Store crop details and pricing</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Map-based buyer discovery interface</a:t>
            </a:r>
            <a:endParaRPr lang="en-US" sz="1750" dirty="0"/>
          </a:p>
          <a:p>
            <a:pPr marL="342900" indent="-342900" algn="l">
              <a:lnSpc>
                <a:spcPts val="2850"/>
              </a:lnSpc>
              <a:buSzPct val="100000"/>
              <a:buChar char="•"/>
            </a:pPr>
            <a:r>
              <a:rPr lang="en-US" sz="1750" dirty="0">
                <a:solidFill>
                  <a:srgbClr val="4C4C4C"/>
                </a:solidFill>
                <a:latin typeface="Noto Serif" pitchFamily="34" charset="0"/>
                <a:ea typeface="Noto Serif" pitchFamily="34" charset="-122"/>
                <a:cs typeface="Noto Serif" pitchFamily="34" charset="-120"/>
              </a:rPr>
              <a:t>Facilitate direct buyer-farmer contact</a:t>
            </a:r>
            <a:endParaRPr lang="en-US" sz="1750" dirty="0"/>
          </a:p>
        </p:txBody>
      </p:sp>
      <p:sp>
        <p:nvSpPr>
          <p:cNvPr id="13" name="Rectangle 12">
            <a:extLst>
              <a:ext uri="{FF2B5EF4-FFF2-40B4-BE49-F238E27FC236}">
                <a16:creationId xmlns:a16="http://schemas.microsoft.com/office/drawing/2014/main" id="{7AC24711-93EC-C096-D447-ACA007BB4192}"/>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853678"/>
            <a:ext cx="5678329"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Dataset / APIs</a:t>
            </a:r>
            <a:endParaRPr lang="en-US" sz="4450" dirty="0"/>
          </a:p>
        </p:txBody>
      </p:sp>
      <p:sp>
        <p:nvSpPr>
          <p:cNvPr id="3" name="Shape 1"/>
          <p:cNvSpPr/>
          <p:nvPr/>
        </p:nvSpPr>
        <p:spPr>
          <a:xfrm>
            <a:off x="793790" y="1590405"/>
            <a:ext cx="4196358" cy="6438960"/>
          </a:xfrm>
          <a:prstGeom prst="roundRect">
            <a:avLst>
              <a:gd name="adj" fmla="val 227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4" name="Shape 2"/>
          <p:cNvSpPr/>
          <p:nvPr/>
        </p:nvSpPr>
        <p:spPr>
          <a:xfrm>
            <a:off x="824270" y="1620885"/>
            <a:ext cx="4135398" cy="680442"/>
          </a:xfrm>
          <a:prstGeom prst="roundRect">
            <a:avLst>
              <a:gd name="adj" fmla="val 8626"/>
            </a:avLst>
          </a:prstGeom>
          <a:solidFill>
            <a:srgbClr val="E6DED2">
              <a:alpha val="50000"/>
            </a:srgbClr>
          </a:solidFill>
          <a:ln/>
          <a:effectLst>
            <a:outerShdw dist="20320" dir="2700000" algn="bl" rotWithShape="0">
              <a:srgbClr val="CCC4B8">
                <a:alpha val="100000"/>
              </a:srgbClr>
            </a:outerShdw>
          </a:effectLst>
        </p:spPr>
      </p:sp>
      <p:sp>
        <p:nvSpPr>
          <p:cNvPr id="5" name="Text 3"/>
          <p:cNvSpPr/>
          <p:nvPr/>
        </p:nvSpPr>
        <p:spPr>
          <a:xfrm>
            <a:off x="2721888" y="1744591"/>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000000"/>
                </a:solidFill>
                <a:latin typeface="Noto Serif Medium" pitchFamily="34" charset="0"/>
                <a:ea typeface="Noto Serif Medium" pitchFamily="34" charset="-122"/>
                <a:cs typeface="Noto Serif Medium" pitchFamily="34" charset="-120"/>
              </a:rPr>
              <a:t>1</a:t>
            </a:r>
            <a:endParaRPr lang="en-US" sz="2650" dirty="0"/>
          </a:p>
        </p:txBody>
      </p:sp>
      <p:sp>
        <p:nvSpPr>
          <p:cNvPr id="6" name="Text 4"/>
          <p:cNvSpPr/>
          <p:nvPr/>
        </p:nvSpPr>
        <p:spPr>
          <a:xfrm>
            <a:off x="1051084" y="2528142"/>
            <a:ext cx="3519845"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Disease Detection Dataset</a:t>
            </a:r>
            <a:endParaRPr lang="en-US" sz="2200" dirty="0"/>
          </a:p>
        </p:txBody>
      </p:sp>
      <p:sp>
        <p:nvSpPr>
          <p:cNvPr id="7" name="Text 5"/>
          <p:cNvSpPr/>
          <p:nvPr/>
        </p:nvSpPr>
        <p:spPr>
          <a:xfrm>
            <a:off x="1051084" y="3018560"/>
            <a:ext cx="3681770" cy="725805"/>
          </a:xfrm>
          <a:prstGeom prst="rect">
            <a:avLst/>
          </a:prstGeom>
          <a:noFill/>
          <a:ln/>
        </p:spPr>
        <p:txBody>
          <a:bodyPr wrap="square" lIns="0" tIns="0" rIns="0" bIns="0" rtlCol="0" anchor="t"/>
          <a:lstStyle/>
          <a:p>
            <a:pPr marL="0" indent="0" algn="l">
              <a:lnSpc>
                <a:spcPts val="2850"/>
              </a:lnSpc>
              <a:buNone/>
            </a:pPr>
            <a:r>
              <a:rPr lang="en-US" sz="1750" b="1" dirty="0">
                <a:solidFill>
                  <a:srgbClr val="4C4C4C"/>
                </a:solidFill>
                <a:latin typeface="Noto Serif" pitchFamily="34" charset="0"/>
                <a:ea typeface="Noto Serif" pitchFamily="34" charset="-122"/>
                <a:cs typeface="Noto Serif" pitchFamily="34" charset="-120"/>
              </a:rPr>
              <a:t>Source:</a:t>
            </a:r>
            <a:r>
              <a:rPr lang="en-US" sz="1750" dirty="0">
                <a:solidFill>
                  <a:srgbClr val="4C4C4C"/>
                </a:solidFill>
                <a:latin typeface="Noto Serif" pitchFamily="34" charset="0"/>
                <a:ea typeface="Noto Serif" pitchFamily="34" charset="-122"/>
                <a:cs typeface="Noto Serif" pitchFamily="34" charset="-120"/>
              </a:rPr>
              <a:t> JMuBEN Coffee Leaf Disease Dataset</a:t>
            </a:r>
            <a:endParaRPr lang="en-US" sz="1750" dirty="0"/>
          </a:p>
        </p:txBody>
      </p:sp>
      <p:sp>
        <p:nvSpPr>
          <p:cNvPr id="8" name="Text 6"/>
          <p:cNvSpPr/>
          <p:nvPr/>
        </p:nvSpPr>
        <p:spPr>
          <a:xfrm>
            <a:off x="1051084" y="3880453"/>
            <a:ext cx="3681770" cy="725805"/>
          </a:xfrm>
          <a:prstGeom prst="rect">
            <a:avLst/>
          </a:prstGeom>
          <a:noFill/>
          <a:ln/>
        </p:spPr>
        <p:txBody>
          <a:bodyPr wrap="square" lIns="0" tIns="0" rIns="0" bIns="0" rtlCol="0" anchor="t"/>
          <a:lstStyle/>
          <a:p>
            <a:pPr marL="0" indent="0" algn="l">
              <a:lnSpc>
                <a:spcPts val="2850"/>
              </a:lnSpc>
              <a:buNone/>
            </a:pPr>
            <a:r>
              <a:rPr lang="en-US" sz="1750" b="1" dirty="0">
                <a:solidFill>
                  <a:srgbClr val="4C4C4C"/>
                </a:solidFill>
                <a:latin typeface="Noto Serif" pitchFamily="34" charset="0"/>
                <a:ea typeface="Noto Serif" pitchFamily="34" charset="-122"/>
                <a:cs typeface="Noto Serif" pitchFamily="34" charset="-120"/>
              </a:rPr>
              <a:t>Classes:</a:t>
            </a:r>
            <a:r>
              <a:rPr lang="en-US" sz="1750" dirty="0">
                <a:solidFill>
                  <a:srgbClr val="4C4C4C"/>
                </a:solidFill>
                <a:latin typeface="Noto Serif" pitchFamily="34" charset="0"/>
                <a:ea typeface="Noto Serif" pitchFamily="34" charset="-122"/>
                <a:cs typeface="Noto Serif" pitchFamily="34" charset="-120"/>
              </a:rPr>
              <a:t> Leaf Rust, </a:t>
            </a:r>
            <a:r>
              <a:rPr lang="en-US" sz="1750" dirty="0" err="1">
                <a:solidFill>
                  <a:srgbClr val="4C4C4C"/>
                </a:solidFill>
                <a:latin typeface="Noto Serif" pitchFamily="34" charset="0"/>
                <a:ea typeface="Noto Serif" pitchFamily="34" charset="-122"/>
                <a:cs typeface="Noto Serif" pitchFamily="34" charset="-120"/>
              </a:rPr>
              <a:t>Phoma</a:t>
            </a:r>
            <a:r>
              <a:rPr lang="en-US" sz="1750" dirty="0">
                <a:solidFill>
                  <a:srgbClr val="4C4C4C"/>
                </a:solidFill>
                <a:latin typeface="Noto Serif" pitchFamily="34" charset="0"/>
                <a:ea typeface="Noto Serif" pitchFamily="34" charset="-122"/>
                <a:cs typeface="Noto Serif" pitchFamily="34" charset="-120"/>
              </a:rPr>
              <a:t>, Miner, Cercospora, Healthy Leaves</a:t>
            </a:r>
            <a:endParaRPr lang="en-US" sz="1750" dirty="0"/>
          </a:p>
        </p:txBody>
      </p:sp>
      <p:sp>
        <p:nvSpPr>
          <p:cNvPr id="9" name="Text 7"/>
          <p:cNvSpPr/>
          <p:nvPr/>
        </p:nvSpPr>
        <p:spPr>
          <a:xfrm>
            <a:off x="1051084" y="4742347"/>
            <a:ext cx="3681770" cy="1088708"/>
          </a:xfrm>
          <a:prstGeom prst="rect">
            <a:avLst/>
          </a:prstGeom>
          <a:noFill/>
          <a:ln/>
        </p:spPr>
        <p:txBody>
          <a:bodyPr wrap="square" lIns="0" tIns="0" rIns="0" bIns="0" rtlCol="0" anchor="t"/>
          <a:lstStyle/>
          <a:p>
            <a:pPr>
              <a:lnSpc>
                <a:spcPts val="2850"/>
              </a:lnSpc>
            </a:pPr>
            <a:r>
              <a:rPr lang="en-US" sz="1750" b="1" dirty="0">
                <a:solidFill>
                  <a:srgbClr val="4C4C4C"/>
                </a:solidFill>
                <a:latin typeface="Noto Serif" pitchFamily="34" charset="0"/>
                <a:ea typeface="Noto Serif" pitchFamily="34" charset="-122"/>
                <a:cs typeface="Noto Serif" pitchFamily="34" charset="-120"/>
              </a:rPr>
              <a:t>Preprocessing:</a:t>
            </a:r>
            <a:r>
              <a:rPr lang="en-US" sz="1750" dirty="0">
                <a:solidFill>
                  <a:srgbClr val="4C4C4C"/>
                </a:solidFill>
                <a:latin typeface="Noto Serif" pitchFamily="34" charset="0"/>
                <a:ea typeface="Noto Serif" pitchFamily="34" charset="-122"/>
                <a:cs typeface="Noto Serif" pitchFamily="34" charset="-120"/>
              </a:rPr>
              <a:t> Image resizing, normalization, image cleaning, data augmentation</a:t>
            </a:r>
            <a:endParaRPr lang="en-US" sz="1750" dirty="0"/>
          </a:p>
        </p:txBody>
      </p:sp>
      <p:sp>
        <p:nvSpPr>
          <p:cNvPr id="10" name="Text 8"/>
          <p:cNvSpPr/>
          <p:nvPr/>
        </p:nvSpPr>
        <p:spPr>
          <a:xfrm>
            <a:off x="1051084" y="5967143"/>
            <a:ext cx="3681770" cy="725805"/>
          </a:xfrm>
          <a:prstGeom prst="rect">
            <a:avLst/>
          </a:prstGeom>
          <a:noFill/>
          <a:ln/>
        </p:spPr>
        <p:txBody>
          <a:bodyPr wrap="square" lIns="0" tIns="0" rIns="0" bIns="0" rtlCol="0" anchor="t"/>
          <a:lstStyle/>
          <a:p>
            <a:pPr marL="0" indent="0" algn="l">
              <a:lnSpc>
                <a:spcPts val="2850"/>
              </a:lnSpc>
              <a:buNone/>
            </a:pPr>
            <a:r>
              <a:rPr lang="en-US" sz="1750" b="1" dirty="0">
                <a:solidFill>
                  <a:srgbClr val="4C4C4C"/>
                </a:solidFill>
                <a:latin typeface="Noto Serif" pitchFamily="34" charset="0"/>
                <a:ea typeface="Noto Serif" pitchFamily="34" charset="-122"/>
                <a:cs typeface="Noto Serif" pitchFamily="34" charset="-120"/>
              </a:rPr>
              <a:t>Purpose:</a:t>
            </a:r>
            <a:r>
              <a:rPr lang="en-US" sz="1750" dirty="0">
                <a:solidFill>
                  <a:srgbClr val="4C4C4C"/>
                </a:solidFill>
                <a:latin typeface="Noto Serif" pitchFamily="34" charset="0"/>
                <a:ea typeface="Noto Serif" pitchFamily="34" charset="-122"/>
                <a:cs typeface="Noto Serif" pitchFamily="34" charset="-120"/>
              </a:rPr>
              <a:t> Train ResNet50 for accurate disease classification</a:t>
            </a:r>
            <a:endParaRPr lang="en-US" sz="1750" dirty="0"/>
          </a:p>
        </p:txBody>
      </p:sp>
      <p:sp>
        <p:nvSpPr>
          <p:cNvPr id="11" name="Shape 9"/>
          <p:cNvSpPr/>
          <p:nvPr/>
        </p:nvSpPr>
        <p:spPr>
          <a:xfrm>
            <a:off x="5216962" y="1590405"/>
            <a:ext cx="4196358" cy="6438960"/>
          </a:xfrm>
          <a:prstGeom prst="roundRect">
            <a:avLst>
              <a:gd name="adj" fmla="val 227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2" name="Shape 10"/>
          <p:cNvSpPr/>
          <p:nvPr/>
        </p:nvSpPr>
        <p:spPr>
          <a:xfrm>
            <a:off x="5247442" y="1620885"/>
            <a:ext cx="4135398" cy="680442"/>
          </a:xfrm>
          <a:prstGeom prst="roundRect">
            <a:avLst>
              <a:gd name="adj" fmla="val 8626"/>
            </a:avLst>
          </a:prstGeom>
          <a:solidFill>
            <a:srgbClr val="E6DED2">
              <a:alpha val="50000"/>
            </a:srgbClr>
          </a:solidFill>
          <a:ln/>
          <a:effectLst>
            <a:outerShdw dist="20320" dir="2700000" algn="bl" rotWithShape="0">
              <a:srgbClr val="CCC4B8">
                <a:alpha val="100000"/>
              </a:srgbClr>
            </a:outerShdw>
          </a:effectLst>
        </p:spPr>
      </p:sp>
      <p:sp>
        <p:nvSpPr>
          <p:cNvPr id="13" name="Text 11"/>
          <p:cNvSpPr/>
          <p:nvPr/>
        </p:nvSpPr>
        <p:spPr>
          <a:xfrm>
            <a:off x="7145060" y="1744591"/>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000000"/>
                </a:solidFill>
                <a:latin typeface="Noto Serif Medium" pitchFamily="34" charset="0"/>
                <a:ea typeface="Noto Serif Medium" pitchFamily="34" charset="-122"/>
                <a:cs typeface="Noto Serif Medium" pitchFamily="34" charset="-120"/>
              </a:rPr>
              <a:t>2</a:t>
            </a:r>
            <a:endParaRPr lang="en-US" sz="2650" dirty="0"/>
          </a:p>
        </p:txBody>
      </p:sp>
      <p:sp>
        <p:nvSpPr>
          <p:cNvPr id="14" name="Text 12"/>
          <p:cNvSpPr/>
          <p:nvPr/>
        </p:nvSpPr>
        <p:spPr>
          <a:xfrm>
            <a:off x="5474256" y="2528142"/>
            <a:ext cx="3178612"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Environmental Dataset</a:t>
            </a:r>
            <a:endParaRPr lang="en-US" sz="2200" dirty="0"/>
          </a:p>
        </p:txBody>
      </p:sp>
      <p:sp>
        <p:nvSpPr>
          <p:cNvPr id="15" name="Text 13"/>
          <p:cNvSpPr/>
          <p:nvPr/>
        </p:nvSpPr>
        <p:spPr>
          <a:xfrm>
            <a:off x="5474256" y="3018560"/>
            <a:ext cx="3681770" cy="362903"/>
          </a:xfrm>
          <a:prstGeom prst="rect">
            <a:avLst/>
          </a:prstGeom>
          <a:noFill/>
          <a:ln/>
        </p:spPr>
        <p:txBody>
          <a:bodyPr wrap="none" lIns="0" tIns="0" rIns="0" bIns="0" rtlCol="0" anchor="t"/>
          <a:lstStyle/>
          <a:p>
            <a:pPr marL="0" indent="0" algn="l">
              <a:lnSpc>
                <a:spcPts val="2850"/>
              </a:lnSpc>
              <a:buNone/>
            </a:pPr>
            <a:r>
              <a:rPr lang="en-US" sz="1750" b="1" dirty="0">
                <a:solidFill>
                  <a:srgbClr val="4C4C4C"/>
                </a:solidFill>
                <a:latin typeface="Noto Serif" pitchFamily="34" charset="0"/>
                <a:ea typeface="Noto Serif" pitchFamily="34" charset="-122"/>
                <a:cs typeface="Noto Serif" pitchFamily="34" charset="-120"/>
              </a:rPr>
              <a:t>Source:</a:t>
            </a:r>
            <a:r>
              <a:rPr lang="en-US" sz="1750" dirty="0">
                <a:solidFill>
                  <a:srgbClr val="4C4C4C"/>
                </a:solidFill>
                <a:latin typeface="Noto Serif" pitchFamily="34" charset="0"/>
                <a:ea typeface="Noto Serif" pitchFamily="34" charset="-122"/>
                <a:cs typeface="Noto Serif" pitchFamily="34" charset="-120"/>
              </a:rPr>
              <a:t> NASA POWER API</a:t>
            </a:r>
            <a:endParaRPr lang="en-US" sz="1750" dirty="0"/>
          </a:p>
        </p:txBody>
      </p:sp>
      <p:sp>
        <p:nvSpPr>
          <p:cNvPr id="16" name="Text 14"/>
          <p:cNvSpPr/>
          <p:nvPr/>
        </p:nvSpPr>
        <p:spPr>
          <a:xfrm>
            <a:off x="5474256" y="3517551"/>
            <a:ext cx="3681770" cy="725805"/>
          </a:xfrm>
          <a:prstGeom prst="rect">
            <a:avLst/>
          </a:prstGeom>
          <a:noFill/>
          <a:ln/>
        </p:spPr>
        <p:txBody>
          <a:bodyPr wrap="square" lIns="0" tIns="0" rIns="0" bIns="0" rtlCol="0" anchor="t"/>
          <a:lstStyle/>
          <a:p>
            <a:pPr marL="0" indent="0" algn="l">
              <a:lnSpc>
                <a:spcPts val="2850"/>
              </a:lnSpc>
              <a:buNone/>
            </a:pPr>
            <a:r>
              <a:rPr lang="en-US" sz="1750" b="1" dirty="0">
                <a:solidFill>
                  <a:srgbClr val="4C4C4C"/>
                </a:solidFill>
                <a:latin typeface="Noto Serif" pitchFamily="34" charset="0"/>
                <a:ea typeface="Noto Serif" pitchFamily="34" charset="-122"/>
                <a:cs typeface="Noto Serif" pitchFamily="34" charset="-120"/>
              </a:rPr>
              <a:t>Parameters:</a:t>
            </a:r>
            <a:r>
              <a:rPr lang="en-US" sz="1750" dirty="0">
                <a:solidFill>
                  <a:srgbClr val="4C4C4C"/>
                </a:solidFill>
                <a:latin typeface="Noto Serif" pitchFamily="34" charset="0"/>
                <a:ea typeface="Noto Serif" pitchFamily="34" charset="-122"/>
                <a:cs typeface="Noto Serif" pitchFamily="34" charset="-120"/>
              </a:rPr>
              <a:t> Temperature, humidity, rainfall patterns</a:t>
            </a:r>
            <a:endParaRPr lang="en-US" sz="1750" dirty="0"/>
          </a:p>
        </p:txBody>
      </p:sp>
      <p:sp>
        <p:nvSpPr>
          <p:cNvPr id="17" name="Text 15"/>
          <p:cNvSpPr/>
          <p:nvPr/>
        </p:nvSpPr>
        <p:spPr>
          <a:xfrm>
            <a:off x="5474256" y="4379444"/>
            <a:ext cx="3681770" cy="1451610"/>
          </a:xfrm>
          <a:prstGeom prst="rect">
            <a:avLst/>
          </a:prstGeom>
          <a:noFill/>
          <a:ln/>
        </p:spPr>
        <p:txBody>
          <a:bodyPr wrap="square" lIns="0" tIns="0" rIns="0" bIns="0" rtlCol="0" anchor="t"/>
          <a:lstStyle/>
          <a:p>
            <a:pPr marL="0" indent="0" algn="l">
              <a:lnSpc>
                <a:spcPts val="2850"/>
              </a:lnSpc>
              <a:buNone/>
            </a:pPr>
            <a:r>
              <a:rPr lang="en-US" sz="1750" b="1" dirty="0">
                <a:solidFill>
                  <a:srgbClr val="4C4C4C"/>
                </a:solidFill>
                <a:latin typeface="Noto Serif" pitchFamily="34" charset="0"/>
                <a:ea typeface="Noto Serif" pitchFamily="34" charset="-122"/>
                <a:cs typeface="Noto Serif" pitchFamily="34" charset="-120"/>
              </a:rPr>
              <a:t>Purpose:</a:t>
            </a:r>
            <a:r>
              <a:rPr lang="en-US" sz="1750" dirty="0">
                <a:solidFill>
                  <a:srgbClr val="4C4C4C"/>
                </a:solidFill>
                <a:latin typeface="Noto Serif" pitchFamily="34" charset="0"/>
                <a:ea typeface="Noto Serif" pitchFamily="34" charset="-122"/>
                <a:cs typeface="Noto Serif" pitchFamily="34" charset="-120"/>
              </a:rPr>
              <a:t> Provide contextual advisory based on real-time environmental conditions affecting coffee cultivation</a:t>
            </a:r>
            <a:endParaRPr lang="en-US" sz="1750" dirty="0"/>
          </a:p>
        </p:txBody>
      </p:sp>
      <p:sp>
        <p:nvSpPr>
          <p:cNvPr id="18" name="Shape 16"/>
          <p:cNvSpPr/>
          <p:nvPr/>
        </p:nvSpPr>
        <p:spPr>
          <a:xfrm>
            <a:off x="9640133" y="1590405"/>
            <a:ext cx="4196358" cy="6438960"/>
          </a:xfrm>
          <a:prstGeom prst="roundRect">
            <a:avLst>
              <a:gd name="adj" fmla="val 227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9" name="Shape 17"/>
          <p:cNvSpPr/>
          <p:nvPr/>
        </p:nvSpPr>
        <p:spPr>
          <a:xfrm>
            <a:off x="9670613" y="1620885"/>
            <a:ext cx="4135398" cy="680442"/>
          </a:xfrm>
          <a:prstGeom prst="roundRect">
            <a:avLst>
              <a:gd name="adj" fmla="val 8626"/>
            </a:avLst>
          </a:prstGeom>
          <a:solidFill>
            <a:srgbClr val="E6DED2">
              <a:alpha val="50000"/>
            </a:srgbClr>
          </a:solidFill>
          <a:ln/>
          <a:effectLst>
            <a:outerShdw dist="20320" dir="2700000" algn="bl" rotWithShape="0">
              <a:srgbClr val="CCC4B8">
                <a:alpha val="100000"/>
              </a:srgbClr>
            </a:outerShdw>
          </a:effectLst>
        </p:spPr>
      </p:sp>
      <p:sp>
        <p:nvSpPr>
          <p:cNvPr id="20" name="Text 18"/>
          <p:cNvSpPr/>
          <p:nvPr/>
        </p:nvSpPr>
        <p:spPr>
          <a:xfrm>
            <a:off x="11568232" y="1744591"/>
            <a:ext cx="340162" cy="425291"/>
          </a:xfrm>
          <a:prstGeom prst="rect">
            <a:avLst/>
          </a:prstGeom>
          <a:noFill/>
          <a:ln/>
        </p:spPr>
        <p:txBody>
          <a:bodyPr wrap="none" lIns="0" tIns="0" rIns="0" bIns="0" rtlCol="0" anchor="t"/>
          <a:lstStyle/>
          <a:p>
            <a:pPr marL="0" indent="0" algn="l">
              <a:lnSpc>
                <a:spcPts val="2650"/>
              </a:lnSpc>
              <a:buNone/>
            </a:pPr>
            <a:r>
              <a:rPr lang="en-US" sz="2650" dirty="0">
                <a:solidFill>
                  <a:srgbClr val="000000"/>
                </a:solidFill>
                <a:latin typeface="Noto Serif Medium" pitchFamily="34" charset="0"/>
                <a:ea typeface="Noto Serif Medium" pitchFamily="34" charset="-122"/>
                <a:cs typeface="Noto Serif Medium" pitchFamily="34" charset="-120"/>
              </a:rPr>
              <a:t>3</a:t>
            </a:r>
            <a:endParaRPr lang="en-US" sz="2650" dirty="0"/>
          </a:p>
        </p:txBody>
      </p:sp>
      <p:sp>
        <p:nvSpPr>
          <p:cNvPr id="21" name="Text 19"/>
          <p:cNvSpPr/>
          <p:nvPr/>
        </p:nvSpPr>
        <p:spPr>
          <a:xfrm>
            <a:off x="9897427" y="252814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Elevation Data</a:t>
            </a:r>
            <a:endParaRPr lang="en-US" sz="2200" dirty="0"/>
          </a:p>
        </p:txBody>
      </p:sp>
      <p:sp>
        <p:nvSpPr>
          <p:cNvPr id="22" name="Text 20"/>
          <p:cNvSpPr/>
          <p:nvPr/>
        </p:nvSpPr>
        <p:spPr>
          <a:xfrm>
            <a:off x="9897427" y="3018560"/>
            <a:ext cx="3681770" cy="362903"/>
          </a:xfrm>
          <a:prstGeom prst="rect">
            <a:avLst/>
          </a:prstGeom>
          <a:noFill/>
          <a:ln/>
        </p:spPr>
        <p:txBody>
          <a:bodyPr wrap="none" lIns="0" tIns="0" rIns="0" bIns="0" rtlCol="0" anchor="t"/>
          <a:lstStyle/>
          <a:p>
            <a:pPr marL="0" indent="0" algn="l">
              <a:lnSpc>
                <a:spcPts val="2850"/>
              </a:lnSpc>
              <a:buNone/>
            </a:pPr>
            <a:r>
              <a:rPr lang="en-US" sz="1750" b="1" dirty="0">
                <a:solidFill>
                  <a:srgbClr val="4C4C4C"/>
                </a:solidFill>
                <a:latin typeface="Noto Serif" pitchFamily="34" charset="0"/>
                <a:ea typeface="Noto Serif" pitchFamily="34" charset="-122"/>
                <a:cs typeface="Noto Serif" pitchFamily="34" charset="-120"/>
              </a:rPr>
              <a:t>Source:</a:t>
            </a:r>
            <a:r>
              <a:rPr lang="en-US" sz="1750" dirty="0">
                <a:solidFill>
                  <a:srgbClr val="4C4C4C"/>
                </a:solidFill>
                <a:latin typeface="Noto Serif" pitchFamily="34" charset="0"/>
                <a:ea typeface="Noto Serif" pitchFamily="34" charset="-122"/>
                <a:cs typeface="Noto Serif" pitchFamily="34" charset="-120"/>
              </a:rPr>
              <a:t> Open Elevation API</a:t>
            </a:r>
            <a:endParaRPr lang="en-US" sz="1750" dirty="0"/>
          </a:p>
        </p:txBody>
      </p:sp>
      <p:sp>
        <p:nvSpPr>
          <p:cNvPr id="23" name="Text 21"/>
          <p:cNvSpPr/>
          <p:nvPr/>
        </p:nvSpPr>
        <p:spPr>
          <a:xfrm>
            <a:off x="9897427" y="3517551"/>
            <a:ext cx="3681770" cy="725805"/>
          </a:xfrm>
          <a:prstGeom prst="rect">
            <a:avLst/>
          </a:prstGeom>
          <a:noFill/>
          <a:ln/>
        </p:spPr>
        <p:txBody>
          <a:bodyPr wrap="square" lIns="0" tIns="0" rIns="0" bIns="0" rtlCol="0" anchor="t"/>
          <a:lstStyle/>
          <a:p>
            <a:pPr marL="0" indent="0" algn="l">
              <a:lnSpc>
                <a:spcPts val="2850"/>
              </a:lnSpc>
              <a:buNone/>
            </a:pPr>
            <a:r>
              <a:rPr lang="en-US" sz="1750" b="1" dirty="0">
                <a:solidFill>
                  <a:srgbClr val="4C4C4C"/>
                </a:solidFill>
                <a:latin typeface="Noto Serif" pitchFamily="34" charset="0"/>
                <a:ea typeface="Noto Serif" pitchFamily="34" charset="-122"/>
                <a:cs typeface="Noto Serif" pitchFamily="34" charset="-120"/>
              </a:rPr>
              <a:t>Data:</a:t>
            </a:r>
            <a:r>
              <a:rPr lang="en-US" sz="1750" dirty="0">
                <a:solidFill>
                  <a:srgbClr val="4C4C4C"/>
                </a:solidFill>
                <a:latin typeface="Noto Serif" pitchFamily="34" charset="0"/>
                <a:ea typeface="Noto Serif" pitchFamily="34" charset="-122"/>
                <a:cs typeface="Noto Serif" pitchFamily="34" charset="-120"/>
              </a:rPr>
              <a:t> Region-specific altitude values</a:t>
            </a:r>
            <a:endParaRPr lang="en-US" sz="1750" dirty="0"/>
          </a:p>
        </p:txBody>
      </p:sp>
      <p:sp>
        <p:nvSpPr>
          <p:cNvPr id="24" name="Text 22"/>
          <p:cNvSpPr/>
          <p:nvPr/>
        </p:nvSpPr>
        <p:spPr>
          <a:xfrm>
            <a:off x="9897427" y="4379444"/>
            <a:ext cx="3681770" cy="1088708"/>
          </a:xfrm>
          <a:prstGeom prst="rect">
            <a:avLst/>
          </a:prstGeom>
          <a:noFill/>
          <a:ln/>
        </p:spPr>
        <p:txBody>
          <a:bodyPr wrap="square" lIns="0" tIns="0" rIns="0" bIns="0" rtlCol="0" anchor="t"/>
          <a:lstStyle/>
          <a:p>
            <a:pPr marL="0" indent="0" algn="l">
              <a:lnSpc>
                <a:spcPts val="2850"/>
              </a:lnSpc>
              <a:buNone/>
            </a:pPr>
            <a:r>
              <a:rPr lang="en-US" sz="1750" b="1" dirty="0">
                <a:solidFill>
                  <a:srgbClr val="4C4C4C"/>
                </a:solidFill>
                <a:latin typeface="Noto Serif" pitchFamily="34" charset="0"/>
                <a:ea typeface="Noto Serif" pitchFamily="34" charset="-122"/>
                <a:cs typeface="Noto Serif" pitchFamily="34" charset="-120"/>
              </a:rPr>
              <a:t>Purpose:</a:t>
            </a:r>
            <a:r>
              <a:rPr lang="en-US" sz="1750" dirty="0">
                <a:solidFill>
                  <a:srgbClr val="4C4C4C"/>
                </a:solidFill>
                <a:latin typeface="Noto Serif" pitchFamily="34" charset="0"/>
                <a:ea typeface="Noto Serif" pitchFamily="34" charset="-122"/>
                <a:cs typeface="Noto Serif" pitchFamily="34" charset="-120"/>
              </a:rPr>
              <a:t> Refine disease advisory based on altitude influence on coffee plant susceptibility</a:t>
            </a:r>
            <a:endParaRPr lang="en-US" sz="1750" dirty="0"/>
          </a:p>
        </p:txBody>
      </p:sp>
      <p:sp>
        <p:nvSpPr>
          <p:cNvPr id="25" name="Rectangle 24">
            <a:extLst>
              <a:ext uri="{FF2B5EF4-FFF2-40B4-BE49-F238E27FC236}">
                <a16:creationId xmlns:a16="http://schemas.microsoft.com/office/drawing/2014/main" id="{C95036D0-BD43-70C8-F55D-5830E76ED6E0}"/>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243F016B-0F0B-8C72-6196-B870011FE8B8}"/>
              </a:ext>
            </a:extLst>
          </p:cNvPr>
          <p:cNvSpPr txBox="1"/>
          <p:nvPr/>
        </p:nvSpPr>
        <p:spPr>
          <a:xfrm>
            <a:off x="984273" y="6829036"/>
            <a:ext cx="3975395" cy="1138773"/>
          </a:xfrm>
          <a:prstGeom prst="rect">
            <a:avLst/>
          </a:prstGeom>
          <a:noFill/>
        </p:spPr>
        <p:txBody>
          <a:bodyPr wrap="square">
            <a:spAutoFit/>
          </a:bodyPr>
          <a:lstStyle/>
          <a:p>
            <a:r>
              <a:rPr lang="en-US" b="1" dirty="0">
                <a:solidFill>
                  <a:srgbClr val="4C4C4C"/>
                </a:solidFill>
                <a:latin typeface="Noto Serif" pitchFamily="34" charset="0"/>
                <a:ea typeface="Noto Serif" pitchFamily="34" charset="-122"/>
                <a:cs typeface="Noto Serif" pitchFamily="34" charset="-120"/>
              </a:rPr>
              <a:t>L</a:t>
            </a:r>
            <a:r>
              <a:rPr lang="en-US" sz="1800" b="1" dirty="0">
                <a:solidFill>
                  <a:srgbClr val="4C4C4C"/>
                </a:solidFill>
                <a:latin typeface="Noto Serif" pitchFamily="34" charset="0"/>
                <a:ea typeface="Noto Serif" pitchFamily="34" charset="-122"/>
                <a:cs typeface="Noto Serif" pitchFamily="34" charset="-120"/>
              </a:rPr>
              <a:t>ink: </a:t>
            </a:r>
            <a:r>
              <a:rPr lang="en-US" sz="1600" dirty="0">
                <a:latin typeface="Noto Serif" panose="02020502060505020204" pitchFamily="18" charset="0"/>
                <a:ea typeface="Noto Serif" panose="02020502060505020204" pitchFamily="18" charset="0"/>
                <a:cs typeface="Noto Serif" panose="02020502060505020204" pitchFamily="18" charset="0"/>
                <a:hlinkClick r:id="rId3"/>
              </a:rPr>
              <a:t>https://www.kaggle.com/datasets/noamaanabdulazeem/jmuben-coffee-dataset</a:t>
            </a:r>
            <a:endParaRPr lang="en-US" sz="1600" dirty="0">
              <a:latin typeface="Noto Serif" panose="02020502060505020204" pitchFamily="18" charset="0"/>
              <a:ea typeface="Noto Serif" panose="02020502060505020204" pitchFamily="18" charset="0"/>
              <a:cs typeface="Noto Serif" panose="02020502060505020204" pitchFamily="18" charset="0"/>
            </a:endParaRPr>
          </a:p>
          <a:p>
            <a:r>
              <a:rPr lang="en-US" sz="1800" b="1" dirty="0">
                <a:solidFill>
                  <a:srgbClr val="4C4C4C"/>
                </a:solidFill>
                <a:latin typeface="Noto Serif" pitchFamily="34" charset="0"/>
                <a:ea typeface="Noto Serif" pitchFamily="34" charset="-122"/>
                <a:cs typeface="Noto Serif" pitchFamily="34" charset="-120"/>
              </a:rPr>
              <a:t> </a:t>
            </a:r>
            <a:endParaRPr lang="en-US" dirty="0"/>
          </a:p>
        </p:txBody>
      </p:sp>
      <p:sp>
        <p:nvSpPr>
          <p:cNvPr id="31" name="TextBox 30">
            <a:extLst>
              <a:ext uri="{FF2B5EF4-FFF2-40B4-BE49-F238E27FC236}">
                <a16:creationId xmlns:a16="http://schemas.microsoft.com/office/drawing/2014/main" id="{7D9AE348-2D69-9D8B-F765-1824E4117A9F}"/>
              </a:ext>
            </a:extLst>
          </p:cNvPr>
          <p:cNvSpPr txBox="1"/>
          <p:nvPr/>
        </p:nvSpPr>
        <p:spPr>
          <a:xfrm>
            <a:off x="5417462" y="5854067"/>
            <a:ext cx="3681770" cy="923330"/>
          </a:xfrm>
          <a:prstGeom prst="rect">
            <a:avLst/>
          </a:prstGeom>
          <a:noFill/>
        </p:spPr>
        <p:txBody>
          <a:bodyPr wrap="square">
            <a:spAutoFit/>
          </a:bodyPr>
          <a:lstStyle/>
          <a:p>
            <a:r>
              <a:rPr lang="en-US" b="1" dirty="0">
                <a:solidFill>
                  <a:srgbClr val="4C4C4C"/>
                </a:solidFill>
                <a:latin typeface="Noto Serif" pitchFamily="34" charset="0"/>
                <a:ea typeface="Noto Serif" pitchFamily="34" charset="-122"/>
                <a:cs typeface="Noto Serif" pitchFamily="34" charset="-120"/>
              </a:rPr>
              <a:t>L</a:t>
            </a:r>
            <a:r>
              <a:rPr lang="en-US" sz="2000" b="1" dirty="0">
                <a:solidFill>
                  <a:srgbClr val="4C4C4C"/>
                </a:solidFill>
                <a:latin typeface="Noto Serif" pitchFamily="34" charset="0"/>
                <a:ea typeface="Noto Serif" pitchFamily="34" charset="-122"/>
                <a:cs typeface="Noto Serif" pitchFamily="34" charset="-120"/>
              </a:rPr>
              <a:t>ink: </a:t>
            </a:r>
            <a:r>
              <a:rPr lang="en-US" sz="1600" dirty="0">
                <a:latin typeface="Noto Serif" panose="02020502060505020204" pitchFamily="18" charset="0"/>
                <a:ea typeface="Noto Serif" panose="02020502060505020204" pitchFamily="18" charset="0"/>
                <a:cs typeface="Noto Serif" panose="02020502060505020204" pitchFamily="18" charset="0"/>
                <a:hlinkClick r:id="rId4"/>
              </a:rPr>
              <a:t>https://power.larc.nasa.gov/docs/services/api/temporal/daily/</a:t>
            </a:r>
            <a:r>
              <a:rPr lang="en-US" b="1" dirty="0">
                <a:solidFill>
                  <a:srgbClr val="4C4C4C"/>
                </a:solidFill>
                <a:latin typeface="Noto Serif" pitchFamily="34" charset="0"/>
                <a:ea typeface="Noto Serif" pitchFamily="34" charset="-122"/>
                <a:cs typeface="Noto Serif" pitchFamily="34" charset="-120"/>
                <a:hlinkClick r:id="rId4"/>
              </a:rPr>
              <a:t> </a:t>
            </a:r>
            <a:endParaRPr lang="en-US" dirty="0"/>
          </a:p>
        </p:txBody>
      </p:sp>
      <p:sp>
        <p:nvSpPr>
          <p:cNvPr id="33" name="TextBox 32">
            <a:extLst>
              <a:ext uri="{FF2B5EF4-FFF2-40B4-BE49-F238E27FC236}">
                <a16:creationId xmlns:a16="http://schemas.microsoft.com/office/drawing/2014/main" id="{705361B7-0036-02B3-3020-103A96F0EC1D}"/>
              </a:ext>
            </a:extLst>
          </p:cNvPr>
          <p:cNvSpPr txBox="1"/>
          <p:nvPr/>
        </p:nvSpPr>
        <p:spPr>
          <a:xfrm>
            <a:off x="9840634" y="5567152"/>
            <a:ext cx="3805493" cy="954107"/>
          </a:xfrm>
          <a:prstGeom prst="rect">
            <a:avLst/>
          </a:prstGeom>
          <a:noFill/>
        </p:spPr>
        <p:txBody>
          <a:bodyPr wrap="square">
            <a:spAutoFit/>
          </a:bodyPr>
          <a:lstStyle/>
          <a:p>
            <a:r>
              <a:rPr lang="en-US" b="1" dirty="0">
                <a:solidFill>
                  <a:srgbClr val="4C4C4C"/>
                </a:solidFill>
                <a:latin typeface="Noto Serif" pitchFamily="34" charset="0"/>
                <a:ea typeface="Noto Serif" pitchFamily="34" charset="-122"/>
                <a:cs typeface="Noto Serif" pitchFamily="34" charset="-120"/>
              </a:rPr>
              <a:t>L</a:t>
            </a:r>
            <a:r>
              <a:rPr lang="en-US" sz="2000" b="1" dirty="0">
                <a:solidFill>
                  <a:srgbClr val="4C4C4C"/>
                </a:solidFill>
                <a:latin typeface="Noto Serif" pitchFamily="34" charset="0"/>
                <a:ea typeface="Noto Serif" pitchFamily="34" charset="-122"/>
                <a:cs typeface="Noto Serif" pitchFamily="34" charset="-120"/>
              </a:rPr>
              <a:t>ink: </a:t>
            </a:r>
            <a:r>
              <a:rPr lang="en-US" sz="1600" dirty="0">
                <a:latin typeface="Noto Serif" panose="02020502060505020204" pitchFamily="18" charset="0"/>
                <a:ea typeface="Noto Serif" panose="02020502060505020204" pitchFamily="18" charset="0"/>
                <a:cs typeface="Noto Serif" panose="02020502060505020204" pitchFamily="18" charset="0"/>
                <a:hlinkClick r:id="rId5"/>
              </a:rPr>
              <a:t>https://github.com/Jorl17/open-elevation/blob/master/docs/api.md</a:t>
            </a:r>
            <a:r>
              <a:rPr lang="en-US" sz="2000" b="1" dirty="0">
                <a:solidFill>
                  <a:srgbClr val="4C4C4C"/>
                </a:solidFill>
                <a:latin typeface="Noto Serif" pitchFamily="34" charset="0"/>
                <a:ea typeface="Noto Serif" pitchFamily="34" charset="-122"/>
                <a:cs typeface="Noto Serif" pitchFamily="34" charset="-120"/>
                <a:hlinkClick r:id="rId5"/>
              </a:rPr>
              <a:t> </a:t>
            </a:r>
            <a:endParaRPr lang="en-US" dirty="0"/>
          </a:p>
        </p:txBody>
      </p:sp>
    </p:spTree>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793790" y="1089396"/>
            <a:ext cx="12100441"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Architecture Diagram</a:t>
            </a:r>
            <a:endParaRPr lang="en-US" sz="4450" dirty="0"/>
          </a:p>
        </p:txBody>
      </p:sp>
      <p:sp>
        <p:nvSpPr>
          <p:cNvPr id="5" name="Text 3"/>
          <p:cNvSpPr/>
          <p:nvPr/>
        </p:nvSpPr>
        <p:spPr>
          <a:xfrm>
            <a:off x="793790" y="4353401"/>
            <a:ext cx="13042821"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6" name="Rectangle 5">
            <a:extLst>
              <a:ext uri="{FF2B5EF4-FFF2-40B4-BE49-F238E27FC236}">
                <a16:creationId xmlns:a16="http://schemas.microsoft.com/office/drawing/2014/main" id="{64DA8577-00F1-7D2F-AB56-377AAA28444C}"/>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7C0B6B36-F2AD-D199-8553-2A8B5F97DD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89" y="2120399"/>
            <a:ext cx="12399579" cy="3511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055733"/>
            <a:ext cx="10177820"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Module Design &amp; Technology Choices</a:t>
            </a:r>
            <a:endParaRPr lang="en-US" sz="4450" dirty="0"/>
          </a:p>
        </p:txBody>
      </p:sp>
      <p:sp>
        <p:nvSpPr>
          <p:cNvPr id="3" name="Shape 1"/>
          <p:cNvSpPr/>
          <p:nvPr/>
        </p:nvSpPr>
        <p:spPr>
          <a:xfrm>
            <a:off x="793790" y="3218140"/>
            <a:ext cx="6407944" cy="2955608"/>
          </a:xfrm>
          <a:prstGeom prst="roundRect">
            <a:avLst>
              <a:gd name="adj" fmla="val 495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4" name="Shape 2"/>
          <p:cNvSpPr/>
          <p:nvPr/>
        </p:nvSpPr>
        <p:spPr>
          <a:xfrm>
            <a:off x="763310" y="3218140"/>
            <a:ext cx="121920" cy="2955608"/>
          </a:xfrm>
          <a:prstGeom prst="roundRect">
            <a:avLst>
              <a:gd name="adj" fmla="val 78139"/>
            </a:avLst>
          </a:prstGeom>
          <a:solidFill>
            <a:srgbClr val="E6DED2"/>
          </a:solidFill>
          <a:ln/>
        </p:spPr>
      </p:sp>
      <p:sp>
        <p:nvSpPr>
          <p:cNvPr id="5" name="Text 3"/>
          <p:cNvSpPr/>
          <p:nvPr/>
        </p:nvSpPr>
        <p:spPr>
          <a:xfrm>
            <a:off x="2120027" y="3475434"/>
            <a:ext cx="3846790"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Module 1: Disease Detection</a:t>
            </a:r>
            <a:endParaRPr lang="en-US" sz="2200" dirty="0"/>
          </a:p>
        </p:txBody>
      </p:sp>
      <p:sp>
        <p:nvSpPr>
          <p:cNvPr id="6" name="Text 4"/>
          <p:cNvSpPr/>
          <p:nvPr/>
        </p:nvSpPr>
        <p:spPr>
          <a:xfrm>
            <a:off x="1142524" y="3965853"/>
            <a:ext cx="5801916" cy="362903"/>
          </a:xfrm>
          <a:prstGeom prst="rect">
            <a:avLst/>
          </a:prstGeom>
          <a:noFill/>
          <a:ln/>
        </p:spPr>
        <p:txBody>
          <a:bodyPr wrap="none" lIns="0" tIns="0" rIns="0" bIns="0" rtlCol="0" anchor="t"/>
          <a:lstStyle/>
          <a:p>
            <a:pPr marL="0" indent="0" algn="ctr">
              <a:lnSpc>
                <a:spcPts val="2850"/>
              </a:lnSpc>
              <a:buNone/>
            </a:pPr>
            <a:r>
              <a:rPr lang="en-US" sz="1750" b="1" dirty="0">
                <a:solidFill>
                  <a:srgbClr val="4C4C4C"/>
                </a:solidFill>
                <a:latin typeface="Noto Serif" pitchFamily="34" charset="0"/>
                <a:ea typeface="Noto Serif" pitchFamily="34" charset="-122"/>
                <a:cs typeface="Noto Serif" pitchFamily="34" charset="-120"/>
              </a:rPr>
              <a:t>Tech:</a:t>
            </a:r>
            <a:r>
              <a:rPr lang="en-US" sz="1750" dirty="0">
                <a:solidFill>
                  <a:srgbClr val="4C4C4C"/>
                </a:solidFill>
                <a:latin typeface="Noto Serif" pitchFamily="34" charset="0"/>
                <a:ea typeface="Noto Serif" pitchFamily="34" charset="-122"/>
                <a:cs typeface="Noto Serif" pitchFamily="34" charset="-120"/>
              </a:rPr>
              <a:t> ResNet50, FastAPI, Streamlit</a:t>
            </a:r>
            <a:endParaRPr lang="en-US" sz="1750" dirty="0"/>
          </a:p>
        </p:txBody>
      </p:sp>
      <p:sp>
        <p:nvSpPr>
          <p:cNvPr id="7" name="Text 5"/>
          <p:cNvSpPr/>
          <p:nvPr/>
        </p:nvSpPr>
        <p:spPr>
          <a:xfrm>
            <a:off x="1142524" y="4464844"/>
            <a:ext cx="5801916" cy="1451610"/>
          </a:xfrm>
          <a:prstGeom prst="rect">
            <a:avLst/>
          </a:prstGeom>
          <a:noFill/>
          <a:ln/>
        </p:spPr>
        <p:txBody>
          <a:bodyPr wrap="square" lIns="0" tIns="0" rIns="0" bIns="0" rtlCol="0" anchor="t"/>
          <a:lstStyle/>
          <a:p>
            <a:pPr marL="0" indent="0" algn="ctr">
              <a:lnSpc>
                <a:spcPts val="2850"/>
              </a:lnSpc>
              <a:buNone/>
            </a:pPr>
            <a:r>
              <a:rPr lang="en-US" sz="1750" b="1" dirty="0">
                <a:solidFill>
                  <a:srgbClr val="4C4C4C"/>
                </a:solidFill>
                <a:latin typeface="Noto Serif" pitchFamily="34" charset="0"/>
                <a:ea typeface="Noto Serif" pitchFamily="34" charset="-122"/>
                <a:cs typeface="Noto Serif" pitchFamily="34" charset="-120"/>
              </a:rPr>
              <a:t>Why:</a:t>
            </a:r>
            <a:r>
              <a:rPr lang="en-US" sz="1750" dirty="0">
                <a:solidFill>
                  <a:srgbClr val="4C4C4C"/>
                </a:solidFill>
                <a:latin typeface="Noto Serif" pitchFamily="34" charset="0"/>
                <a:ea typeface="Noto Serif" pitchFamily="34" charset="-122"/>
                <a:cs typeface="Noto Serif" pitchFamily="34" charset="-120"/>
              </a:rPr>
              <a:t> ResNet50 ensures high-accuracy classification through deep feature extraction. FastAPI enables fast model deployment, while Streamlit provides an intuitive interface for real-time predictions.</a:t>
            </a:r>
            <a:endParaRPr lang="en-US" sz="1750" dirty="0"/>
          </a:p>
        </p:txBody>
      </p:sp>
      <p:sp>
        <p:nvSpPr>
          <p:cNvPr id="8" name="Shape 6"/>
          <p:cNvSpPr/>
          <p:nvPr/>
        </p:nvSpPr>
        <p:spPr>
          <a:xfrm>
            <a:off x="7428548" y="3218140"/>
            <a:ext cx="6408063" cy="2955608"/>
          </a:xfrm>
          <a:prstGeom prst="roundRect">
            <a:avLst>
              <a:gd name="adj" fmla="val 495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9" name="Shape 7"/>
          <p:cNvSpPr/>
          <p:nvPr/>
        </p:nvSpPr>
        <p:spPr>
          <a:xfrm>
            <a:off x="7398067" y="3218140"/>
            <a:ext cx="121920" cy="2955608"/>
          </a:xfrm>
          <a:prstGeom prst="roundRect">
            <a:avLst>
              <a:gd name="adj" fmla="val 78139"/>
            </a:avLst>
          </a:prstGeom>
          <a:solidFill>
            <a:srgbClr val="E6DED2"/>
          </a:solidFill>
          <a:ln/>
        </p:spPr>
      </p:sp>
      <p:sp>
        <p:nvSpPr>
          <p:cNvPr id="10" name="Text 8"/>
          <p:cNvSpPr/>
          <p:nvPr/>
        </p:nvSpPr>
        <p:spPr>
          <a:xfrm>
            <a:off x="8635484" y="3475434"/>
            <a:ext cx="4085630"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Module 2: AI Advisory System</a:t>
            </a:r>
            <a:endParaRPr lang="en-US" sz="2200" dirty="0"/>
          </a:p>
        </p:txBody>
      </p:sp>
      <p:sp>
        <p:nvSpPr>
          <p:cNvPr id="11" name="Text 9"/>
          <p:cNvSpPr/>
          <p:nvPr/>
        </p:nvSpPr>
        <p:spPr>
          <a:xfrm>
            <a:off x="7777282" y="3965853"/>
            <a:ext cx="5802035" cy="362903"/>
          </a:xfrm>
          <a:prstGeom prst="rect">
            <a:avLst/>
          </a:prstGeom>
          <a:noFill/>
          <a:ln/>
        </p:spPr>
        <p:txBody>
          <a:bodyPr wrap="none" lIns="0" tIns="0" rIns="0" bIns="0" rtlCol="0" anchor="t"/>
          <a:lstStyle/>
          <a:p>
            <a:pPr marL="0" indent="0" algn="ctr">
              <a:lnSpc>
                <a:spcPts val="2850"/>
              </a:lnSpc>
              <a:buNone/>
            </a:pPr>
            <a:r>
              <a:rPr lang="en-US" sz="1750" b="1" dirty="0">
                <a:solidFill>
                  <a:srgbClr val="4C4C4C"/>
                </a:solidFill>
                <a:latin typeface="Noto Serif" pitchFamily="34" charset="0"/>
                <a:ea typeface="Noto Serif" pitchFamily="34" charset="-122"/>
                <a:cs typeface="Noto Serif" pitchFamily="34" charset="-120"/>
              </a:rPr>
              <a:t>Tech:</a:t>
            </a:r>
            <a:r>
              <a:rPr lang="en-US" sz="1750" dirty="0">
                <a:solidFill>
                  <a:srgbClr val="4C4C4C"/>
                </a:solidFill>
                <a:latin typeface="Noto Serif" pitchFamily="34" charset="0"/>
                <a:ea typeface="Noto Serif" pitchFamily="34" charset="-122"/>
                <a:cs typeface="Noto Serif" pitchFamily="34" charset="-120"/>
              </a:rPr>
              <a:t> GPT, FAISS, KG</a:t>
            </a:r>
            <a:endParaRPr lang="en-US" sz="1750" dirty="0"/>
          </a:p>
        </p:txBody>
      </p:sp>
      <p:sp>
        <p:nvSpPr>
          <p:cNvPr id="12" name="Text 10"/>
          <p:cNvSpPr/>
          <p:nvPr/>
        </p:nvSpPr>
        <p:spPr>
          <a:xfrm>
            <a:off x="7777282" y="4512138"/>
            <a:ext cx="5802035" cy="1451610"/>
          </a:xfrm>
          <a:prstGeom prst="rect">
            <a:avLst/>
          </a:prstGeom>
          <a:noFill/>
          <a:ln/>
        </p:spPr>
        <p:txBody>
          <a:bodyPr wrap="square" lIns="0" tIns="0" rIns="0" bIns="0" rtlCol="0" anchor="t"/>
          <a:lstStyle/>
          <a:p>
            <a:pPr marL="0" indent="0" algn="ctr">
              <a:lnSpc>
                <a:spcPts val="2850"/>
              </a:lnSpc>
              <a:buNone/>
            </a:pPr>
            <a:r>
              <a:rPr lang="en-US" sz="1750" b="1" dirty="0">
                <a:solidFill>
                  <a:srgbClr val="4C4C4C"/>
                </a:solidFill>
                <a:latin typeface="Noto Serif" pitchFamily="34" charset="0"/>
                <a:ea typeface="Noto Serif" pitchFamily="34" charset="-122"/>
                <a:cs typeface="Noto Serif" pitchFamily="34" charset="-120"/>
              </a:rPr>
              <a:t>GPT: </a:t>
            </a:r>
            <a:r>
              <a:rPr lang="en-US" sz="1750" dirty="0">
                <a:solidFill>
                  <a:srgbClr val="4C4C4C"/>
                </a:solidFill>
                <a:latin typeface="Noto Serif" pitchFamily="34" charset="0"/>
                <a:ea typeface="Noto Serif" pitchFamily="34" charset="-122"/>
                <a:cs typeface="Noto Serif" pitchFamily="34" charset="-120"/>
              </a:rPr>
              <a:t>Generates context-aware advisories.</a:t>
            </a:r>
          </a:p>
          <a:p>
            <a:pPr marL="0" indent="0" algn="ctr">
              <a:lnSpc>
                <a:spcPts val="2850"/>
              </a:lnSpc>
              <a:buNone/>
            </a:pPr>
            <a:r>
              <a:rPr lang="en-US" sz="1750" b="1" dirty="0">
                <a:solidFill>
                  <a:srgbClr val="4C4C4C"/>
                </a:solidFill>
                <a:latin typeface="Noto Serif" pitchFamily="34" charset="0"/>
                <a:ea typeface="Noto Serif" pitchFamily="34" charset="-122"/>
                <a:cs typeface="Noto Serif" pitchFamily="34" charset="-120"/>
              </a:rPr>
              <a:t>FAISS(RAG): </a:t>
            </a:r>
            <a:r>
              <a:rPr lang="en-US" sz="1750" dirty="0">
                <a:solidFill>
                  <a:srgbClr val="4C4C4C"/>
                </a:solidFill>
                <a:latin typeface="Noto Serif" pitchFamily="34" charset="0"/>
                <a:ea typeface="Noto Serif" pitchFamily="34" charset="-122"/>
                <a:cs typeface="Noto Serif" pitchFamily="34" charset="-120"/>
              </a:rPr>
              <a:t>Semantic Search for RAG functionality.</a:t>
            </a:r>
          </a:p>
          <a:p>
            <a:pPr marL="0" indent="0" algn="ctr">
              <a:lnSpc>
                <a:spcPts val="2850"/>
              </a:lnSpc>
              <a:buNone/>
            </a:pPr>
            <a:r>
              <a:rPr lang="en-US" sz="1750" b="1" dirty="0">
                <a:solidFill>
                  <a:srgbClr val="4C4C4C"/>
                </a:solidFill>
                <a:latin typeface="Noto Serif" pitchFamily="34" charset="0"/>
                <a:ea typeface="Noto Serif" pitchFamily="34" charset="-122"/>
                <a:cs typeface="Noto Serif" pitchFamily="34" charset="-120"/>
              </a:rPr>
              <a:t>KG(Neo4j): </a:t>
            </a:r>
            <a:r>
              <a:rPr lang="en-US" sz="1750" dirty="0">
                <a:solidFill>
                  <a:srgbClr val="4C4C4C"/>
                </a:solidFill>
                <a:latin typeface="Noto Serif" pitchFamily="34" charset="0"/>
                <a:ea typeface="Noto Serif" pitchFamily="34" charset="-122"/>
                <a:cs typeface="Noto Serif" pitchFamily="34" charset="-120"/>
              </a:rPr>
              <a:t>Shows relation between disease, symptoms and environmental data.</a:t>
            </a:r>
            <a:endParaRPr lang="en-US" sz="1750" b="1" dirty="0"/>
          </a:p>
        </p:txBody>
      </p:sp>
      <p:sp>
        <p:nvSpPr>
          <p:cNvPr id="13" name="Rectangle 12">
            <a:extLst>
              <a:ext uri="{FF2B5EF4-FFF2-40B4-BE49-F238E27FC236}">
                <a16:creationId xmlns:a16="http://schemas.microsoft.com/office/drawing/2014/main" id="{CB03C513-67CB-DA1D-270E-8D44896E9F76}"/>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701403"/>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Module Design &amp; Technology Choices(Continued)</a:t>
            </a:r>
            <a:endParaRPr lang="en-US" sz="4450" dirty="0"/>
          </a:p>
        </p:txBody>
      </p:sp>
      <p:sp>
        <p:nvSpPr>
          <p:cNvPr id="3" name="Shape 1"/>
          <p:cNvSpPr/>
          <p:nvPr/>
        </p:nvSpPr>
        <p:spPr>
          <a:xfrm>
            <a:off x="793790" y="3572589"/>
            <a:ext cx="6407944" cy="2955608"/>
          </a:xfrm>
          <a:prstGeom prst="roundRect">
            <a:avLst>
              <a:gd name="adj" fmla="val 495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4" name="Shape 2"/>
          <p:cNvSpPr/>
          <p:nvPr/>
        </p:nvSpPr>
        <p:spPr>
          <a:xfrm>
            <a:off x="763310" y="3572589"/>
            <a:ext cx="121920" cy="2955608"/>
          </a:xfrm>
          <a:prstGeom prst="roundRect">
            <a:avLst>
              <a:gd name="adj" fmla="val 78139"/>
            </a:avLst>
          </a:prstGeom>
          <a:solidFill>
            <a:srgbClr val="E6DED2"/>
          </a:solidFill>
          <a:ln/>
        </p:spPr>
      </p:sp>
      <p:sp>
        <p:nvSpPr>
          <p:cNvPr id="5" name="Text 3"/>
          <p:cNvSpPr/>
          <p:nvPr/>
        </p:nvSpPr>
        <p:spPr>
          <a:xfrm>
            <a:off x="2129076" y="3829883"/>
            <a:ext cx="3828693"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Module 3: Chatbot Interface</a:t>
            </a:r>
            <a:endParaRPr lang="en-US" sz="2200" dirty="0"/>
          </a:p>
        </p:txBody>
      </p:sp>
      <p:sp>
        <p:nvSpPr>
          <p:cNvPr id="6" name="Text 4"/>
          <p:cNvSpPr/>
          <p:nvPr/>
        </p:nvSpPr>
        <p:spPr>
          <a:xfrm>
            <a:off x="1142524" y="4320302"/>
            <a:ext cx="5801916" cy="362903"/>
          </a:xfrm>
          <a:prstGeom prst="rect">
            <a:avLst/>
          </a:prstGeom>
          <a:noFill/>
          <a:ln/>
        </p:spPr>
        <p:txBody>
          <a:bodyPr wrap="none" lIns="0" tIns="0" rIns="0" bIns="0" rtlCol="0" anchor="t"/>
          <a:lstStyle/>
          <a:p>
            <a:pPr marL="0" indent="0" algn="ctr">
              <a:lnSpc>
                <a:spcPts val="2850"/>
              </a:lnSpc>
              <a:buNone/>
            </a:pPr>
            <a:r>
              <a:rPr lang="en-US" sz="1750" b="1" dirty="0">
                <a:solidFill>
                  <a:srgbClr val="4C4C4C"/>
                </a:solidFill>
                <a:latin typeface="Noto Serif" pitchFamily="34" charset="0"/>
                <a:ea typeface="Noto Serif" pitchFamily="34" charset="-122"/>
                <a:cs typeface="Noto Serif" pitchFamily="34" charset="-120"/>
              </a:rPr>
              <a:t>Tech:</a:t>
            </a:r>
            <a:r>
              <a:rPr lang="en-US" sz="1750" dirty="0">
                <a:solidFill>
                  <a:srgbClr val="4C4C4C"/>
                </a:solidFill>
                <a:latin typeface="Noto Serif" pitchFamily="34" charset="0"/>
                <a:ea typeface="Noto Serif" pitchFamily="34" charset="-122"/>
                <a:cs typeface="Noto Serif" pitchFamily="34" charset="-120"/>
              </a:rPr>
              <a:t> React, Web Speech API, REST APIs</a:t>
            </a:r>
            <a:endParaRPr lang="en-US" sz="1750" dirty="0"/>
          </a:p>
        </p:txBody>
      </p:sp>
      <p:sp>
        <p:nvSpPr>
          <p:cNvPr id="7" name="Text 5"/>
          <p:cNvSpPr/>
          <p:nvPr/>
        </p:nvSpPr>
        <p:spPr>
          <a:xfrm>
            <a:off x="1142524" y="4819293"/>
            <a:ext cx="5801916" cy="1451610"/>
          </a:xfrm>
          <a:prstGeom prst="rect">
            <a:avLst/>
          </a:prstGeom>
          <a:noFill/>
          <a:ln/>
        </p:spPr>
        <p:txBody>
          <a:bodyPr wrap="square" lIns="0" tIns="0" rIns="0" bIns="0" rtlCol="0" anchor="t"/>
          <a:lstStyle/>
          <a:p>
            <a:pPr marL="0" indent="0" algn="ctr">
              <a:lnSpc>
                <a:spcPts val="2850"/>
              </a:lnSpc>
              <a:buNone/>
            </a:pPr>
            <a:r>
              <a:rPr lang="en-US" sz="1750" b="1" dirty="0">
                <a:solidFill>
                  <a:srgbClr val="4C4C4C"/>
                </a:solidFill>
                <a:latin typeface="Noto Serif" pitchFamily="34" charset="0"/>
                <a:ea typeface="Noto Serif" pitchFamily="34" charset="-122"/>
                <a:cs typeface="Noto Serif" pitchFamily="34" charset="-120"/>
              </a:rPr>
              <a:t>Why:</a:t>
            </a:r>
            <a:r>
              <a:rPr lang="en-US" sz="1750" dirty="0">
                <a:solidFill>
                  <a:srgbClr val="4C4C4C"/>
                </a:solidFill>
                <a:latin typeface="Noto Serif" pitchFamily="34" charset="0"/>
                <a:ea typeface="Noto Serif" pitchFamily="34" charset="-122"/>
                <a:cs typeface="Noto Serif" pitchFamily="34" charset="-120"/>
              </a:rPr>
              <a:t> React provides reusable UI components with mobile-friendly design. Voice support improves farmer accessibility. REST APIs enable modular communication between services.</a:t>
            </a:r>
            <a:endParaRPr lang="en-US" sz="1750" dirty="0"/>
          </a:p>
        </p:txBody>
      </p:sp>
      <p:sp>
        <p:nvSpPr>
          <p:cNvPr id="8" name="Shape 6"/>
          <p:cNvSpPr/>
          <p:nvPr/>
        </p:nvSpPr>
        <p:spPr>
          <a:xfrm>
            <a:off x="7428548" y="3572589"/>
            <a:ext cx="6408063" cy="2955608"/>
          </a:xfrm>
          <a:prstGeom prst="roundRect">
            <a:avLst>
              <a:gd name="adj" fmla="val 495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9" name="Shape 7"/>
          <p:cNvSpPr/>
          <p:nvPr/>
        </p:nvSpPr>
        <p:spPr>
          <a:xfrm>
            <a:off x="7398067" y="3572589"/>
            <a:ext cx="121920" cy="2955608"/>
          </a:xfrm>
          <a:prstGeom prst="roundRect">
            <a:avLst>
              <a:gd name="adj" fmla="val 78139"/>
            </a:avLst>
          </a:prstGeom>
          <a:solidFill>
            <a:srgbClr val="E6DED2"/>
          </a:solidFill>
          <a:ln/>
        </p:spPr>
      </p:sp>
      <p:sp>
        <p:nvSpPr>
          <p:cNvPr id="10" name="Text 8"/>
          <p:cNvSpPr/>
          <p:nvPr/>
        </p:nvSpPr>
        <p:spPr>
          <a:xfrm>
            <a:off x="8752999" y="3829883"/>
            <a:ext cx="3850481"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Module 4: Market Discovery</a:t>
            </a:r>
            <a:endParaRPr lang="en-US" sz="2200" dirty="0"/>
          </a:p>
        </p:txBody>
      </p:sp>
      <p:sp>
        <p:nvSpPr>
          <p:cNvPr id="11" name="Text 9"/>
          <p:cNvSpPr/>
          <p:nvPr/>
        </p:nvSpPr>
        <p:spPr>
          <a:xfrm>
            <a:off x="7777282" y="4320302"/>
            <a:ext cx="5802035" cy="362903"/>
          </a:xfrm>
          <a:prstGeom prst="rect">
            <a:avLst/>
          </a:prstGeom>
          <a:noFill/>
          <a:ln/>
        </p:spPr>
        <p:txBody>
          <a:bodyPr wrap="none" lIns="0" tIns="0" rIns="0" bIns="0" rtlCol="0" anchor="t"/>
          <a:lstStyle/>
          <a:p>
            <a:pPr marL="0" indent="0" algn="ctr">
              <a:lnSpc>
                <a:spcPts val="2850"/>
              </a:lnSpc>
              <a:buNone/>
            </a:pPr>
            <a:r>
              <a:rPr lang="en-US" sz="1750" b="1" dirty="0">
                <a:solidFill>
                  <a:srgbClr val="4C4C4C"/>
                </a:solidFill>
                <a:latin typeface="Noto Serif" pitchFamily="34" charset="0"/>
                <a:ea typeface="Noto Serif" pitchFamily="34" charset="-122"/>
                <a:cs typeface="Noto Serif" pitchFamily="34" charset="-120"/>
              </a:rPr>
              <a:t>Tech:</a:t>
            </a:r>
            <a:r>
              <a:rPr lang="en-US" sz="1750" dirty="0">
                <a:solidFill>
                  <a:srgbClr val="4C4C4C"/>
                </a:solidFill>
                <a:latin typeface="Noto Serif" pitchFamily="34" charset="0"/>
                <a:ea typeface="Noto Serif" pitchFamily="34" charset="-122"/>
                <a:cs typeface="Noto Serif" pitchFamily="34" charset="-120"/>
              </a:rPr>
              <a:t> PostgreSQL, Google Maps API, Node.js</a:t>
            </a:r>
            <a:endParaRPr lang="en-US" sz="1750" dirty="0"/>
          </a:p>
        </p:txBody>
      </p:sp>
      <p:sp>
        <p:nvSpPr>
          <p:cNvPr id="12" name="Text 10"/>
          <p:cNvSpPr/>
          <p:nvPr/>
        </p:nvSpPr>
        <p:spPr>
          <a:xfrm>
            <a:off x="7777282" y="4819293"/>
            <a:ext cx="5802035" cy="1451610"/>
          </a:xfrm>
          <a:prstGeom prst="rect">
            <a:avLst/>
          </a:prstGeom>
          <a:noFill/>
          <a:ln/>
        </p:spPr>
        <p:txBody>
          <a:bodyPr wrap="square" lIns="0" tIns="0" rIns="0" bIns="0" rtlCol="0" anchor="t"/>
          <a:lstStyle/>
          <a:p>
            <a:pPr marL="0" indent="0" algn="ctr">
              <a:lnSpc>
                <a:spcPts val="2850"/>
              </a:lnSpc>
              <a:buNone/>
            </a:pPr>
            <a:r>
              <a:rPr lang="en-US" sz="1750" b="1" dirty="0">
                <a:solidFill>
                  <a:srgbClr val="4C4C4C"/>
                </a:solidFill>
                <a:latin typeface="Noto Serif" pitchFamily="34" charset="0"/>
                <a:ea typeface="Noto Serif" pitchFamily="34" charset="-122"/>
                <a:cs typeface="Noto Serif" pitchFamily="34" charset="-120"/>
              </a:rPr>
              <a:t>Why:</a:t>
            </a:r>
            <a:r>
              <a:rPr lang="en-US" sz="1750" dirty="0">
                <a:solidFill>
                  <a:srgbClr val="4C4C4C"/>
                </a:solidFill>
                <a:latin typeface="Noto Serif" pitchFamily="34" charset="0"/>
                <a:ea typeface="Noto Serif" pitchFamily="34" charset="-122"/>
                <a:cs typeface="Noto Serif" pitchFamily="34" charset="-120"/>
              </a:rPr>
              <a:t> PostgreSQL supports structured and geo-location data. Map APIs enable visual buyer discovery. Node.js provides scalable backend infrastructure for marketplace operations.</a:t>
            </a:r>
            <a:endParaRPr lang="en-US" sz="1750" dirty="0"/>
          </a:p>
        </p:txBody>
      </p:sp>
      <p:sp>
        <p:nvSpPr>
          <p:cNvPr id="13" name="Rectangle 12">
            <a:extLst>
              <a:ext uri="{FF2B5EF4-FFF2-40B4-BE49-F238E27FC236}">
                <a16:creationId xmlns:a16="http://schemas.microsoft.com/office/drawing/2014/main" id="{20C20470-8A9A-DAA9-B023-BB6B95C4A0DB}"/>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512927"/>
            <a:ext cx="7340679"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Design Approach Followed</a:t>
            </a:r>
            <a:endParaRPr lang="en-US" sz="4450" dirty="0"/>
          </a:p>
        </p:txBody>
      </p:sp>
      <p:sp>
        <p:nvSpPr>
          <p:cNvPr id="3" name="Text 1"/>
          <p:cNvSpPr/>
          <p:nvPr/>
        </p:nvSpPr>
        <p:spPr>
          <a:xfrm>
            <a:off x="793790" y="256186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For PlantIQ, we adopted a </a:t>
            </a:r>
            <a:r>
              <a:rPr lang="en-US" sz="1750" b="1" dirty="0">
                <a:solidFill>
                  <a:srgbClr val="4C4C4C"/>
                </a:solidFill>
                <a:latin typeface="Noto Serif" pitchFamily="34" charset="0"/>
                <a:ea typeface="Noto Serif" pitchFamily="34" charset="-122"/>
                <a:cs typeface="Noto Serif" pitchFamily="34" charset="-120"/>
              </a:rPr>
              <a:t>Modular Layered Monolithic Architecture with Multi-Modal AI Integration.</a:t>
            </a:r>
            <a:r>
              <a:rPr lang="en-US" sz="1750" dirty="0">
                <a:solidFill>
                  <a:srgbClr val="4C4C4C"/>
                </a:solidFill>
                <a:latin typeface="Noto Serif" pitchFamily="34" charset="0"/>
                <a:ea typeface="Noto Serif" pitchFamily="34" charset="-122"/>
                <a:cs typeface="Noto Serif" pitchFamily="34" charset="-120"/>
              </a:rPr>
              <a:t> A strategic approach that balances development speed, system clarity and real-world agricultural needs.</a:t>
            </a:r>
            <a:endParaRPr lang="en-US" sz="1750" dirty="0"/>
          </a:p>
        </p:txBody>
      </p:sp>
      <p:sp>
        <p:nvSpPr>
          <p:cNvPr id="4" name="Shape 2"/>
          <p:cNvSpPr/>
          <p:nvPr/>
        </p:nvSpPr>
        <p:spPr>
          <a:xfrm>
            <a:off x="793790" y="3542824"/>
            <a:ext cx="4196358" cy="3173849"/>
          </a:xfrm>
          <a:prstGeom prst="roundRect">
            <a:avLst>
              <a:gd name="adj" fmla="val 461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5" name="Shape 3"/>
          <p:cNvSpPr/>
          <p:nvPr/>
        </p:nvSpPr>
        <p:spPr>
          <a:xfrm>
            <a:off x="763310" y="3542824"/>
            <a:ext cx="121920" cy="3173849"/>
          </a:xfrm>
          <a:prstGeom prst="roundRect">
            <a:avLst>
              <a:gd name="adj" fmla="val 78139"/>
            </a:avLst>
          </a:prstGeom>
          <a:solidFill>
            <a:srgbClr val="E6DED2"/>
          </a:solidFill>
          <a:ln/>
        </p:spPr>
      </p:sp>
      <p:sp>
        <p:nvSpPr>
          <p:cNvPr id="6" name="Text 4"/>
          <p:cNvSpPr/>
          <p:nvPr/>
        </p:nvSpPr>
        <p:spPr>
          <a:xfrm>
            <a:off x="1142524" y="3800118"/>
            <a:ext cx="3590330" cy="708660"/>
          </a:xfrm>
          <a:prstGeom prst="rect">
            <a:avLst/>
          </a:prstGeom>
          <a:noFill/>
          <a:ln/>
        </p:spPr>
        <p:txBody>
          <a:bodyPr wrap="squar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Layered System Architecture</a:t>
            </a:r>
            <a:endParaRPr lang="en-US" sz="2200" dirty="0"/>
          </a:p>
        </p:txBody>
      </p:sp>
      <p:sp>
        <p:nvSpPr>
          <p:cNvPr id="7" name="Text 5"/>
          <p:cNvSpPr/>
          <p:nvPr/>
        </p:nvSpPr>
        <p:spPr>
          <a:xfrm>
            <a:off x="1142524" y="4644866"/>
            <a:ext cx="3590330" cy="1814513"/>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Structured separation across User, Presentation, AI Backend, Data, and External Services layers ensures clean data flow and maintainability.</a:t>
            </a:r>
            <a:endParaRPr lang="en-US" sz="1750" dirty="0"/>
          </a:p>
        </p:txBody>
      </p:sp>
      <p:sp>
        <p:nvSpPr>
          <p:cNvPr id="8" name="Shape 6"/>
          <p:cNvSpPr/>
          <p:nvPr/>
        </p:nvSpPr>
        <p:spPr>
          <a:xfrm>
            <a:off x="5216962" y="3542824"/>
            <a:ext cx="4196358" cy="3173849"/>
          </a:xfrm>
          <a:prstGeom prst="roundRect">
            <a:avLst>
              <a:gd name="adj" fmla="val 461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9" name="Shape 7"/>
          <p:cNvSpPr/>
          <p:nvPr/>
        </p:nvSpPr>
        <p:spPr>
          <a:xfrm>
            <a:off x="5186482" y="3542824"/>
            <a:ext cx="121920" cy="3173849"/>
          </a:xfrm>
          <a:prstGeom prst="roundRect">
            <a:avLst>
              <a:gd name="adj" fmla="val 78139"/>
            </a:avLst>
          </a:prstGeom>
          <a:solidFill>
            <a:srgbClr val="E6DED2"/>
          </a:solidFill>
          <a:ln/>
        </p:spPr>
      </p:sp>
      <p:sp>
        <p:nvSpPr>
          <p:cNvPr id="10" name="Text 8"/>
          <p:cNvSpPr/>
          <p:nvPr/>
        </p:nvSpPr>
        <p:spPr>
          <a:xfrm>
            <a:off x="5565696" y="3800118"/>
            <a:ext cx="3590330" cy="708660"/>
          </a:xfrm>
          <a:prstGeom prst="rect">
            <a:avLst/>
          </a:prstGeom>
          <a:noFill/>
          <a:ln/>
        </p:spPr>
        <p:txBody>
          <a:bodyPr wrap="squar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Modular Monolithic Backend</a:t>
            </a:r>
            <a:endParaRPr lang="en-US" sz="2200" dirty="0"/>
          </a:p>
        </p:txBody>
      </p:sp>
      <p:sp>
        <p:nvSpPr>
          <p:cNvPr id="11" name="Text 9"/>
          <p:cNvSpPr/>
          <p:nvPr/>
        </p:nvSpPr>
        <p:spPr>
          <a:xfrm>
            <a:off x="5565696" y="4644866"/>
            <a:ext cx="3590330" cy="1814513"/>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Independent logical modules (Disease Detection, Advisory, Chatbot, Market Discovery) within a unified backend for simplified integration.</a:t>
            </a:r>
            <a:endParaRPr lang="en-US" sz="1750" dirty="0"/>
          </a:p>
        </p:txBody>
      </p:sp>
      <p:sp>
        <p:nvSpPr>
          <p:cNvPr id="12" name="Shape 10"/>
          <p:cNvSpPr/>
          <p:nvPr/>
        </p:nvSpPr>
        <p:spPr>
          <a:xfrm>
            <a:off x="9640133" y="3542824"/>
            <a:ext cx="4196358" cy="3173849"/>
          </a:xfrm>
          <a:prstGeom prst="roundRect">
            <a:avLst>
              <a:gd name="adj" fmla="val 4610"/>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3" name="Shape 11"/>
          <p:cNvSpPr/>
          <p:nvPr/>
        </p:nvSpPr>
        <p:spPr>
          <a:xfrm>
            <a:off x="9609653" y="3542824"/>
            <a:ext cx="121920" cy="3173849"/>
          </a:xfrm>
          <a:prstGeom prst="roundRect">
            <a:avLst>
              <a:gd name="adj" fmla="val 78139"/>
            </a:avLst>
          </a:prstGeom>
          <a:solidFill>
            <a:srgbClr val="E6DED2"/>
          </a:solidFill>
          <a:ln/>
        </p:spPr>
      </p:sp>
      <p:sp>
        <p:nvSpPr>
          <p:cNvPr id="14" name="Text 12"/>
          <p:cNvSpPr/>
          <p:nvPr/>
        </p:nvSpPr>
        <p:spPr>
          <a:xfrm>
            <a:off x="10149959" y="3800118"/>
            <a:ext cx="3268147"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Multi-Modal AI Pipeline</a:t>
            </a:r>
            <a:endParaRPr lang="en-US" sz="2200" dirty="0"/>
          </a:p>
        </p:txBody>
      </p:sp>
      <p:sp>
        <p:nvSpPr>
          <p:cNvPr id="15" name="Text 13"/>
          <p:cNvSpPr/>
          <p:nvPr/>
        </p:nvSpPr>
        <p:spPr>
          <a:xfrm>
            <a:off x="9988868" y="4290536"/>
            <a:ext cx="3590330" cy="1814513"/>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Integrates image (CNN), text (LLM), structured data, and market information to address agricultural challenges holistically.</a:t>
            </a:r>
            <a:endParaRPr lang="en-US" sz="1750" dirty="0"/>
          </a:p>
        </p:txBody>
      </p:sp>
      <p:sp>
        <p:nvSpPr>
          <p:cNvPr id="16" name="Rectangle 15">
            <a:extLst>
              <a:ext uri="{FF2B5EF4-FFF2-40B4-BE49-F238E27FC236}">
                <a16:creationId xmlns:a16="http://schemas.microsoft.com/office/drawing/2014/main" id="{31CF9A71-FDFC-3483-8A55-F8B981252FAA}"/>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1647" y="628174"/>
            <a:ext cx="9022437" cy="671512"/>
          </a:xfrm>
          <a:prstGeom prst="rect">
            <a:avLst/>
          </a:prstGeom>
          <a:noFill/>
          <a:ln/>
        </p:spPr>
        <p:txBody>
          <a:bodyPr wrap="none" lIns="0" tIns="0" rIns="0" bIns="0" rtlCol="0" anchor="t"/>
          <a:lstStyle/>
          <a:p>
            <a:pPr marL="0" indent="0" algn="l">
              <a:lnSpc>
                <a:spcPts val="5250"/>
              </a:lnSpc>
              <a:buNone/>
            </a:pPr>
            <a:r>
              <a:rPr lang="en-US" sz="4200" dirty="0">
                <a:solidFill>
                  <a:srgbClr val="3A3A3A"/>
                </a:solidFill>
                <a:latin typeface="Noto Serif Medium" pitchFamily="34" charset="0"/>
                <a:ea typeface="Noto Serif Medium" pitchFamily="34" charset="-122"/>
                <a:cs typeface="Noto Serif Medium" pitchFamily="34" charset="-120"/>
              </a:rPr>
              <a:t>Why This Architectural Approach?</a:t>
            </a:r>
            <a:endParaRPr lang="en-US" sz="4200" dirty="0"/>
          </a:p>
        </p:txBody>
      </p:sp>
      <p:sp>
        <p:nvSpPr>
          <p:cNvPr id="3" name="Text 1"/>
          <p:cNvSpPr/>
          <p:nvPr/>
        </p:nvSpPr>
        <p:spPr>
          <a:xfrm>
            <a:off x="791647" y="1808440"/>
            <a:ext cx="4686657" cy="402788"/>
          </a:xfrm>
          <a:prstGeom prst="rect">
            <a:avLst/>
          </a:prstGeom>
          <a:noFill/>
          <a:ln/>
        </p:spPr>
        <p:txBody>
          <a:bodyPr wrap="none" lIns="0" tIns="0" rIns="0" bIns="0" rtlCol="0" anchor="t"/>
          <a:lstStyle/>
          <a:p>
            <a:pPr marL="0" indent="0" algn="l">
              <a:lnSpc>
                <a:spcPts val="3150"/>
              </a:lnSpc>
              <a:buNone/>
            </a:pPr>
            <a:r>
              <a:rPr lang="en-US" sz="2500" dirty="0">
                <a:solidFill>
                  <a:srgbClr val="3A3A3A"/>
                </a:solidFill>
                <a:latin typeface="Noto Serif Medium" pitchFamily="34" charset="0"/>
                <a:ea typeface="Noto Serif Medium" pitchFamily="34" charset="-122"/>
                <a:cs typeface="Noto Serif Medium" pitchFamily="34" charset="-120"/>
              </a:rPr>
              <a:t>Layered Architecture Benefits</a:t>
            </a:r>
            <a:endParaRPr lang="en-US" sz="2500" dirty="0"/>
          </a:p>
        </p:txBody>
      </p:sp>
      <p:sp>
        <p:nvSpPr>
          <p:cNvPr id="4" name="Text 2"/>
          <p:cNvSpPr/>
          <p:nvPr/>
        </p:nvSpPr>
        <p:spPr>
          <a:xfrm>
            <a:off x="791647" y="2414707"/>
            <a:ext cx="6261497" cy="1552813"/>
          </a:xfrm>
          <a:prstGeom prst="rect">
            <a:avLst/>
          </a:prstGeom>
          <a:noFill/>
          <a:ln/>
        </p:spPr>
        <p:txBody>
          <a:bodyPr wrap="square" lIns="0" tIns="0" rIns="0" bIns="0" rtlCol="0" anchor="t"/>
          <a:lstStyle/>
          <a:p>
            <a:pPr marL="342900" indent="-342900" algn="l">
              <a:lnSpc>
                <a:spcPts val="2600"/>
              </a:lnSpc>
              <a:buSzPct val="100000"/>
              <a:buChar char="•"/>
            </a:pPr>
            <a:r>
              <a:rPr lang="en-US" sz="1650" dirty="0">
                <a:solidFill>
                  <a:srgbClr val="4C4C4C"/>
                </a:solidFill>
                <a:latin typeface="Noto Serif" pitchFamily="34" charset="0"/>
                <a:ea typeface="Noto Serif" pitchFamily="34" charset="-122"/>
                <a:cs typeface="Noto Serif" pitchFamily="34" charset="-120"/>
              </a:rPr>
              <a:t>Clear separation of concerns across system components</a:t>
            </a:r>
            <a:endParaRPr lang="en-US" sz="1650" dirty="0"/>
          </a:p>
          <a:p>
            <a:pPr marL="342900" indent="-342900" algn="l">
              <a:lnSpc>
                <a:spcPts val="2600"/>
              </a:lnSpc>
              <a:buSzPct val="100000"/>
              <a:buChar char="•"/>
            </a:pPr>
            <a:r>
              <a:rPr lang="en-US" sz="1650" dirty="0">
                <a:solidFill>
                  <a:srgbClr val="4C4C4C"/>
                </a:solidFill>
                <a:latin typeface="Noto Serif" pitchFamily="34" charset="0"/>
                <a:ea typeface="Noto Serif" pitchFamily="34" charset="-122"/>
                <a:cs typeface="Noto Serif" pitchFamily="34" charset="-120"/>
              </a:rPr>
              <a:t>Independent evolution of UI and backend systems</a:t>
            </a:r>
            <a:endParaRPr lang="en-US" sz="1650" dirty="0"/>
          </a:p>
          <a:p>
            <a:pPr marL="342900" indent="-342900" algn="l">
              <a:lnSpc>
                <a:spcPts val="2600"/>
              </a:lnSpc>
              <a:buSzPct val="100000"/>
              <a:buChar char="•"/>
            </a:pPr>
            <a:r>
              <a:rPr lang="en-US" sz="1650" dirty="0">
                <a:solidFill>
                  <a:srgbClr val="4C4C4C"/>
                </a:solidFill>
                <a:latin typeface="Noto Serif" pitchFamily="34" charset="0"/>
                <a:ea typeface="Noto Serif" pitchFamily="34" charset="-122"/>
                <a:cs typeface="Noto Serif" pitchFamily="34" charset="-120"/>
              </a:rPr>
              <a:t>Simplified debugging and maintenance workflows</a:t>
            </a:r>
            <a:endParaRPr lang="en-US" sz="1650" dirty="0"/>
          </a:p>
          <a:p>
            <a:pPr marL="342900" indent="-342900" algn="l">
              <a:lnSpc>
                <a:spcPts val="2600"/>
              </a:lnSpc>
              <a:buSzPct val="100000"/>
              <a:buChar char="•"/>
            </a:pPr>
            <a:r>
              <a:rPr lang="en-US" sz="1650" dirty="0">
                <a:solidFill>
                  <a:srgbClr val="4C4C4C"/>
                </a:solidFill>
                <a:latin typeface="Noto Serif" pitchFamily="34" charset="0"/>
                <a:ea typeface="Noto Serif" pitchFamily="34" charset="-122"/>
                <a:cs typeface="Noto Serif" pitchFamily="34" charset="-120"/>
              </a:rPr>
              <a:t>Alignment with industry-standard practices</a:t>
            </a:r>
            <a:endParaRPr lang="en-US" sz="1650" dirty="0"/>
          </a:p>
        </p:txBody>
      </p:sp>
      <p:sp>
        <p:nvSpPr>
          <p:cNvPr id="5" name="Text 3"/>
          <p:cNvSpPr/>
          <p:nvPr/>
        </p:nvSpPr>
        <p:spPr>
          <a:xfrm>
            <a:off x="791647" y="4150638"/>
            <a:ext cx="6261497" cy="1004411"/>
          </a:xfrm>
          <a:prstGeom prst="rect">
            <a:avLst/>
          </a:prstGeom>
          <a:noFill/>
          <a:ln/>
        </p:spPr>
        <p:txBody>
          <a:bodyPr wrap="square" lIns="0" tIns="0" rIns="0" bIns="0" rtlCol="0" anchor="t"/>
          <a:lstStyle/>
          <a:p>
            <a:pPr marL="0" indent="0" algn="l">
              <a:lnSpc>
                <a:spcPts val="2600"/>
              </a:lnSpc>
              <a:buNone/>
            </a:pPr>
            <a:r>
              <a:rPr lang="en-US" sz="1650" dirty="0">
                <a:solidFill>
                  <a:srgbClr val="4C4C4C"/>
                </a:solidFill>
                <a:latin typeface="Noto Serif" pitchFamily="34" charset="0"/>
                <a:ea typeface="Noto Serif" pitchFamily="34" charset="-122"/>
                <a:cs typeface="Noto Serif" pitchFamily="34" charset="-120"/>
              </a:rPr>
              <a:t>This foundation improves long-term maintainability and positions PlantIQ for future scalability as the platform evolves.</a:t>
            </a:r>
            <a:endParaRPr lang="en-US" sz="1650" dirty="0"/>
          </a:p>
        </p:txBody>
      </p:sp>
      <p:sp>
        <p:nvSpPr>
          <p:cNvPr id="6" name="Text 4"/>
          <p:cNvSpPr/>
          <p:nvPr/>
        </p:nvSpPr>
        <p:spPr>
          <a:xfrm>
            <a:off x="7584877" y="1808440"/>
            <a:ext cx="4804648" cy="402788"/>
          </a:xfrm>
          <a:prstGeom prst="rect">
            <a:avLst/>
          </a:prstGeom>
          <a:noFill/>
          <a:ln/>
        </p:spPr>
        <p:txBody>
          <a:bodyPr wrap="none" lIns="0" tIns="0" rIns="0" bIns="0" rtlCol="0" anchor="t"/>
          <a:lstStyle/>
          <a:p>
            <a:pPr marL="0" indent="0" algn="l">
              <a:lnSpc>
                <a:spcPts val="3150"/>
              </a:lnSpc>
              <a:buNone/>
            </a:pPr>
            <a:r>
              <a:rPr lang="en-US" sz="2500" dirty="0">
                <a:solidFill>
                  <a:srgbClr val="3A3A3A"/>
                </a:solidFill>
                <a:latin typeface="Noto Serif Medium" pitchFamily="34" charset="0"/>
                <a:ea typeface="Noto Serif Medium" pitchFamily="34" charset="-122"/>
                <a:cs typeface="Noto Serif Medium" pitchFamily="34" charset="-120"/>
              </a:rPr>
              <a:t>Monolithic Over Microservices</a:t>
            </a:r>
            <a:endParaRPr lang="en-US" sz="2500" dirty="0"/>
          </a:p>
        </p:txBody>
      </p:sp>
      <p:sp>
        <p:nvSpPr>
          <p:cNvPr id="7" name="Text 5"/>
          <p:cNvSpPr/>
          <p:nvPr/>
        </p:nvSpPr>
        <p:spPr>
          <a:xfrm>
            <a:off x="7584877" y="2414707"/>
            <a:ext cx="6261497" cy="669608"/>
          </a:xfrm>
          <a:prstGeom prst="rect">
            <a:avLst/>
          </a:prstGeom>
          <a:noFill/>
          <a:ln/>
        </p:spPr>
        <p:txBody>
          <a:bodyPr wrap="square" lIns="0" tIns="0" rIns="0" bIns="0" rtlCol="0" anchor="t"/>
          <a:lstStyle/>
          <a:p>
            <a:pPr marL="0" indent="0" algn="l">
              <a:lnSpc>
                <a:spcPts val="2600"/>
              </a:lnSpc>
              <a:buNone/>
            </a:pPr>
            <a:r>
              <a:rPr lang="en-US" sz="1650" dirty="0">
                <a:solidFill>
                  <a:srgbClr val="4C4C4C"/>
                </a:solidFill>
                <a:latin typeface="Noto Serif" pitchFamily="34" charset="0"/>
                <a:ea typeface="Noto Serif" pitchFamily="34" charset="-122"/>
                <a:cs typeface="Noto Serif" pitchFamily="34" charset="-120"/>
              </a:rPr>
              <a:t>We deliberately chose a monolithic architecture for this capstone implementation:</a:t>
            </a:r>
            <a:endParaRPr lang="en-US" sz="1650" dirty="0"/>
          </a:p>
        </p:txBody>
      </p:sp>
      <p:sp>
        <p:nvSpPr>
          <p:cNvPr id="8" name="Text 6"/>
          <p:cNvSpPr/>
          <p:nvPr/>
        </p:nvSpPr>
        <p:spPr>
          <a:xfrm>
            <a:off x="7584877" y="3267432"/>
            <a:ext cx="6261497" cy="3298031"/>
          </a:xfrm>
          <a:prstGeom prst="rect">
            <a:avLst/>
          </a:prstGeom>
          <a:noFill/>
          <a:ln/>
        </p:spPr>
        <p:txBody>
          <a:bodyPr wrap="square" lIns="0" tIns="0" rIns="0" bIns="0" rtlCol="0" anchor="t"/>
          <a:lstStyle/>
          <a:p>
            <a:pPr marL="342900" indent="-342900" algn="l">
              <a:lnSpc>
                <a:spcPts val="2600"/>
              </a:lnSpc>
              <a:buSzPct val="100000"/>
              <a:buChar char="•"/>
            </a:pPr>
            <a:r>
              <a:rPr lang="en-US" sz="1650" b="1" dirty="0">
                <a:solidFill>
                  <a:srgbClr val="4C4C4C"/>
                </a:solidFill>
                <a:latin typeface="Noto Serif" pitchFamily="34" charset="0"/>
                <a:ea typeface="Noto Serif" pitchFamily="34" charset="-122"/>
                <a:cs typeface="Noto Serif" pitchFamily="34" charset="-120"/>
              </a:rPr>
              <a:t>Faster development cycle</a:t>
            </a:r>
            <a:r>
              <a:rPr lang="en-US" sz="1650" dirty="0">
                <a:solidFill>
                  <a:srgbClr val="4C4C4C"/>
                </a:solidFill>
                <a:latin typeface="Noto Serif" pitchFamily="34" charset="0"/>
                <a:ea typeface="Noto Serif" pitchFamily="34" charset="-122"/>
                <a:cs typeface="Noto Serif" pitchFamily="34" charset="-120"/>
              </a:rPr>
              <a:t> --&gt; reduced architectural overhead</a:t>
            </a:r>
            <a:endParaRPr lang="en-US" sz="1650" dirty="0"/>
          </a:p>
          <a:p>
            <a:pPr marL="342900" indent="-342900" algn="l">
              <a:lnSpc>
                <a:spcPts val="2600"/>
              </a:lnSpc>
              <a:buSzPct val="100000"/>
              <a:buChar char="•"/>
            </a:pPr>
            <a:r>
              <a:rPr lang="en-US" sz="1650" b="1" dirty="0">
                <a:solidFill>
                  <a:srgbClr val="4C4C4C"/>
                </a:solidFill>
                <a:latin typeface="Noto Serif" pitchFamily="34" charset="0"/>
                <a:ea typeface="Noto Serif" pitchFamily="34" charset="-122"/>
                <a:cs typeface="Noto Serif" pitchFamily="34" charset="-120"/>
              </a:rPr>
              <a:t>Easier module integration</a:t>
            </a:r>
            <a:r>
              <a:rPr lang="en-US" sz="1650" dirty="0">
                <a:solidFill>
                  <a:srgbClr val="4C4C4C"/>
                </a:solidFill>
                <a:latin typeface="Noto Serif" pitchFamily="34" charset="0"/>
                <a:ea typeface="Noto Serif" pitchFamily="34" charset="-122"/>
                <a:cs typeface="Noto Serif" pitchFamily="34" charset="-120"/>
              </a:rPr>
              <a:t> --&gt; shared context and data access</a:t>
            </a:r>
            <a:endParaRPr lang="en-US" sz="1650" dirty="0"/>
          </a:p>
          <a:p>
            <a:pPr marL="342900" indent="-342900" algn="l">
              <a:lnSpc>
                <a:spcPts val="2600"/>
              </a:lnSpc>
              <a:buSzPct val="100000"/>
              <a:buChar char="•"/>
            </a:pPr>
            <a:r>
              <a:rPr lang="en-US" sz="1650" b="1" dirty="0">
                <a:solidFill>
                  <a:srgbClr val="4C4C4C"/>
                </a:solidFill>
                <a:latin typeface="Noto Serif" pitchFamily="34" charset="0"/>
                <a:ea typeface="Noto Serif" pitchFamily="34" charset="-122"/>
                <a:cs typeface="Noto Serif" pitchFamily="34" charset="-120"/>
              </a:rPr>
              <a:t>Simpler deployment</a:t>
            </a:r>
            <a:r>
              <a:rPr lang="en-US" sz="1650" dirty="0">
                <a:solidFill>
                  <a:srgbClr val="4C4C4C"/>
                </a:solidFill>
                <a:latin typeface="Noto Serif" pitchFamily="34" charset="0"/>
                <a:ea typeface="Noto Serif" pitchFamily="34" charset="-122"/>
                <a:cs typeface="Noto Serif" pitchFamily="34" charset="-120"/>
              </a:rPr>
              <a:t> --&gt; single application instance</a:t>
            </a:r>
            <a:endParaRPr lang="en-US" sz="1650" dirty="0"/>
          </a:p>
          <a:p>
            <a:pPr marL="342900" indent="-342900" algn="l">
              <a:lnSpc>
                <a:spcPts val="2600"/>
              </a:lnSpc>
              <a:buSzPct val="100000"/>
              <a:buChar char="•"/>
            </a:pPr>
            <a:r>
              <a:rPr lang="en-US" sz="1650" b="1" dirty="0">
                <a:solidFill>
                  <a:srgbClr val="4C4C4C"/>
                </a:solidFill>
                <a:latin typeface="Noto Serif" pitchFamily="34" charset="0"/>
                <a:ea typeface="Noto Serif" pitchFamily="34" charset="-122"/>
                <a:cs typeface="Noto Serif" pitchFamily="34" charset="-120"/>
              </a:rPr>
              <a:t>Lower DevOps complexity</a:t>
            </a:r>
            <a:r>
              <a:rPr lang="en-US" sz="1650" dirty="0">
                <a:solidFill>
                  <a:srgbClr val="4C4C4C"/>
                </a:solidFill>
                <a:latin typeface="Noto Serif" pitchFamily="34" charset="0"/>
                <a:ea typeface="Noto Serif" pitchFamily="34" charset="-122"/>
                <a:cs typeface="Noto Serif" pitchFamily="34" charset="-120"/>
              </a:rPr>
              <a:t> --&gt; appropriate for academic scope</a:t>
            </a:r>
            <a:endParaRPr lang="en-US" sz="1650" dirty="0"/>
          </a:p>
          <a:p>
            <a:pPr marL="342900" indent="-342900" algn="l">
              <a:lnSpc>
                <a:spcPts val="2600"/>
              </a:lnSpc>
              <a:buSzPct val="100000"/>
              <a:buChar char="•"/>
            </a:pPr>
            <a:r>
              <a:rPr lang="en-US" sz="1650" b="1" dirty="0">
                <a:solidFill>
                  <a:srgbClr val="4C4C4C"/>
                </a:solidFill>
                <a:latin typeface="Noto Serif" pitchFamily="34" charset="0"/>
                <a:ea typeface="Noto Serif" pitchFamily="34" charset="-122"/>
                <a:cs typeface="Noto Serif" pitchFamily="34" charset="-120"/>
              </a:rPr>
              <a:t>Research-focused</a:t>
            </a:r>
            <a:r>
              <a:rPr lang="en-US" sz="1650" dirty="0">
                <a:solidFill>
                  <a:srgbClr val="4C4C4C"/>
                </a:solidFill>
                <a:latin typeface="Noto Serif" pitchFamily="34" charset="0"/>
                <a:ea typeface="Noto Serif" pitchFamily="34" charset="-122"/>
                <a:cs typeface="Noto Serif" pitchFamily="34" charset="-120"/>
              </a:rPr>
              <a:t> --&gt; emphasis on AI innovation over infrastructure</a:t>
            </a:r>
            <a:endParaRPr lang="en-US" sz="1650" dirty="0"/>
          </a:p>
        </p:txBody>
      </p:sp>
      <p:sp>
        <p:nvSpPr>
          <p:cNvPr id="9" name="Text 7"/>
          <p:cNvSpPr/>
          <p:nvPr/>
        </p:nvSpPr>
        <p:spPr>
          <a:xfrm>
            <a:off x="7584877" y="6748582"/>
            <a:ext cx="6261497" cy="669608"/>
          </a:xfrm>
          <a:prstGeom prst="rect">
            <a:avLst/>
          </a:prstGeom>
          <a:noFill/>
          <a:ln/>
        </p:spPr>
        <p:txBody>
          <a:bodyPr wrap="square" lIns="0" tIns="0" rIns="0" bIns="0" rtlCol="0" anchor="t"/>
          <a:lstStyle/>
          <a:p>
            <a:pPr marL="0" indent="0" algn="l">
              <a:lnSpc>
                <a:spcPts val="2600"/>
              </a:lnSpc>
              <a:buNone/>
            </a:pPr>
            <a:r>
              <a:rPr lang="en-US" sz="1650" dirty="0">
                <a:solidFill>
                  <a:srgbClr val="4C4C4C"/>
                </a:solidFill>
                <a:latin typeface="Noto Serif" pitchFamily="34" charset="0"/>
                <a:ea typeface="Noto Serif" pitchFamily="34" charset="-122"/>
                <a:cs typeface="Noto Serif" pitchFamily="34" charset="-120"/>
              </a:rPr>
              <a:t>Microservices would introduce unnecessary complexity without proportional benefit for a prototype-stage system.</a:t>
            </a:r>
            <a:endParaRPr lang="en-US" sz="1650" dirty="0"/>
          </a:p>
        </p:txBody>
      </p:sp>
      <p:sp>
        <p:nvSpPr>
          <p:cNvPr id="10" name="Rectangle 9">
            <a:extLst>
              <a:ext uri="{FF2B5EF4-FFF2-40B4-BE49-F238E27FC236}">
                <a16:creationId xmlns:a16="http://schemas.microsoft.com/office/drawing/2014/main" id="{E9454C77-77F0-CBE7-2F5D-D1A3CEAFB7D6}"/>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3">
            <a:extLst>
              <a:ext uri="{FF2B5EF4-FFF2-40B4-BE49-F238E27FC236}">
                <a16:creationId xmlns:a16="http://schemas.microsoft.com/office/drawing/2014/main" id="{D348FB5A-AF80-5541-EB7A-F49BD0F4C483}"/>
              </a:ext>
            </a:extLst>
          </p:cNvPr>
          <p:cNvSpPr/>
          <p:nvPr/>
        </p:nvSpPr>
        <p:spPr>
          <a:xfrm>
            <a:off x="439066" y="1655379"/>
            <a:ext cx="6614078" cy="3423745"/>
          </a:xfrm>
          <a:prstGeom prst="roundRect">
            <a:avLst>
              <a:gd name="adj" fmla="val 5262"/>
            </a:avLst>
          </a:prstGeom>
          <a:noFill/>
          <a:ln w="22860">
            <a:solidFill>
              <a:srgbClr val="E6DED2"/>
            </a:solidFill>
            <a:prstDash val="solid"/>
          </a:ln>
          <a:effectLst>
            <a:outerShdw dist="16510" dir="2700000" algn="bl" rotWithShape="0">
              <a:srgbClr val="E6DED2">
                <a:alpha val="100000"/>
              </a:srgbClr>
            </a:outerShdw>
          </a:effectLst>
        </p:spPr>
      </p:sp>
      <p:sp>
        <p:nvSpPr>
          <p:cNvPr id="12" name="Shape 3">
            <a:extLst>
              <a:ext uri="{FF2B5EF4-FFF2-40B4-BE49-F238E27FC236}">
                <a16:creationId xmlns:a16="http://schemas.microsoft.com/office/drawing/2014/main" id="{A73AB39B-9F96-6177-4901-1F6963DB2803}"/>
              </a:ext>
            </a:extLst>
          </p:cNvPr>
          <p:cNvSpPr/>
          <p:nvPr/>
        </p:nvSpPr>
        <p:spPr>
          <a:xfrm>
            <a:off x="7405725" y="1751779"/>
            <a:ext cx="6876134" cy="5849647"/>
          </a:xfrm>
          <a:prstGeom prst="roundRect">
            <a:avLst>
              <a:gd name="adj" fmla="val 5262"/>
            </a:avLst>
          </a:prstGeom>
          <a:noFill/>
          <a:ln w="22860">
            <a:solidFill>
              <a:srgbClr val="E6DED2"/>
            </a:solidFill>
            <a:prstDash val="solid"/>
          </a:ln>
          <a:effectLst>
            <a:outerShdw dist="16510" dir="2700000" algn="bl" rotWithShape="0">
              <a:srgbClr val="E6DED2">
                <a:alpha val="100000"/>
              </a:srgbClr>
            </a:outerShdw>
          </a:effectLst>
        </p:spPr>
      </p:sp>
      <p:sp>
        <p:nvSpPr>
          <p:cNvPr id="13" name="Shape 4">
            <a:extLst>
              <a:ext uri="{FF2B5EF4-FFF2-40B4-BE49-F238E27FC236}">
                <a16:creationId xmlns:a16="http://schemas.microsoft.com/office/drawing/2014/main" id="{28CD4360-D255-6040-545E-7A8143A9D99C}"/>
              </a:ext>
            </a:extLst>
          </p:cNvPr>
          <p:cNvSpPr/>
          <p:nvPr/>
        </p:nvSpPr>
        <p:spPr>
          <a:xfrm>
            <a:off x="439066" y="1751780"/>
            <a:ext cx="90525" cy="3174944"/>
          </a:xfrm>
          <a:prstGeom prst="roundRect">
            <a:avLst>
              <a:gd name="adj" fmla="val 83349"/>
            </a:avLst>
          </a:prstGeom>
          <a:solidFill>
            <a:srgbClr val="E6DED2"/>
          </a:solidFill>
          <a:ln/>
        </p:spPr>
      </p:sp>
      <p:sp>
        <p:nvSpPr>
          <p:cNvPr id="14" name="Shape 4">
            <a:extLst>
              <a:ext uri="{FF2B5EF4-FFF2-40B4-BE49-F238E27FC236}">
                <a16:creationId xmlns:a16="http://schemas.microsoft.com/office/drawing/2014/main" id="{0A1DB6F0-644C-87BD-E0D6-1EF59242431E}"/>
              </a:ext>
            </a:extLst>
          </p:cNvPr>
          <p:cNvSpPr/>
          <p:nvPr/>
        </p:nvSpPr>
        <p:spPr>
          <a:xfrm>
            <a:off x="7405725" y="1882258"/>
            <a:ext cx="88627" cy="5535932"/>
          </a:xfrm>
          <a:prstGeom prst="roundRect">
            <a:avLst>
              <a:gd name="adj" fmla="val 83349"/>
            </a:avLst>
          </a:prstGeom>
          <a:solidFill>
            <a:srgbClr val="E6DED2"/>
          </a:solidFill>
          <a:ln/>
        </p:spPr>
      </p:sp>
    </p:spTree>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271114"/>
            <a:ext cx="5292566" cy="566976"/>
          </a:xfrm>
          <a:prstGeom prst="rect">
            <a:avLst/>
          </a:prstGeom>
          <a:noFill/>
          <a:ln/>
        </p:spPr>
        <p:txBody>
          <a:bodyPr wrap="none" lIns="0" tIns="0" rIns="0" bIns="0" rtlCol="0" anchor="t"/>
          <a:lstStyle/>
          <a:p>
            <a:pPr marL="0" indent="0" algn="l">
              <a:lnSpc>
                <a:spcPts val="4450"/>
              </a:lnSpc>
              <a:buNone/>
            </a:pPr>
            <a:r>
              <a:rPr lang="en-US" sz="3550" dirty="0">
                <a:solidFill>
                  <a:srgbClr val="3A3A3A"/>
                </a:solidFill>
                <a:latin typeface="Noto Serif Medium" pitchFamily="34" charset="0"/>
                <a:ea typeface="Noto Serif Medium" pitchFamily="34" charset="-122"/>
                <a:cs typeface="Noto Serif Medium" pitchFamily="34" charset="-120"/>
              </a:rPr>
              <a:t>Architectural Trade-offs</a:t>
            </a:r>
            <a:endParaRPr lang="en-US" sz="3550" dirty="0"/>
          </a:p>
        </p:txBody>
      </p:sp>
      <p:sp>
        <p:nvSpPr>
          <p:cNvPr id="3" name="Text 1"/>
          <p:cNvSpPr/>
          <p:nvPr/>
        </p:nvSpPr>
        <p:spPr>
          <a:xfrm>
            <a:off x="793790" y="1671161"/>
            <a:ext cx="13042821" cy="261223"/>
          </a:xfrm>
          <a:prstGeom prst="rect">
            <a:avLst/>
          </a:prstGeom>
          <a:noFill/>
          <a:ln/>
        </p:spPr>
        <p:txBody>
          <a:bodyPr wrap="none" lIns="0" tIns="0" rIns="0" bIns="0" rtlCol="0" anchor="t"/>
          <a:lstStyle/>
          <a:p>
            <a:pPr marL="0" indent="0" algn="l">
              <a:lnSpc>
                <a:spcPts val="2050"/>
              </a:lnSpc>
              <a:buNone/>
            </a:pPr>
            <a:endParaRPr lang="en-US" sz="1400" dirty="0"/>
          </a:p>
        </p:txBody>
      </p:sp>
      <p:sp>
        <p:nvSpPr>
          <p:cNvPr id="4" name="Text 2"/>
          <p:cNvSpPr/>
          <p:nvPr/>
        </p:nvSpPr>
        <p:spPr>
          <a:xfrm>
            <a:off x="793790" y="2150031"/>
            <a:ext cx="3400306" cy="340162"/>
          </a:xfrm>
          <a:prstGeom prst="rect">
            <a:avLst/>
          </a:prstGeom>
          <a:noFill/>
          <a:ln/>
        </p:spPr>
        <p:txBody>
          <a:bodyPr wrap="none" lIns="0" tIns="0" rIns="0" bIns="0" rtlCol="0" anchor="t"/>
          <a:lstStyle/>
          <a:p>
            <a:pPr marL="0" indent="0" algn="l">
              <a:lnSpc>
                <a:spcPts val="2650"/>
              </a:lnSpc>
              <a:buNone/>
            </a:pPr>
            <a:r>
              <a:rPr lang="en-US" sz="2100" dirty="0">
                <a:solidFill>
                  <a:srgbClr val="3A3A3A"/>
                </a:solidFill>
                <a:latin typeface="Noto Serif Medium" pitchFamily="34" charset="0"/>
                <a:ea typeface="Noto Serif Medium" pitchFamily="34" charset="-122"/>
                <a:cs typeface="Noto Serif Medium" pitchFamily="34" charset="-120"/>
              </a:rPr>
              <a:t>Benefits of This Approach</a:t>
            </a:r>
            <a:endParaRPr lang="en-US" sz="2100" dirty="0"/>
          </a:p>
        </p:txBody>
      </p:sp>
      <p:sp>
        <p:nvSpPr>
          <p:cNvPr id="5" name="Shape 3"/>
          <p:cNvSpPr/>
          <p:nvPr/>
        </p:nvSpPr>
        <p:spPr>
          <a:xfrm>
            <a:off x="793790" y="2707838"/>
            <a:ext cx="6448782" cy="2085261"/>
          </a:xfrm>
          <a:prstGeom prst="roundRect">
            <a:avLst>
              <a:gd name="adj" fmla="val 5262"/>
            </a:avLst>
          </a:prstGeom>
          <a:solidFill>
            <a:srgbClr val="FDFBF7"/>
          </a:solidFill>
          <a:ln w="22860">
            <a:solidFill>
              <a:srgbClr val="E6DED2"/>
            </a:solidFill>
            <a:prstDash val="solid"/>
          </a:ln>
          <a:effectLst>
            <a:outerShdw dist="16510" dir="2700000" algn="bl" rotWithShape="0">
              <a:srgbClr val="E6DED2">
                <a:alpha val="100000"/>
              </a:srgbClr>
            </a:outerShdw>
          </a:effectLst>
        </p:spPr>
      </p:sp>
      <p:sp>
        <p:nvSpPr>
          <p:cNvPr id="6" name="Shape 4"/>
          <p:cNvSpPr/>
          <p:nvPr/>
        </p:nvSpPr>
        <p:spPr>
          <a:xfrm>
            <a:off x="770930" y="2707838"/>
            <a:ext cx="91440" cy="2085261"/>
          </a:xfrm>
          <a:prstGeom prst="roundRect">
            <a:avLst>
              <a:gd name="adj" fmla="val 83349"/>
            </a:avLst>
          </a:prstGeom>
          <a:solidFill>
            <a:srgbClr val="E6DED2"/>
          </a:solidFill>
          <a:ln/>
        </p:spPr>
      </p:sp>
      <p:sp>
        <p:nvSpPr>
          <p:cNvPr id="7" name="Text 5"/>
          <p:cNvSpPr/>
          <p:nvPr/>
        </p:nvSpPr>
        <p:spPr>
          <a:xfrm>
            <a:off x="2456855" y="2912150"/>
            <a:ext cx="3191232" cy="283488"/>
          </a:xfrm>
          <a:prstGeom prst="rect">
            <a:avLst/>
          </a:prstGeom>
          <a:noFill/>
          <a:ln/>
        </p:spPr>
        <p:txBody>
          <a:bodyPr wrap="none" lIns="0" tIns="0" rIns="0" bIns="0" rtlCol="0" anchor="t"/>
          <a:lstStyle/>
          <a:p>
            <a:pPr marL="0" indent="0" algn="ctr">
              <a:lnSpc>
                <a:spcPts val="2200"/>
              </a:lnSpc>
              <a:buNone/>
            </a:pPr>
            <a:r>
              <a:rPr lang="en-US" sz="1750" dirty="0">
                <a:solidFill>
                  <a:srgbClr val="4C4C4C"/>
                </a:solidFill>
                <a:latin typeface="Noto Serif Medium" pitchFamily="34" charset="0"/>
                <a:ea typeface="Noto Serif Medium" pitchFamily="34" charset="-122"/>
                <a:cs typeface="Noto Serif Medium" pitchFamily="34" charset="-120"/>
              </a:rPr>
              <a:t>Clear Separation of Concerns</a:t>
            </a:r>
            <a:endParaRPr lang="en-US" sz="1750" dirty="0"/>
          </a:p>
        </p:txBody>
      </p:sp>
      <p:sp>
        <p:nvSpPr>
          <p:cNvPr id="8" name="Text 6"/>
          <p:cNvSpPr/>
          <p:nvPr/>
        </p:nvSpPr>
        <p:spPr>
          <a:xfrm>
            <a:off x="1066681" y="3282672"/>
            <a:ext cx="5971580" cy="1306116"/>
          </a:xfrm>
          <a:prstGeom prst="rect">
            <a:avLst/>
          </a:prstGeom>
          <a:noFill/>
          <a:ln/>
        </p:spPr>
        <p:txBody>
          <a:bodyPr wrap="square" lIns="0" tIns="0" rIns="0" bIns="0" rtlCol="0" anchor="t"/>
          <a:lstStyle/>
          <a:p>
            <a:pPr marL="0" indent="0" algn="ctr">
              <a:lnSpc>
                <a:spcPts val="2050"/>
              </a:lnSpc>
              <a:buNone/>
            </a:pPr>
            <a:r>
              <a:rPr lang="en-US" sz="1400" dirty="0">
                <a:solidFill>
                  <a:srgbClr val="4C4C4C"/>
                </a:solidFill>
                <a:latin typeface="Noto Serif" pitchFamily="34" charset="0"/>
                <a:ea typeface="Noto Serif" pitchFamily="34" charset="-122"/>
                <a:cs typeface="Noto Serif" pitchFamily="34" charset="-120"/>
              </a:rPr>
              <a:t>Each module has a well-defined responsibility: CNN handles disease detection, Advisory manages contextual reasoning, Chatbot facilitates user interaction, and Market enables commerce integration. This clarity improves code maintainability and team collaboration.</a:t>
            </a:r>
            <a:endParaRPr lang="en-US" sz="1400" dirty="0"/>
          </a:p>
        </p:txBody>
      </p:sp>
      <p:sp>
        <p:nvSpPr>
          <p:cNvPr id="9" name="Shape 7"/>
          <p:cNvSpPr/>
          <p:nvPr/>
        </p:nvSpPr>
        <p:spPr>
          <a:xfrm>
            <a:off x="7387709" y="2707838"/>
            <a:ext cx="6448901" cy="2085261"/>
          </a:xfrm>
          <a:prstGeom prst="roundRect">
            <a:avLst>
              <a:gd name="adj" fmla="val 5262"/>
            </a:avLst>
          </a:prstGeom>
          <a:solidFill>
            <a:srgbClr val="FDFBF7"/>
          </a:solidFill>
          <a:ln w="22860">
            <a:solidFill>
              <a:srgbClr val="E6DED2"/>
            </a:solidFill>
            <a:prstDash val="solid"/>
          </a:ln>
          <a:effectLst>
            <a:outerShdw dist="16510" dir="2700000" algn="bl" rotWithShape="0">
              <a:srgbClr val="E6DED2">
                <a:alpha val="100000"/>
              </a:srgbClr>
            </a:outerShdw>
          </a:effectLst>
        </p:spPr>
      </p:sp>
      <p:sp>
        <p:nvSpPr>
          <p:cNvPr id="10" name="Shape 8"/>
          <p:cNvSpPr/>
          <p:nvPr/>
        </p:nvSpPr>
        <p:spPr>
          <a:xfrm>
            <a:off x="7364849" y="2707838"/>
            <a:ext cx="91440" cy="2085261"/>
          </a:xfrm>
          <a:prstGeom prst="roundRect">
            <a:avLst>
              <a:gd name="adj" fmla="val 83349"/>
            </a:avLst>
          </a:prstGeom>
          <a:solidFill>
            <a:srgbClr val="E6DED2"/>
          </a:solidFill>
          <a:ln/>
        </p:spPr>
      </p:sp>
      <p:sp>
        <p:nvSpPr>
          <p:cNvPr id="11" name="Text 9"/>
          <p:cNvSpPr/>
          <p:nvPr/>
        </p:nvSpPr>
        <p:spPr>
          <a:xfrm>
            <a:off x="9239250" y="2912150"/>
            <a:ext cx="2814280" cy="283488"/>
          </a:xfrm>
          <a:prstGeom prst="rect">
            <a:avLst/>
          </a:prstGeom>
          <a:noFill/>
          <a:ln/>
        </p:spPr>
        <p:txBody>
          <a:bodyPr wrap="none" lIns="0" tIns="0" rIns="0" bIns="0" rtlCol="0" anchor="t"/>
          <a:lstStyle/>
          <a:p>
            <a:pPr marL="0" indent="0" algn="ctr">
              <a:lnSpc>
                <a:spcPts val="2200"/>
              </a:lnSpc>
              <a:buNone/>
            </a:pPr>
            <a:r>
              <a:rPr lang="en-US" sz="1750" dirty="0">
                <a:solidFill>
                  <a:srgbClr val="4C4C4C"/>
                </a:solidFill>
                <a:latin typeface="Noto Serif Medium" pitchFamily="34" charset="0"/>
                <a:ea typeface="Noto Serif Medium" pitchFamily="34" charset="-122"/>
                <a:cs typeface="Noto Serif Medium" pitchFamily="34" charset="-120"/>
              </a:rPr>
              <a:t>Accelerated Development</a:t>
            </a:r>
            <a:endParaRPr lang="en-US" sz="1750" dirty="0"/>
          </a:p>
        </p:txBody>
      </p:sp>
      <p:sp>
        <p:nvSpPr>
          <p:cNvPr id="12" name="Text 10"/>
          <p:cNvSpPr/>
          <p:nvPr/>
        </p:nvSpPr>
        <p:spPr>
          <a:xfrm>
            <a:off x="7660600" y="3282672"/>
            <a:ext cx="5971699" cy="783669"/>
          </a:xfrm>
          <a:prstGeom prst="rect">
            <a:avLst/>
          </a:prstGeom>
          <a:noFill/>
          <a:ln/>
        </p:spPr>
        <p:txBody>
          <a:bodyPr wrap="square" lIns="0" tIns="0" rIns="0" bIns="0" rtlCol="0" anchor="t"/>
          <a:lstStyle/>
          <a:p>
            <a:pPr marL="0" indent="0" algn="ctr">
              <a:lnSpc>
                <a:spcPts val="2050"/>
              </a:lnSpc>
              <a:buNone/>
            </a:pPr>
            <a:r>
              <a:rPr lang="en-US" sz="1400" dirty="0">
                <a:solidFill>
                  <a:srgbClr val="4C4C4C"/>
                </a:solidFill>
                <a:latin typeface="Noto Serif" pitchFamily="34" charset="0"/>
                <a:ea typeface="Noto Serif" pitchFamily="34" charset="-122"/>
                <a:cs typeface="Noto Serif" pitchFamily="34" charset="-120"/>
              </a:rPr>
              <a:t>Unified backend enables easy API calls between modules, shared database access, simplified debugging workflows and faster testing cycles which are critical advantages for meeting capstone deadlines.</a:t>
            </a:r>
            <a:endParaRPr lang="en-US" sz="1400" dirty="0"/>
          </a:p>
        </p:txBody>
      </p:sp>
      <p:sp>
        <p:nvSpPr>
          <p:cNvPr id="13" name="Shape 11"/>
          <p:cNvSpPr/>
          <p:nvPr/>
        </p:nvSpPr>
        <p:spPr>
          <a:xfrm>
            <a:off x="793790" y="5047062"/>
            <a:ext cx="13042821" cy="30242"/>
          </a:xfrm>
          <a:prstGeom prst="rect">
            <a:avLst/>
          </a:prstGeom>
          <a:solidFill>
            <a:srgbClr val="4C4C4C">
              <a:alpha val="50000"/>
            </a:srgbClr>
          </a:solidFill>
          <a:ln/>
        </p:spPr>
      </p:sp>
      <p:sp>
        <p:nvSpPr>
          <p:cNvPr id="14" name="Text 12"/>
          <p:cNvSpPr/>
          <p:nvPr/>
        </p:nvSpPr>
        <p:spPr>
          <a:xfrm>
            <a:off x="793790" y="5294948"/>
            <a:ext cx="3471386" cy="340162"/>
          </a:xfrm>
          <a:prstGeom prst="rect">
            <a:avLst/>
          </a:prstGeom>
          <a:noFill/>
          <a:ln/>
        </p:spPr>
        <p:txBody>
          <a:bodyPr wrap="none" lIns="0" tIns="0" rIns="0" bIns="0" rtlCol="0" anchor="t"/>
          <a:lstStyle/>
          <a:p>
            <a:pPr marL="0" indent="0" algn="l">
              <a:lnSpc>
                <a:spcPts val="2650"/>
              </a:lnSpc>
              <a:buNone/>
            </a:pPr>
            <a:r>
              <a:rPr lang="en-US" sz="2100" dirty="0">
                <a:solidFill>
                  <a:srgbClr val="3A3A3A"/>
                </a:solidFill>
                <a:latin typeface="Noto Serif Medium" pitchFamily="34" charset="0"/>
                <a:ea typeface="Noto Serif Medium" pitchFamily="34" charset="-122"/>
                <a:cs typeface="Noto Serif Medium" pitchFamily="34" charset="-120"/>
              </a:rPr>
              <a:t>Acknowledged Drawbacks</a:t>
            </a:r>
            <a:endParaRPr lang="en-US" sz="2100" dirty="0"/>
          </a:p>
        </p:txBody>
      </p:sp>
      <p:sp>
        <p:nvSpPr>
          <p:cNvPr id="15" name="Shape 13"/>
          <p:cNvSpPr/>
          <p:nvPr/>
        </p:nvSpPr>
        <p:spPr>
          <a:xfrm>
            <a:off x="793790" y="5852755"/>
            <a:ext cx="6448782" cy="1562814"/>
          </a:xfrm>
          <a:prstGeom prst="roundRect">
            <a:avLst>
              <a:gd name="adj" fmla="val 7021"/>
            </a:avLst>
          </a:prstGeom>
          <a:solidFill>
            <a:srgbClr val="FDFBF7"/>
          </a:solidFill>
          <a:ln w="22860">
            <a:solidFill>
              <a:srgbClr val="E6DED2"/>
            </a:solidFill>
            <a:prstDash val="solid"/>
          </a:ln>
          <a:effectLst>
            <a:outerShdw dist="16510" dir="2700000" algn="bl" rotWithShape="0">
              <a:srgbClr val="E6DED2">
                <a:alpha val="100000"/>
              </a:srgbClr>
            </a:outerShdw>
          </a:effectLst>
        </p:spPr>
      </p:sp>
      <p:sp>
        <p:nvSpPr>
          <p:cNvPr id="16" name="Shape 14"/>
          <p:cNvSpPr/>
          <p:nvPr/>
        </p:nvSpPr>
        <p:spPr>
          <a:xfrm>
            <a:off x="770930" y="5852755"/>
            <a:ext cx="91440" cy="1562814"/>
          </a:xfrm>
          <a:prstGeom prst="roundRect">
            <a:avLst>
              <a:gd name="adj" fmla="val 83349"/>
            </a:avLst>
          </a:prstGeom>
          <a:solidFill>
            <a:srgbClr val="E6DED2"/>
          </a:solidFill>
          <a:ln/>
        </p:spPr>
      </p:sp>
      <p:sp>
        <p:nvSpPr>
          <p:cNvPr id="17" name="Text 15"/>
          <p:cNvSpPr/>
          <p:nvPr/>
        </p:nvSpPr>
        <p:spPr>
          <a:xfrm>
            <a:off x="1066681" y="6057067"/>
            <a:ext cx="2471738" cy="283488"/>
          </a:xfrm>
          <a:prstGeom prst="rect">
            <a:avLst/>
          </a:prstGeom>
          <a:noFill/>
          <a:ln/>
        </p:spPr>
        <p:txBody>
          <a:bodyPr wrap="none" lIns="0" tIns="0" rIns="0" bIns="0" rtlCol="0" anchor="t"/>
          <a:lstStyle/>
          <a:p>
            <a:pPr marL="0" indent="0" algn="l">
              <a:lnSpc>
                <a:spcPts val="2200"/>
              </a:lnSpc>
              <a:buNone/>
            </a:pPr>
            <a:r>
              <a:rPr lang="en-US" sz="1750" dirty="0">
                <a:solidFill>
                  <a:srgbClr val="4C4C4C"/>
                </a:solidFill>
                <a:latin typeface="Noto Serif Medium" pitchFamily="34" charset="0"/>
                <a:ea typeface="Noto Serif Medium" pitchFamily="34" charset="-122"/>
                <a:cs typeface="Noto Serif Medium" pitchFamily="34" charset="-120"/>
              </a:rPr>
              <a:t>Scalability Limitations</a:t>
            </a:r>
            <a:endParaRPr lang="en-US" sz="1750" dirty="0"/>
          </a:p>
        </p:txBody>
      </p:sp>
      <p:sp>
        <p:nvSpPr>
          <p:cNvPr id="18" name="Text 16"/>
          <p:cNvSpPr/>
          <p:nvPr/>
        </p:nvSpPr>
        <p:spPr>
          <a:xfrm>
            <a:off x="1066681" y="6427589"/>
            <a:ext cx="5971580" cy="783669"/>
          </a:xfrm>
          <a:prstGeom prst="rect">
            <a:avLst/>
          </a:prstGeom>
          <a:noFill/>
          <a:ln/>
        </p:spPr>
        <p:txBody>
          <a:bodyPr wrap="square" lIns="0" tIns="0" rIns="0" bIns="0" rtlCol="0" anchor="t"/>
          <a:lstStyle/>
          <a:p>
            <a:pPr marL="0" indent="0" algn="l">
              <a:lnSpc>
                <a:spcPts val="2050"/>
              </a:lnSpc>
              <a:buNone/>
            </a:pPr>
            <a:r>
              <a:rPr lang="en-US" sz="1400" dirty="0">
                <a:solidFill>
                  <a:srgbClr val="4C4C4C"/>
                </a:solidFill>
                <a:latin typeface="Noto Serif" pitchFamily="34" charset="0"/>
                <a:ea typeface="Noto Serif" pitchFamily="34" charset="-122"/>
                <a:cs typeface="Noto Serif" pitchFamily="34" charset="-120"/>
              </a:rPr>
              <a:t>Individual modules cannot scale independently. Resource-intensive CNN and LLM operations may create computational bottlenecks under high concurrent load.</a:t>
            </a:r>
            <a:endParaRPr lang="en-US" sz="1400" dirty="0"/>
          </a:p>
        </p:txBody>
      </p:sp>
      <p:sp>
        <p:nvSpPr>
          <p:cNvPr id="19" name="Shape 17"/>
          <p:cNvSpPr/>
          <p:nvPr/>
        </p:nvSpPr>
        <p:spPr>
          <a:xfrm>
            <a:off x="7387709" y="5852755"/>
            <a:ext cx="6448901" cy="1562814"/>
          </a:xfrm>
          <a:prstGeom prst="roundRect">
            <a:avLst>
              <a:gd name="adj" fmla="val 7021"/>
            </a:avLst>
          </a:prstGeom>
          <a:solidFill>
            <a:srgbClr val="FDFBF7"/>
          </a:solidFill>
          <a:ln w="22860">
            <a:solidFill>
              <a:srgbClr val="E6DED2"/>
            </a:solidFill>
            <a:prstDash val="solid"/>
          </a:ln>
          <a:effectLst>
            <a:outerShdw dist="16510" dir="2700000" algn="bl" rotWithShape="0">
              <a:srgbClr val="E6DED2">
                <a:alpha val="100000"/>
              </a:srgbClr>
            </a:outerShdw>
          </a:effectLst>
        </p:spPr>
      </p:sp>
      <p:sp>
        <p:nvSpPr>
          <p:cNvPr id="20" name="Shape 18"/>
          <p:cNvSpPr/>
          <p:nvPr/>
        </p:nvSpPr>
        <p:spPr>
          <a:xfrm>
            <a:off x="7364849" y="5852755"/>
            <a:ext cx="91440" cy="1562814"/>
          </a:xfrm>
          <a:prstGeom prst="roundRect">
            <a:avLst>
              <a:gd name="adj" fmla="val 83349"/>
            </a:avLst>
          </a:prstGeom>
          <a:solidFill>
            <a:srgbClr val="E6DED2"/>
          </a:solidFill>
          <a:ln/>
        </p:spPr>
      </p:sp>
      <p:sp>
        <p:nvSpPr>
          <p:cNvPr id="21" name="Text 19"/>
          <p:cNvSpPr/>
          <p:nvPr/>
        </p:nvSpPr>
        <p:spPr>
          <a:xfrm>
            <a:off x="7660600" y="6057067"/>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4C4C4C"/>
                </a:solidFill>
                <a:latin typeface="Noto Serif Medium" pitchFamily="34" charset="0"/>
                <a:ea typeface="Noto Serif Medium" pitchFamily="34" charset="-122"/>
                <a:cs typeface="Noto Serif Medium" pitchFamily="34" charset="-120"/>
              </a:rPr>
              <a:t>Tight Coupling Risk</a:t>
            </a:r>
            <a:endParaRPr lang="en-US" sz="1750" dirty="0"/>
          </a:p>
        </p:txBody>
      </p:sp>
      <p:sp>
        <p:nvSpPr>
          <p:cNvPr id="22" name="Text 20"/>
          <p:cNvSpPr/>
          <p:nvPr/>
        </p:nvSpPr>
        <p:spPr>
          <a:xfrm>
            <a:off x="7660600" y="6427589"/>
            <a:ext cx="5971699" cy="783669"/>
          </a:xfrm>
          <a:prstGeom prst="rect">
            <a:avLst/>
          </a:prstGeom>
          <a:noFill/>
          <a:ln/>
        </p:spPr>
        <p:txBody>
          <a:bodyPr wrap="square" lIns="0" tIns="0" rIns="0" bIns="0" rtlCol="0" anchor="t"/>
          <a:lstStyle/>
          <a:p>
            <a:pPr marL="0" indent="0" algn="l">
              <a:lnSpc>
                <a:spcPts val="2050"/>
              </a:lnSpc>
              <a:buNone/>
            </a:pPr>
            <a:r>
              <a:rPr lang="en-US" sz="1400" dirty="0">
                <a:solidFill>
                  <a:srgbClr val="4C4C4C"/>
                </a:solidFill>
                <a:latin typeface="Noto Serif" pitchFamily="34" charset="0"/>
                <a:ea typeface="Noto Serif" pitchFamily="34" charset="-122"/>
                <a:cs typeface="Noto Serif" pitchFamily="34" charset="-120"/>
              </a:rPr>
              <a:t>Internal dependencies mean changes in one module can ripple through the system, potentially affecting stability during iterative development.</a:t>
            </a:r>
            <a:endParaRPr lang="en-US" sz="1400" dirty="0"/>
          </a:p>
        </p:txBody>
      </p:sp>
      <p:sp>
        <p:nvSpPr>
          <p:cNvPr id="23" name="Rectangle 22">
            <a:extLst>
              <a:ext uri="{FF2B5EF4-FFF2-40B4-BE49-F238E27FC236}">
                <a16:creationId xmlns:a16="http://schemas.microsoft.com/office/drawing/2014/main" id="{4254A3A3-D662-D563-9EE1-2F049009F949}"/>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238012"/>
            <a:ext cx="8019455" cy="566976"/>
          </a:xfrm>
          <a:prstGeom prst="rect">
            <a:avLst/>
          </a:prstGeom>
          <a:noFill/>
          <a:ln/>
        </p:spPr>
        <p:txBody>
          <a:bodyPr wrap="none" lIns="0" tIns="0" rIns="0" bIns="0" rtlCol="0" anchor="t"/>
          <a:lstStyle/>
          <a:p>
            <a:pPr marL="0" indent="0" algn="l">
              <a:lnSpc>
                <a:spcPts val="4450"/>
              </a:lnSpc>
              <a:buNone/>
            </a:pPr>
            <a:r>
              <a:rPr lang="en-US" sz="3550" dirty="0">
                <a:solidFill>
                  <a:srgbClr val="3A3A3A"/>
                </a:solidFill>
                <a:latin typeface="Noto Serif Medium" pitchFamily="34" charset="0"/>
                <a:ea typeface="Noto Serif Medium" pitchFamily="34" charset="-122"/>
                <a:cs typeface="Noto Serif Medium" pitchFamily="34" charset="-120"/>
              </a:rPr>
              <a:t>Design Constraints and Assumptions</a:t>
            </a:r>
            <a:endParaRPr lang="en-US" sz="3550" dirty="0"/>
          </a:p>
        </p:txBody>
      </p:sp>
      <p:sp>
        <p:nvSpPr>
          <p:cNvPr id="3" name="Shape 1"/>
          <p:cNvSpPr/>
          <p:nvPr/>
        </p:nvSpPr>
        <p:spPr>
          <a:xfrm>
            <a:off x="793790" y="2095262"/>
            <a:ext cx="6448782" cy="2273737"/>
          </a:xfrm>
          <a:prstGeom prst="roundRect">
            <a:avLst>
              <a:gd name="adj" fmla="val 4826"/>
            </a:avLst>
          </a:prstGeom>
          <a:solidFill>
            <a:srgbClr val="FDFBF7"/>
          </a:solidFill>
          <a:ln w="22860">
            <a:solidFill>
              <a:srgbClr val="E6DED2"/>
            </a:solidFill>
            <a:prstDash val="solid"/>
          </a:ln>
          <a:effectLst>
            <a:outerShdw dist="16510" dir="2700000" algn="bl" rotWithShape="0">
              <a:srgbClr val="E6DED2">
                <a:alpha val="100000"/>
              </a:srgbClr>
            </a:outerShdw>
          </a:effectLst>
        </p:spPr>
      </p:sp>
      <p:sp>
        <p:nvSpPr>
          <p:cNvPr id="4" name="Shape 2"/>
          <p:cNvSpPr/>
          <p:nvPr/>
        </p:nvSpPr>
        <p:spPr>
          <a:xfrm>
            <a:off x="770930" y="2095262"/>
            <a:ext cx="91440" cy="2273737"/>
          </a:xfrm>
          <a:prstGeom prst="roundRect">
            <a:avLst>
              <a:gd name="adj" fmla="val 83349"/>
            </a:avLst>
          </a:prstGeom>
          <a:solidFill>
            <a:srgbClr val="E6DED2"/>
          </a:solidFill>
          <a:ln/>
        </p:spPr>
      </p:sp>
      <p:sp>
        <p:nvSpPr>
          <p:cNvPr id="5" name="Text 3"/>
          <p:cNvSpPr/>
          <p:nvPr/>
        </p:nvSpPr>
        <p:spPr>
          <a:xfrm>
            <a:off x="2169200" y="2299573"/>
            <a:ext cx="3766423" cy="283488"/>
          </a:xfrm>
          <a:prstGeom prst="rect">
            <a:avLst/>
          </a:prstGeom>
          <a:noFill/>
          <a:ln/>
        </p:spPr>
        <p:txBody>
          <a:bodyPr wrap="none" lIns="0" tIns="0" rIns="0" bIns="0" rtlCol="0" anchor="t"/>
          <a:lstStyle/>
          <a:p>
            <a:pPr marL="0" indent="0" algn="ctr">
              <a:lnSpc>
                <a:spcPts val="2200"/>
              </a:lnSpc>
              <a:buNone/>
            </a:pPr>
            <a:r>
              <a:rPr lang="en-US" sz="1750" dirty="0">
                <a:solidFill>
                  <a:srgbClr val="4C4C4C"/>
                </a:solidFill>
                <a:latin typeface="Noto Serif Medium" pitchFamily="34" charset="0"/>
                <a:ea typeface="Noto Serif Medium" pitchFamily="34" charset="-122"/>
                <a:cs typeface="Noto Serif Medium" pitchFamily="34" charset="-120"/>
              </a:rPr>
              <a:t>Limited Infrastructure &amp; Compute</a:t>
            </a:r>
            <a:endParaRPr lang="en-US" sz="1750" dirty="0"/>
          </a:p>
        </p:txBody>
      </p:sp>
      <p:sp>
        <p:nvSpPr>
          <p:cNvPr id="6" name="Text 4"/>
          <p:cNvSpPr/>
          <p:nvPr/>
        </p:nvSpPr>
        <p:spPr>
          <a:xfrm>
            <a:off x="1066681" y="2670096"/>
            <a:ext cx="5971580" cy="522446"/>
          </a:xfrm>
          <a:prstGeom prst="rect">
            <a:avLst/>
          </a:prstGeom>
          <a:noFill/>
          <a:ln/>
        </p:spPr>
        <p:txBody>
          <a:bodyPr wrap="square" lIns="0" tIns="0" rIns="0" bIns="0" rtlCol="0" anchor="t"/>
          <a:lstStyle/>
          <a:p>
            <a:pPr marL="0" indent="0" algn="ctr">
              <a:lnSpc>
                <a:spcPts val="2050"/>
              </a:lnSpc>
              <a:buNone/>
            </a:pPr>
            <a:r>
              <a:rPr lang="en-US" sz="1400" dirty="0">
                <a:solidFill>
                  <a:srgbClr val="4C4C4C"/>
                </a:solidFill>
                <a:latin typeface="Noto Serif" pitchFamily="34" charset="0"/>
                <a:ea typeface="Noto Serif" pitchFamily="34" charset="-122"/>
                <a:cs typeface="Noto Serif" pitchFamily="34" charset="-120"/>
              </a:rPr>
              <a:t>No dedicated GPU cluster, restricted cloud credits, and resource intensive AI requirements shaped our technical decisions:</a:t>
            </a:r>
            <a:endParaRPr lang="en-US" sz="1400" dirty="0"/>
          </a:p>
        </p:txBody>
      </p:sp>
      <p:sp>
        <p:nvSpPr>
          <p:cNvPr id="7" name="Text 5"/>
          <p:cNvSpPr/>
          <p:nvPr/>
        </p:nvSpPr>
        <p:spPr>
          <a:xfrm>
            <a:off x="1066681" y="3279577"/>
            <a:ext cx="5971580" cy="885111"/>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C4C4C"/>
                </a:solidFill>
                <a:latin typeface="Noto Serif" pitchFamily="34" charset="0"/>
                <a:ea typeface="Noto Serif" pitchFamily="34" charset="-122"/>
                <a:cs typeface="Noto Serif" pitchFamily="34" charset="-120"/>
              </a:rPr>
              <a:t>Transfer learning with ResNet50 instead of training from scratch</a:t>
            </a:r>
            <a:endParaRPr lang="en-US" sz="1400" dirty="0"/>
          </a:p>
          <a:p>
            <a:pPr marL="342900" indent="-342900" algn="l">
              <a:lnSpc>
                <a:spcPts val="2050"/>
              </a:lnSpc>
              <a:buSzPct val="100000"/>
              <a:buChar char="•"/>
            </a:pPr>
            <a:r>
              <a:rPr lang="en-US" sz="1400" dirty="0">
                <a:solidFill>
                  <a:srgbClr val="4C4C4C"/>
                </a:solidFill>
                <a:latin typeface="Noto Serif" pitchFamily="34" charset="0"/>
                <a:ea typeface="Noto Serif" pitchFamily="34" charset="-122"/>
                <a:cs typeface="Noto Serif" pitchFamily="34" charset="-120"/>
              </a:rPr>
              <a:t>Retrieval-based LLM approach over full model fine-tuning</a:t>
            </a:r>
            <a:endParaRPr lang="en-US" sz="1400" dirty="0"/>
          </a:p>
          <a:p>
            <a:pPr marL="342900" indent="-342900" algn="l">
              <a:lnSpc>
                <a:spcPts val="2050"/>
              </a:lnSpc>
              <a:buSzPct val="100000"/>
              <a:buChar char="•"/>
            </a:pPr>
            <a:r>
              <a:rPr lang="en-US" sz="1400" dirty="0">
                <a:solidFill>
                  <a:srgbClr val="4C4C4C"/>
                </a:solidFill>
                <a:latin typeface="Noto Serif" pitchFamily="34" charset="0"/>
                <a:ea typeface="Noto Serif" pitchFamily="34" charset="-122"/>
                <a:cs typeface="Noto Serif" pitchFamily="34" charset="-120"/>
              </a:rPr>
              <a:t>Avoided distributed microservices to minimize overhead</a:t>
            </a:r>
            <a:endParaRPr lang="en-US" sz="1400" dirty="0"/>
          </a:p>
        </p:txBody>
      </p:sp>
      <p:sp>
        <p:nvSpPr>
          <p:cNvPr id="8" name="Shape 6"/>
          <p:cNvSpPr/>
          <p:nvPr/>
        </p:nvSpPr>
        <p:spPr>
          <a:xfrm>
            <a:off x="7387709" y="2095262"/>
            <a:ext cx="6448901" cy="2273737"/>
          </a:xfrm>
          <a:prstGeom prst="roundRect">
            <a:avLst>
              <a:gd name="adj" fmla="val 4826"/>
            </a:avLst>
          </a:prstGeom>
          <a:solidFill>
            <a:srgbClr val="FDFBF7"/>
          </a:solidFill>
          <a:ln w="22860">
            <a:solidFill>
              <a:srgbClr val="E6DED2"/>
            </a:solidFill>
            <a:prstDash val="solid"/>
          </a:ln>
          <a:effectLst>
            <a:outerShdw dist="16510" dir="2700000" algn="bl" rotWithShape="0">
              <a:srgbClr val="E6DED2">
                <a:alpha val="100000"/>
              </a:srgbClr>
            </a:outerShdw>
          </a:effectLst>
        </p:spPr>
      </p:sp>
      <p:sp>
        <p:nvSpPr>
          <p:cNvPr id="9" name="Shape 7"/>
          <p:cNvSpPr/>
          <p:nvPr/>
        </p:nvSpPr>
        <p:spPr>
          <a:xfrm>
            <a:off x="7364849" y="2095262"/>
            <a:ext cx="91440" cy="2273737"/>
          </a:xfrm>
          <a:prstGeom prst="roundRect">
            <a:avLst>
              <a:gd name="adj" fmla="val 83349"/>
            </a:avLst>
          </a:prstGeom>
          <a:solidFill>
            <a:srgbClr val="E6DED2"/>
          </a:solidFill>
          <a:ln/>
        </p:spPr>
      </p:sp>
      <p:sp>
        <p:nvSpPr>
          <p:cNvPr id="10" name="Text 8"/>
          <p:cNvSpPr/>
          <p:nvPr/>
        </p:nvSpPr>
        <p:spPr>
          <a:xfrm>
            <a:off x="9372481" y="2299573"/>
            <a:ext cx="2547937" cy="283488"/>
          </a:xfrm>
          <a:prstGeom prst="rect">
            <a:avLst/>
          </a:prstGeom>
          <a:noFill/>
          <a:ln/>
        </p:spPr>
        <p:txBody>
          <a:bodyPr wrap="none" lIns="0" tIns="0" rIns="0" bIns="0" rtlCol="0" anchor="t"/>
          <a:lstStyle/>
          <a:p>
            <a:pPr marL="0" indent="0" algn="ctr">
              <a:lnSpc>
                <a:spcPts val="2200"/>
              </a:lnSpc>
              <a:buNone/>
            </a:pPr>
            <a:r>
              <a:rPr lang="en-US" sz="1750" dirty="0">
                <a:solidFill>
                  <a:srgbClr val="4C4C4C"/>
                </a:solidFill>
                <a:latin typeface="Noto Serif Medium" pitchFamily="34" charset="0"/>
                <a:ea typeface="Noto Serif Medium" pitchFamily="34" charset="-122"/>
                <a:cs typeface="Noto Serif Medium" pitchFamily="34" charset="-120"/>
              </a:rPr>
              <a:t>Integration Complexity</a:t>
            </a:r>
            <a:endParaRPr lang="en-US" sz="1750" dirty="0"/>
          </a:p>
        </p:txBody>
      </p:sp>
      <p:sp>
        <p:nvSpPr>
          <p:cNvPr id="11" name="Text 9"/>
          <p:cNvSpPr/>
          <p:nvPr/>
        </p:nvSpPr>
        <p:spPr>
          <a:xfrm>
            <a:off x="7660600" y="2670096"/>
            <a:ext cx="5971699" cy="522446"/>
          </a:xfrm>
          <a:prstGeom prst="rect">
            <a:avLst/>
          </a:prstGeom>
          <a:noFill/>
          <a:ln/>
        </p:spPr>
        <p:txBody>
          <a:bodyPr wrap="square" lIns="0" tIns="0" rIns="0" bIns="0" rtlCol="0" anchor="t"/>
          <a:lstStyle/>
          <a:p>
            <a:pPr marL="0" indent="0" algn="ctr">
              <a:lnSpc>
                <a:spcPts val="2050"/>
              </a:lnSpc>
              <a:buNone/>
            </a:pPr>
            <a:r>
              <a:rPr lang="en-US" sz="1400" dirty="0">
                <a:solidFill>
                  <a:srgbClr val="4C4C4C"/>
                </a:solidFill>
                <a:latin typeface="Noto Serif" pitchFamily="34" charset="0"/>
                <a:ea typeface="Noto Serif" pitchFamily="34" charset="-122"/>
                <a:cs typeface="Noto Serif" pitchFamily="34" charset="-120"/>
              </a:rPr>
              <a:t>The project combines Computer Vision, LLM, Vector Database, External APIs, Market Database, and Chat Interface</a:t>
            </a:r>
            <a:endParaRPr lang="en-US" sz="1400" dirty="0"/>
          </a:p>
        </p:txBody>
      </p:sp>
      <p:sp>
        <p:nvSpPr>
          <p:cNvPr id="12" name="Text 10"/>
          <p:cNvSpPr/>
          <p:nvPr/>
        </p:nvSpPr>
        <p:spPr>
          <a:xfrm>
            <a:off x="7660600" y="3279577"/>
            <a:ext cx="5971699" cy="885111"/>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C4C4C"/>
                </a:solidFill>
                <a:latin typeface="Noto Serif" pitchFamily="34" charset="0"/>
                <a:ea typeface="Noto Serif" pitchFamily="34" charset="-122"/>
                <a:cs typeface="Noto Serif" pitchFamily="34" charset="-120"/>
              </a:rPr>
              <a:t>Layered architecture for system clarity</a:t>
            </a:r>
            <a:endParaRPr lang="en-US" sz="1400" dirty="0"/>
          </a:p>
          <a:p>
            <a:pPr marL="342900" indent="-342900" algn="l">
              <a:lnSpc>
                <a:spcPts val="2050"/>
              </a:lnSpc>
              <a:buSzPct val="100000"/>
              <a:buChar char="•"/>
            </a:pPr>
            <a:r>
              <a:rPr lang="en-US" sz="1400" dirty="0">
                <a:solidFill>
                  <a:srgbClr val="4C4C4C"/>
                </a:solidFill>
                <a:latin typeface="Noto Serif" pitchFamily="34" charset="0"/>
                <a:ea typeface="Noto Serif" pitchFamily="34" charset="-122"/>
                <a:cs typeface="Noto Serif" pitchFamily="34" charset="-120"/>
              </a:rPr>
              <a:t>Unified backend for simplified communication</a:t>
            </a:r>
            <a:endParaRPr lang="en-US" sz="1400" dirty="0"/>
          </a:p>
          <a:p>
            <a:pPr marL="342900" indent="-342900" algn="l">
              <a:lnSpc>
                <a:spcPts val="2050"/>
              </a:lnSpc>
              <a:buSzPct val="100000"/>
              <a:buChar char="•"/>
            </a:pPr>
            <a:r>
              <a:rPr lang="en-US" sz="1400" dirty="0">
                <a:solidFill>
                  <a:srgbClr val="4C4C4C"/>
                </a:solidFill>
                <a:latin typeface="Noto Serif" pitchFamily="34" charset="0"/>
                <a:ea typeface="Noto Serif" pitchFamily="34" charset="-122"/>
                <a:cs typeface="Noto Serif" pitchFamily="34" charset="-120"/>
              </a:rPr>
              <a:t>Careful API orchestration across components</a:t>
            </a:r>
            <a:endParaRPr lang="en-US" sz="1400" dirty="0"/>
          </a:p>
        </p:txBody>
      </p:sp>
      <p:sp>
        <p:nvSpPr>
          <p:cNvPr id="13" name="Shape 11"/>
          <p:cNvSpPr/>
          <p:nvPr/>
        </p:nvSpPr>
        <p:spPr>
          <a:xfrm>
            <a:off x="793790" y="4622962"/>
            <a:ext cx="13042821" cy="30242"/>
          </a:xfrm>
          <a:prstGeom prst="rect">
            <a:avLst/>
          </a:prstGeom>
          <a:solidFill>
            <a:srgbClr val="4C4C4C">
              <a:alpha val="50000"/>
            </a:srgbClr>
          </a:solidFill>
          <a:ln/>
        </p:spPr>
      </p:sp>
      <p:sp>
        <p:nvSpPr>
          <p:cNvPr id="14" name="Text 12"/>
          <p:cNvSpPr/>
          <p:nvPr/>
        </p:nvSpPr>
        <p:spPr>
          <a:xfrm>
            <a:off x="793790" y="4870847"/>
            <a:ext cx="3222903" cy="340162"/>
          </a:xfrm>
          <a:prstGeom prst="rect">
            <a:avLst/>
          </a:prstGeom>
          <a:noFill/>
          <a:ln/>
        </p:spPr>
        <p:txBody>
          <a:bodyPr wrap="none" lIns="0" tIns="0" rIns="0" bIns="0" rtlCol="0" anchor="t"/>
          <a:lstStyle/>
          <a:p>
            <a:pPr marL="0" indent="0" algn="l">
              <a:lnSpc>
                <a:spcPts val="2650"/>
              </a:lnSpc>
              <a:buNone/>
            </a:pPr>
            <a:r>
              <a:rPr lang="en-US" sz="2100" dirty="0">
                <a:solidFill>
                  <a:srgbClr val="3A3A3A"/>
                </a:solidFill>
                <a:latin typeface="Noto Serif Medium" pitchFamily="34" charset="0"/>
                <a:ea typeface="Noto Serif Medium" pitchFamily="34" charset="-122"/>
                <a:cs typeface="Noto Serif Medium" pitchFamily="34" charset="-120"/>
              </a:rPr>
              <a:t>Key Design Assumptions</a:t>
            </a:r>
            <a:endParaRPr lang="en-US" sz="2100" dirty="0"/>
          </a:p>
        </p:txBody>
      </p:sp>
      <p:sp>
        <p:nvSpPr>
          <p:cNvPr id="15" name="Shape 13"/>
          <p:cNvSpPr/>
          <p:nvPr/>
        </p:nvSpPr>
        <p:spPr>
          <a:xfrm>
            <a:off x="793790" y="5428655"/>
            <a:ext cx="6448782" cy="1562814"/>
          </a:xfrm>
          <a:prstGeom prst="roundRect">
            <a:avLst>
              <a:gd name="adj" fmla="val 7021"/>
            </a:avLst>
          </a:prstGeom>
          <a:solidFill>
            <a:srgbClr val="FDFBF7"/>
          </a:solidFill>
          <a:ln w="22860">
            <a:solidFill>
              <a:srgbClr val="E6DED2"/>
            </a:solidFill>
            <a:prstDash val="solid"/>
          </a:ln>
          <a:effectLst>
            <a:outerShdw dist="16510" dir="2700000" algn="bl" rotWithShape="0">
              <a:srgbClr val="E6DED2">
                <a:alpha val="100000"/>
              </a:srgbClr>
            </a:outerShdw>
          </a:effectLst>
        </p:spPr>
      </p:sp>
      <p:sp>
        <p:nvSpPr>
          <p:cNvPr id="16" name="Shape 14"/>
          <p:cNvSpPr/>
          <p:nvPr/>
        </p:nvSpPr>
        <p:spPr>
          <a:xfrm>
            <a:off x="770930" y="5428655"/>
            <a:ext cx="91440" cy="1562814"/>
          </a:xfrm>
          <a:prstGeom prst="roundRect">
            <a:avLst>
              <a:gd name="adj" fmla="val 83349"/>
            </a:avLst>
          </a:prstGeom>
          <a:solidFill>
            <a:srgbClr val="E6DED2"/>
          </a:solidFill>
          <a:ln/>
        </p:spPr>
      </p:sp>
      <p:sp>
        <p:nvSpPr>
          <p:cNvPr id="17" name="Text 15"/>
          <p:cNvSpPr/>
          <p:nvPr/>
        </p:nvSpPr>
        <p:spPr>
          <a:xfrm>
            <a:off x="2918341" y="5632966"/>
            <a:ext cx="2268260" cy="283488"/>
          </a:xfrm>
          <a:prstGeom prst="rect">
            <a:avLst/>
          </a:prstGeom>
          <a:noFill/>
          <a:ln/>
        </p:spPr>
        <p:txBody>
          <a:bodyPr wrap="none" lIns="0" tIns="0" rIns="0" bIns="0" rtlCol="0" anchor="t"/>
          <a:lstStyle/>
          <a:p>
            <a:pPr marL="0" indent="0" algn="ctr">
              <a:lnSpc>
                <a:spcPts val="2200"/>
              </a:lnSpc>
              <a:buNone/>
            </a:pPr>
            <a:r>
              <a:rPr lang="en-US" sz="1750" dirty="0">
                <a:solidFill>
                  <a:srgbClr val="4C4C4C"/>
                </a:solidFill>
                <a:latin typeface="Noto Serif Medium" pitchFamily="34" charset="0"/>
                <a:ea typeface="Noto Serif Medium" pitchFamily="34" charset="-122"/>
                <a:cs typeface="Noto Serif Medium" pitchFamily="34" charset="-120"/>
              </a:rPr>
              <a:t>Internet Availability</a:t>
            </a:r>
            <a:endParaRPr lang="en-US" sz="1750" dirty="0"/>
          </a:p>
        </p:txBody>
      </p:sp>
      <p:sp>
        <p:nvSpPr>
          <p:cNvPr id="18" name="Text 16"/>
          <p:cNvSpPr/>
          <p:nvPr/>
        </p:nvSpPr>
        <p:spPr>
          <a:xfrm>
            <a:off x="1066681" y="6003488"/>
            <a:ext cx="5971580" cy="783669"/>
          </a:xfrm>
          <a:prstGeom prst="rect">
            <a:avLst/>
          </a:prstGeom>
          <a:noFill/>
          <a:ln/>
        </p:spPr>
        <p:txBody>
          <a:bodyPr wrap="square" lIns="0" tIns="0" rIns="0" bIns="0" rtlCol="0" anchor="t"/>
          <a:lstStyle/>
          <a:p>
            <a:pPr marL="0" indent="0" algn="ctr">
              <a:lnSpc>
                <a:spcPts val="2050"/>
              </a:lnSpc>
              <a:buNone/>
            </a:pPr>
            <a:r>
              <a:rPr lang="en-US" sz="1400" dirty="0">
                <a:solidFill>
                  <a:srgbClr val="4C4C4C"/>
                </a:solidFill>
                <a:latin typeface="Noto Serif" pitchFamily="34" charset="0"/>
                <a:ea typeface="Noto Serif" pitchFamily="34" charset="-122"/>
                <a:cs typeface="Noto Serif" pitchFamily="34" charset="-120"/>
              </a:rPr>
              <a:t>System depends on NASA POWER API, Open Elevation API. We assume reliable internet connectivity for real-time data retrieval.</a:t>
            </a:r>
            <a:endParaRPr lang="en-US" sz="1400" dirty="0"/>
          </a:p>
        </p:txBody>
      </p:sp>
      <p:sp>
        <p:nvSpPr>
          <p:cNvPr id="19" name="Shape 17"/>
          <p:cNvSpPr/>
          <p:nvPr/>
        </p:nvSpPr>
        <p:spPr>
          <a:xfrm>
            <a:off x="7387709" y="5428655"/>
            <a:ext cx="6448901" cy="1562814"/>
          </a:xfrm>
          <a:prstGeom prst="roundRect">
            <a:avLst>
              <a:gd name="adj" fmla="val 7021"/>
            </a:avLst>
          </a:prstGeom>
          <a:solidFill>
            <a:srgbClr val="FDFBF7"/>
          </a:solidFill>
          <a:ln w="22860">
            <a:solidFill>
              <a:srgbClr val="E6DED2"/>
            </a:solidFill>
            <a:prstDash val="solid"/>
          </a:ln>
          <a:effectLst>
            <a:outerShdw dist="16510" dir="2700000" algn="bl" rotWithShape="0">
              <a:srgbClr val="E6DED2">
                <a:alpha val="100000"/>
              </a:srgbClr>
            </a:outerShdw>
          </a:effectLst>
        </p:spPr>
      </p:sp>
      <p:sp>
        <p:nvSpPr>
          <p:cNvPr id="20" name="Shape 18"/>
          <p:cNvSpPr/>
          <p:nvPr/>
        </p:nvSpPr>
        <p:spPr>
          <a:xfrm>
            <a:off x="7364849" y="5428655"/>
            <a:ext cx="91440" cy="1562814"/>
          </a:xfrm>
          <a:prstGeom prst="roundRect">
            <a:avLst>
              <a:gd name="adj" fmla="val 83349"/>
            </a:avLst>
          </a:prstGeom>
          <a:solidFill>
            <a:srgbClr val="E6DED2"/>
          </a:solidFill>
          <a:ln/>
        </p:spPr>
      </p:sp>
      <p:sp>
        <p:nvSpPr>
          <p:cNvPr id="21" name="Text 19"/>
          <p:cNvSpPr/>
          <p:nvPr/>
        </p:nvSpPr>
        <p:spPr>
          <a:xfrm>
            <a:off x="9512260" y="5632966"/>
            <a:ext cx="2268260" cy="283488"/>
          </a:xfrm>
          <a:prstGeom prst="rect">
            <a:avLst/>
          </a:prstGeom>
          <a:noFill/>
          <a:ln/>
        </p:spPr>
        <p:txBody>
          <a:bodyPr wrap="none" lIns="0" tIns="0" rIns="0" bIns="0" rtlCol="0" anchor="t"/>
          <a:lstStyle/>
          <a:p>
            <a:pPr marL="0" indent="0" algn="ctr">
              <a:lnSpc>
                <a:spcPts val="2200"/>
              </a:lnSpc>
              <a:buNone/>
            </a:pPr>
            <a:r>
              <a:rPr lang="en-US" sz="1750" dirty="0">
                <a:solidFill>
                  <a:srgbClr val="4C4C4C"/>
                </a:solidFill>
                <a:latin typeface="Noto Serif Medium" pitchFamily="34" charset="0"/>
                <a:ea typeface="Noto Serif Medium" pitchFamily="34" charset="-122"/>
                <a:cs typeface="Noto Serif Medium" pitchFamily="34" charset="-120"/>
              </a:rPr>
              <a:t>Image Input Quality</a:t>
            </a:r>
            <a:endParaRPr lang="en-US" sz="1750" dirty="0"/>
          </a:p>
        </p:txBody>
      </p:sp>
      <p:sp>
        <p:nvSpPr>
          <p:cNvPr id="22" name="Text 20"/>
          <p:cNvSpPr/>
          <p:nvPr/>
        </p:nvSpPr>
        <p:spPr>
          <a:xfrm>
            <a:off x="7660600" y="6003488"/>
            <a:ext cx="5971699" cy="783669"/>
          </a:xfrm>
          <a:prstGeom prst="rect">
            <a:avLst/>
          </a:prstGeom>
          <a:noFill/>
          <a:ln/>
        </p:spPr>
        <p:txBody>
          <a:bodyPr wrap="square" lIns="0" tIns="0" rIns="0" bIns="0" rtlCol="0" anchor="t"/>
          <a:lstStyle/>
          <a:p>
            <a:pPr marL="0" indent="0" algn="ctr">
              <a:lnSpc>
                <a:spcPts val="2050"/>
              </a:lnSpc>
              <a:buNone/>
            </a:pPr>
            <a:r>
              <a:rPr lang="en-US" sz="1400" dirty="0">
                <a:solidFill>
                  <a:srgbClr val="4C4C4C"/>
                </a:solidFill>
                <a:latin typeface="Noto Serif" pitchFamily="34" charset="0"/>
                <a:ea typeface="Noto Serif" pitchFamily="34" charset="-122"/>
                <a:cs typeface="Noto Serif" pitchFamily="34" charset="-120"/>
              </a:rPr>
              <a:t>CNN expects clear leaf images with proper lighting conditions. Preprocessing pipelines are optimized for field-captured smartphone photos.</a:t>
            </a:r>
            <a:endParaRPr lang="en-US" sz="1400" dirty="0"/>
          </a:p>
        </p:txBody>
      </p:sp>
      <p:sp>
        <p:nvSpPr>
          <p:cNvPr id="23" name="Rectangle 22">
            <a:extLst>
              <a:ext uri="{FF2B5EF4-FFF2-40B4-BE49-F238E27FC236}">
                <a16:creationId xmlns:a16="http://schemas.microsoft.com/office/drawing/2014/main" id="{F6A50447-4872-3244-B2D7-4D399E19EC16}"/>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69283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Dependencies</a:t>
            </a:r>
            <a:endParaRPr lang="en-US" sz="4450" dirty="0"/>
          </a:p>
        </p:txBody>
      </p:sp>
      <p:sp>
        <p:nvSpPr>
          <p:cNvPr id="3" name="Shape 1"/>
          <p:cNvSpPr/>
          <p:nvPr/>
        </p:nvSpPr>
        <p:spPr>
          <a:xfrm>
            <a:off x="793790" y="2855238"/>
            <a:ext cx="6407944" cy="3681413"/>
          </a:xfrm>
          <a:prstGeom prst="roundRect">
            <a:avLst>
              <a:gd name="adj" fmla="val 2588"/>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4" name="Text 2"/>
          <p:cNvSpPr/>
          <p:nvPr/>
        </p:nvSpPr>
        <p:spPr>
          <a:xfrm>
            <a:off x="1051084" y="3112532"/>
            <a:ext cx="3727728"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External API Dependencies</a:t>
            </a:r>
            <a:endParaRPr lang="en-US" sz="2200" dirty="0"/>
          </a:p>
        </p:txBody>
      </p:sp>
      <p:sp>
        <p:nvSpPr>
          <p:cNvPr id="5" name="Text 3"/>
          <p:cNvSpPr/>
          <p:nvPr/>
        </p:nvSpPr>
        <p:spPr>
          <a:xfrm>
            <a:off x="1051084" y="3602950"/>
            <a:ext cx="5893356" cy="1451610"/>
          </a:xfrm>
          <a:prstGeom prst="rect">
            <a:avLst/>
          </a:prstGeom>
          <a:noFill/>
          <a:ln/>
        </p:spPr>
        <p:txBody>
          <a:bodyPr wrap="square" lIns="0" tIns="0" rIns="0" bIns="0" rtlCol="0" anchor="t"/>
          <a:lstStyle/>
          <a:p>
            <a:pPr marL="0" indent="0" algn="l">
              <a:lnSpc>
                <a:spcPts val="2850"/>
              </a:lnSpc>
              <a:buNone/>
            </a:pPr>
            <a:r>
              <a:rPr lang="en-US" sz="1750" b="1" dirty="0">
                <a:solidFill>
                  <a:srgbClr val="4C4C4C"/>
                </a:solidFill>
                <a:latin typeface="Noto Serif" pitchFamily="34" charset="0"/>
                <a:ea typeface="Noto Serif" pitchFamily="34" charset="-122"/>
                <a:cs typeface="Noto Serif" pitchFamily="34" charset="-120"/>
              </a:rPr>
              <a:t>NASA POWER API:</a:t>
            </a:r>
            <a:r>
              <a:rPr lang="en-US" sz="1750" dirty="0">
                <a:solidFill>
                  <a:srgbClr val="4C4C4C"/>
                </a:solidFill>
                <a:latin typeface="Noto Serif" pitchFamily="34" charset="0"/>
                <a:ea typeface="Noto Serif" pitchFamily="34" charset="-122"/>
                <a:cs typeface="Noto Serif" pitchFamily="34" charset="-120"/>
              </a:rPr>
              <a:t> Provides weather data (humidity, rainfall, temperature). API failure reduces environmental context accuracy and network latency may increase response time.</a:t>
            </a:r>
            <a:endParaRPr lang="en-US" sz="1750" dirty="0"/>
          </a:p>
        </p:txBody>
      </p:sp>
      <p:sp>
        <p:nvSpPr>
          <p:cNvPr id="6" name="Text 4"/>
          <p:cNvSpPr/>
          <p:nvPr/>
        </p:nvSpPr>
        <p:spPr>
          <a:xfrm>
            <a:off x="1051084" y="5190649"/>
            <a:ext cx="5893356" cy="1088708"/>
          </a:xfrm>
          <a:prstGeom prst="rect">
            <a:avLst/>
          </a:prstGeom>
          <a:noFill/>
          <a:ln/>
        </p:spPr>
        <p:txBody>
          <a:bodyPr wrap="square" lIns="0" tIns="0" rIns="0" bIns="0" rtlCol="0" anchor="t"/>
          <a:lstStyle/>
          <a:p>
            <a:pPr marL="0" indent="0" algn="l">
              <a:lnSpc>
                <a:spcPts val="2850"/>
              </a:lnSpc>
              <a:buNone/>
            </a:pPr>
            <a:r>
              <a:rPr lang="en-US" sz="1750" b="1" dirty="0">
                <a:solidFill>
                  <a:srgbClr val="4C4C4C"/>
                </a:solidFill>
                <a:latin typeface="Noto Serif" pitchFamily="34" charset="0"/>
                <a:ea typeface="Noto Serif" pitchFamily="34" charset="-122"/>
                <a:cs typeface="Noto Serif" pitchFamily="34" charset="-120"/>
              </a:rPr>
              <a:t>Open Elevation API:</a:t>
            </a:r>
            <a:r>
              <a:rPr lang="en-US" sz="1750" dirty="0">
                <a:solidFill>
                  <a:srgbClr val="4C4C4C"/>
                </a:solidFill>
                <a:latin typeface="Noto Serif" pitchFamily="34" charset="0"/>
                <a:ea typeface="Noto Serif" pitchFamily="34" charset="-122"/>
                <a:cs typeface="Noto Serif" pitchFamily="34" charset="-120"/>
              </a:rPr>
              <a:t> Supplies elevation data for location based advisory. Service unavailability impacts terrain specific recommendations.</a:t>
            </a:r>
            <a:endParaRPr lang="en-US" sz="1750" dirty="0"/>
          </a:p>
        </p:txBody>
      </p:sp>
      <p:sp>
        <p:nvSpPr>
          <p:cNvPr id="7" name="Shape 5"/>
          <p:cNvSpPr/>
          <p:nvPr/>
        </p:nvSpPr>
        <p:spPr>
          <a:xfrm>
            <a:off x="7428548" y="2855238"/>
            <a:ext cx="6408063" cy="3681413"/>
          </a:xfrm>
          <a:prstGeom prst="roundRect">
            <a:avLst>
              <a:gd name="adj" fmla="val 2588"/>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8" name="Text 6"/>
          <p:cNvSpPr/>
          <p:nvPr/>
        </p:nvSpPr>
        <p:spPr>
          <a:xfrm>
            <a:off x="7685842" y="3112532"/>
            <a:ext cx="3801428"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Inter-Module Dependencies</a:t>
            </a:r>
            <a:endParaRPr lang="en-US" sz="2200" dirty="0"/>
          </a:p>
        </p:txBody>
      </p:sp>
      <p:sp>
        <p:nvSpPr>
          <p:cNvPr id="9" name="Text 7"/>
          <p:cNvSpPr/>
          <p:nvPr/>
        </p:nvSpPr>
        <p:spPr>
          <a:xfrm>
            <a:off x="7685842" y="3602950"/>
            <a:ext cx="5893475" cy="1451610"/>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Sequential workflow: CNN → RAG/KG Module → LLMs → Suggestions. Failure in one module affects the complete user experience due to tight integration in the monolithic structure.</a:t>
            </a:r>
            <a:endParaRPr lang="en-US" sz="1750" dirty="0"/>
          </a:p>
        </p:txBody>
      </p:sp>
      <p:sp>
        <p:nvSpPr>
          <p:cNvPr id="10" name="Rectangle 9">
            <a:extLst>
              <a:ext uri="{FF2B5EF4-FFF2-40B4-BE49-F238E27FC236}">
                <a16:creationId xmlns:a16="http://schemas.microsoft.com/office/drawing/2014/main" id="{4763B65B-DACB-68C2-E085-D75785ECC2AA}"/>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2">
            <a:extLst>
              <a:ext uri="{FF2B5EF4-FFF2-40B4-BE49-F238E27FC236}">
                <a16:creationId xmlns:a16="http://schemas.microsoft.com/office/drawing/2014/main" id="{EEAA5BFB-93CB-2428-13A8-8CC71371C3DE}"/>
              </a:ext>
            </a:extLst>
          </p:cNvPr>
          <p:cNvSpPr/>
          <p:nvPr/>
        </p:nvSpPr>
        <p:spPr>
          <a:xfrm>
            <a:off x="748069" y="2916912"/>
            <a:ext cx="91440" cy="3554833"/>
          </a:xfrm>
          <a:prstGeom prst="roundRect">
            <a:avLst>
              <a:gd name="adj" fmla="val 83349"/>
            </a:avLst>
          </a:prstGeom>
          <a:solidFill>
            <a:srgbClr val="E6DED2"/>
          </a:solidFill>
          <a:ln/>
        </p:spPr>
      </p:sp>
      <p:sp>
        <p:nvSpPr>
          <p:cNvPr id="12" name="Shape 2">
            <a:extLst>
              <a:ext uri="{FF2B5EF4-FFF2-40B4-BE49-F238E27FC236}">
                <a16:creationId xmlns:a16="http://schemas.microsoft.com/office/drawing/2014/main" id="{B2082494-EB4C-DF1C-F100-B4EBA389CFA4}"/>
              </a:ext>
            </a:extLst>
          </p:cNvPr>
          <p:cNvSpPr/>
          <p:nvPr/>
        </p:nvSpPr>
        <p:spPr>
          <a:xfrm>
            <a:off x="7367588" y="2916912"/>
            <a:ext cx="91440" cy="3554833"/>
          </a:xfrm>
          <a:prstGeom prst="roundRect">
            <a:avLst>
              <a:gd name="adj" fmla="val 83349"/>
            </a:avLst>
          </a:prstGeom>
          <a:solidFill>
            <a:srgbClr val="E6DED2"/>
          </a:solidFill>
          <a:ln/>
        </p:spPr>
      </p:sp>
    </p:spTree>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7891" y="450881"/>
            <a:ext cx="5959554"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Master Class Diagram</a:t>
            </a:r>
            <a:endParaRPr lang="en-US" sz="4450" dirty="0"/>
          </a:p>
        </p:txBody>
      </p:sp>
      <p:sp>
        <p:nvSpPr>
          <p:cNvPr id="3" name="Text 1"/>
          <p:cNvSpPr/>
          <p:nvPr/>
        </p:nvSpPr>
        <p:spPr>
          <a:xfrm>
            <a:off x="793790" y="3785830"/>
            <a:ext cx="13042821" cy="72580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4" name="Text 2"/>
          <p:cNvSpPr/>
          <p:nvPr/>
        </p:nvSpPr>
        <p:spPr>
          <a:xfrm>
            <a:off x="856852" y="4851796"/>
            <a:ext cx="13042821" cy="72580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5" name="Rectangle 4">
            <a:extLst>
              <a:ext uri="{FF2B5EF4-FFF2-40B4-BE49-F238E27FC236}">
                <a16:creationId xmlns:a16="http://schemas.microsoft.com/office/drawing/2014/main" id="{B9E91E96-9D73-CAE9-7F97-B72C67746B7D}"/>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7720E6C-43DE-37DE-3A44-631A513CD9C1}"/>
              </a:ext>
            </a:extLst>
          </p:cNvPr>
          <p:cNvPicPr>
            <a:picLocks noChangeAspect="1"/>
          </p:cNvPicPr>
          <p:nvPr/>
        </p:nvPicPr>
        <p:blipFill>
          <a:blip r:embed="rId3"/>
          <a:stretch>
            <a:fillRect/>
          </a:stretch>
        </p:blipFill>
        <p:spPr>
          <a:xfrm>
            <a:off x="517892" y="1159660"/>
            <a:ext cx="8633992" cy="6577087"/>
          </a:xfrm>
          <a:prstGeom prst="rect">
            <a:avLst/>
          </a:prstGeom>
        </p:spPr>
      </p:pic>
    </p:spTree>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3070" y="315665"/>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Use-Case Diagrams</a:t>
            </a:r>
            <a:endParaRPr lang="en-US" sz="4450" dirty="0"/>
          </a:p>
        </p:txBody>
      </p:sp>
      <p:sp>
        <p:nvSpPr>
          <p:cNvPr id="3" name="Text 1"/>
          <p:cNvSpPr/>
          <p:nvPr/>
        </p:nvSpPr>
        <p:spPr>
          <a:xfrm>
            <a:off x="793790" y="4205526"/>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4" name="Text 2"/>
          <p:cNvSpPr/>
          <p:nvPr/>
        </p:nvSpPr>
        <p:spPr>
          <a:xfrm>
            <a:off x="793790" y="4823579"/>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5" name="Rectangle 4">
            <a:extLst>
              <a:ext uri="{FF2B5EF4-FFF2-40B4-BE49-F238E27FC236}">
                <a16:creationId xmlns:a16="http://schemas.microsoft.com/office/drawing/2014/main" id="{4E35022A-9177-747C-4AE4-866EDC24F0B4}"/>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8B29BD5-A188-86A8-F9FC-ABE4B1992F73}"/>
              </a:ext>
            </a:extLst>
          </p:cNvPr>
          <p:cNvPicPr>
            <a:picLocks noChangeAspect="1"/>
          </p:cNvPicPr>
          <p:nvPr/>
        </p:nvPicPr>
        <p:blipFill>
          <a:blip r:embed="rId3"/>
          <a:stretch>
            <a:fillRect/>
          </a:stretch>
        </p:blipFill>
        <p:spPr>
          <a:xfrm>
            <a:off x="352261" y="1506733"/>
            <a:ext cx="6899877" cy="5216133"/>
          </a:xfrm>
          <a:prstGeom prst="rect">
            <a:avLst/>
          </a:prstGeom>
        </p:spPr>
      </p:pic>
      <p:pic>
        <p:nvPicPr>
          <p:cNvPr id="18" name="Picture 17">
            <a:extLst>
              <a:ext uri="{FF2B5EF4-FFF2-40B4-BE49-F238E27FC236}">
                <a16:creationId xmlns:a16="http://schemas.microsoft.com/office/drawing/2014/main" id="{0836E607-71FF-4AFB-A427-8BC836B53A06}"/>
              </a:ext>
            </a:extLst>
          </p:cNvPr>
          <p:cNvPicPr>
            <a:picLocks noChangeAspect="1"/>
          </p:cNvPicPr>
          <p:nvPr/>
        </p:nvPicPr>
        <p:blipFill>
          <a:blip r:embed="rId4"/>
          <a:stretch>
            <a:fillRect/>
          </a:stretch>
        </p:blipFill>
        <p:spPr>
          <a:xfrm>
            <a:off x="7944049" y="1506733"/>
            <a:ext cx="5200650" cy="5153025"/>
          </a:xfrm>
          <a:prstGeom prst="rect">
            <a:avLst/>
          </a:prstGeom>
        </p:spPr>
      </p:pic>
    </p:spTree>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397208-F026-7CA7-3FAB-9703A02A1378}"/>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60890DA-0D4A-42EA-C2B2-FBF0A1619901}"/>
              </a:ext>
            </a:extLst>
          </p:cNvPr>
          <p:cNvPicPr>
            <a:picLocks noChangeAspect="1"/>
          </p:cNvPicPr>
          <p:nvPr/>
        </p:nvPicPr>
        <p:blipFill>
          <a:blip r:embed="rId2"/>
          <a:stretch>
            <a:fillRect/>
          </a:stretch>
        </p:blipFill>
        <p:spPr>
          <a:xfrm>
            <a:off x="2576512" y="252412"/>
            <a:ext cx="9477375" cy="7724775"/>
          </a:xfrm>
          <a:prstGeom prst="rect">
            <a:avLst/>
          </a:prstGeom>
        </p:spPr>
      </p:pic>
    </p:spTree>
    <p:extLst>
      <p:ext uri="{BB962C8B-B14F-4D97-AF65-F5344CB8AC3E}">
        <p14:creationId xmlns:p14="http://schemas.microsoft.com/office/powerpoint/2010/main" val="1963847625"/>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6359" y="435451"/>
            <a:ext cx="8063627"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Entity-Relationship Diagrams</a:t>
            </a:r>
            <a:endParaRPr lang="en-US" sz="4450" dirty="0"/>
          </a:p>
        </p:txBody>
      </p:sp>
      <p:sp>
        <p:nvSpPr>
          <p:cNvPr id="3" name="Text 1"/>
          <p:cNvSpPr/>
          <p:nvPr/>
        </p:nvSpPr>
        <p:spPr>
          <a:xfrm>
            <a:off x="793790" y="4514493"/>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4" name="Rectangle 3">
            <a:extLst>
              <a:ext uri="{FF2B5EF4-FFF2-40B4-BE49-F238E27FC236}">
                <a16:creationId xmlns:a16="http://schemas.microsoft.com/office/drawing/2014/main" id="{45636A4A-4901-2631-01CA-B1F1DAA9563F}"/>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1124267-E407-47B8-4200-5372255BE13F}"/>
              </a:ext>
            </a:extLst>
          </p:cNvPr>
          <p:cNvPicPr>
            <a:picLocks noChangeAspect="1"/>
          </p:cNvPicPr>
          <p:nvPr/>
        </p:nvPicPr>
        <p:blipFill>
          <a:blip r:embed="rId3"/>
          <a:stretch>
            <a:fillRect/>
          </a:stretch>
        </p:blipFill>
        <p:spPr>
          <a:xfrm>
            <a:off x="595313" y="1215905"/>
            <a:ext cx="11583550" cy="6904157"/>
          </a:xfrm>
          <a:prstGeom prst="rect">
            <a:avLst/>
          </a:prstGeom>
        </p:spPr>
      </p:pic>
    </p:spTree>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839873"/>
            <a:ext cx="7181374"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Capstone Project Timeline</a:t>
            </a:r>
            <a:endParaRPr lang="en-US" sz="4450" dirty="0"/>
          </a:p>
        </p:txBody>
      </p:sp>
      <p:sp>
        <p:nvSpPr>
          <p:cNvPr id="5" name="Shape 3"/>
          <p:cNvSpPr/>
          <p:nvPr/>
        </p:nvSpPr>
        <p:spPr>
          <a:xfrm>
            <a:off x="793790" y="3570208"/>
            <a:ext cx="4196358" cy="2819519"/>
          </a:xfrm>
          <a:prstGeom prst="roundRect">
            <a:avLst>
              <a:gd name="adj" fmla="val 5189"/>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6" name="Shape 4"/>
          <p:cNvSpPr/>
          <p:nvPr/>
        </p:nvSpPr>
        <p:spPr>
          <a:xfrm>
            <a:off x="763310" y="3570208"/>
            <a:ext cx="121920" cy="2819519"/>
          </a:xfrm>
          <a:prstGeom prst="roundRect">
            <a:avLst>
              <a:gd name="adj" fmla="val 78139"/>
            </a:avLst>
          </a:prstGeom>
          <a:solidFill>
            <a:srgbClr val="E6DED2"/>
          </a:solidFill>
          <a:ln/>
        </p:spPr>
      </p:sp>
      <p:sp>
        <p:nvSpPr>
          <p:cNvPr id="7" name="Text 5"/>
          <p:cNvSpPr/>
          <p:nvPr/>
        </p:nvSpPr>
        <p:spPr>
          <a:xfrm>
            <a:off x="1520071" y="3827502"/>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Phase I</a:t>
            </a:r>
            <a:endParaRPr lang="en-US" sz="2200" dirty="0"/>
          </a:p>
        </p:txBody>
      </p:sp>
      <p:sp>
        <p:nvSpPr>
          <p:cNvPr id="8" name="Text 6"/>
          <p:cNvSpPr/>
          <p:nvPr/>
        </p:nvSpPr>
        <p:spPr>
          <a:xfrm>
            <a:off x="1142524" y="4317921"/>
            <a:ext cx="3590330" cy="1451610"/>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Literature review, requirements gathering, initial architecture design, and proof-of-concept development</a:t>
            </a:r>
            <a:endParaRPr lang="en-US" sz="1750" dirty="0"/>
          </a:p>
        </p:txBody>
      </p:sp>
      <p:sp>
        <p:nvSpPr>
          <p:cNvPr id="9" name="Shape 7"/>
          <p:cNvSpPr/>
          <p:nvPr/>
        </p:nvSpPr>
        <p:spPr>
          <a:xfrm>
            <a:off x="5216962" y="3570208"/>
            <a:ext cx="4196358" cy="2819519"/>
          </a:xfrm>
          <a:prstGeom prst="roundRect">
            <a:avLst>
              <a:gd name="adj" fmla="val 5189"/>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0" name="Shape 8"/>
          <p:cNvSpPr/>
          <p:nvPr/>
        </p:nvSpPr>
        <p:spPr>
          <a:xfrm>
            <a:off x="5186482" y="3570208"/>
            <a:ext cx="121920" cy="2819519"/>
          </a:xfrm>
          <a:prstGeom prst="roundRect">
            <a:avLst>
              <a:gd name="adj" fmla="val 78139"/>
            </a:avLst>
          </a:prstGeom>
          <a:solidFill>
            <a:srgbClr val="E6DED2"/>
          </a:solidFill>
          <a:ln/>
        </p:spPr>
      </p:sp>
      <p:sp>
        <p:nvSpPr>
          <p:cNvPr id="11" name="Text 9"/>
          <p:cNvSpPr/>
          <p:nvPr/>
        </p:nvSpPr>
        <p:spPr>
          <a:xfrm>
            <a:off x="5943243" y="3827502"/>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Phase II</a:t>
            </a:r>
            <a:endParaRPr lang="en-US" sz="2200" dirty="0"/>
          </a:p>
        </p:txBody>
      </p:sp>
      <p:sp>
        <p:nvSpPr>
          <p:cNvPr id="12" name="Text 10"/>
          <p:cNvSpPr/>
          <p:nvPr/>
        </p:nvSpPr>
        <p:spPr>
          <a:xfrm>
            <a:off x="5565696" y="4317921"/>
            <a:ext cx="3590330" cy="1451610"/>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Core module implementation, CNN training, LLM integration, database design, and initial testing</a:t>
            </a:r>
            <a:endParaRPr lang="en-US" sz="1750" dirty="0"/>
          </a:p>
        </p:txBody>
      </p:sp>
      <p:sp>
        <p:nvSpPr>
          <p:cNvPr id="13" name="Shape 11"/>
          <p:cNvSpPr/>
          <p:nvPr/>
        </p:nvSpPr>
        <p:spPr>
          <a:xfrm>
            <a:off x="9640133" y="3570208"/>
            <a:ext cx="4196358" cy="2819519"/>
          </a:xfrm>
          <a:prstGeom prst="roundRect">
            <a:avLst>
              <a:gd name="adj" fmla="val 5189"/>
            </a:avLst>
          </a:prstGeom>
          <a:solidFill>
            <a:srgbClr val="FDFBF7"/>
          </a:solidFill>
          <a:ln w="30480">
            <a:solidFill>
              <a:srgbClr val="E6DED2"/>
            </a:solidFill>
            <a:prstDash val="solid"/>
          </a:ln>
          <a:effectLst>
            <a:outerShdw dist="20320" dir="2700000" algn="bl" rotWithShape="0">
              <a:srgbClr val="E6DED2">
                <a:alpha val="100000"/>
              </a:srgbClr>
            </a:outerShdw>
          </a:effectLst>
        </p:spPr>
      </p:sp>
      <p:sp>
        <p:nvSpPr>
          <p:cNvPr id="14" name="Shape 12"/>
          <p:cNvSpPr/>
          <p:nvPr/>
        </p:nvSpPr>
        <p:spPr>
          <a:xfrm>
            <a:off x="9609653" y="3570208"/>
            <a:ext cx="121920" cy="2819519"/>
          </a:xfrm>
          <a:prstGeom prst="roundRect">
            <a:avLst>
              <a:gd name="adj" fmla="val 78139"/>
            </a:avLst>
          </a:prstGeom>
          <a:solidFill>
            <a:srgbClr val="E6DED2"/>
          </a:solidFill>
          <a:ln/>
        </p:spPr>
      </p:sp>
      <p:sp>
        <p:nvSpPr>
          <p:cNvPr id="15" name="Text 13"/>
          <p:cNvSpPr/>
          <p:nvPr/>
        </p:nvSpPr>
        <p:spPr>
          <a:xfrm>
            <a:off x="10366415" y="3827502"/>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Phase III</a:t>
            </a:r>
            <a:endParaRPr lang="en-US" sz="2200" dirty="0"/>
          </a:p>
        </p:txBody>
      </p:sp>
      <p:sp>
        <p:nvSpPr>
          <p:cNvPr id="16" name="Text 14"/>
          <p:cNvSpPr/>
          <p:nvPr/>
        </p:nvSpPr>
        <p:spPr>
          <a:xfrm>
            <a:off x="9988868" y="4317921"/>
            <a:ext cx="3590330" cy="1814513"/>
          </a:xfrm>
          <a:prstGeom prst="rect">
            <a:avLst/>
          </a:prstGeom>
          <a:noFill/>
          <a:ln/>
        </p:spPr>
        <p:txBody>
          <a:bodyPr wrap="square" lIns="0" tIns="0" rIns="0" bIns="0" rtlCol="0" anchor="t"/>
          <a:lstStyle/>
          <a:p>
            <a:pPr marL="0" indent="0" algn="ctr">
              <a:lnSpc>
                <a:spcPts val="2850"/>
              </a:lnSpc>
              <a:buNone/>
            </a:pPr>
            <a:r>
              <a:rPr lang="en-US" sz="1750" dirty="0">
                <a:solidFill>
                  <a:srgbClr val="4C4C4C"/>
                </a:solidFill>
                <a:latin typeface="Noto Serif" pitchFamily="34" charset="0"/>
                <a:ea typeface="Noto Serif" pitchFamily="34" charset="-122"/>
                <a:cs typeface="Noto Serif" pitchFamily="34" charset="-120"/>
              </a:rPr>
              <a:t>System integration, user interface development, comprehensive testing, performance optimization, and final evaluation</a:t>
            </a:r>
            <a:endParaRPr lang="en-US" sz="1750" dirty="0"/>
          </a:p>
        </p:txBody>
      </p:sp>
      <p:sp>
        <p:nvSpPr>
          <p:cNvPr id="17" name="Rectangle 16">
            <a:extLst>
              <a:ext uri="{FF2B5EF4-FFF2-40B4-BE49-F238E27FC236}">
                <a16:creationId xmlns:a16="http://schemas.microsoft.com/office/drawing/2014/main" id="{A2EEEF86-7899-F6AA-3F47-63A0B09277BE}"/>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43EF9827-746B-0130-9C65-20B17E6DF6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66845"/>
            <a:ext cx="14630400" cy="33289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C3BC9E-7E51-60FA-8B6D-10D6A125A4E5}"/>
              </a:ext>
            </a:extLst>
          </p:cNvPr>
          <p:cNvSpPr txBox="1"/>
          <p:nvPr/>
        </p:nvSpPr>
        <p:spPr>
          <a:xfrm>
            <a:off x="-3" y="1347242"/>
            <a:ext cx="14630400" cy="6875215"/>
          </a:xfrm>
          <a:prstGeom prst="rect">
            <a:avLst/>
          </a:prstGeom>
          <a:noFill/>
        </p:spPr>
        <p:txBody>
          <a:bodyPr wrap="square">
            <a:spAutoFit/>
          </a:bodyPr>
          <a:lstStyle/>
          <a:p>
            <a:pPr marL="0" marR="0" algn="just">
              <a:lnSpc>
                <a:spcPct val="150000"/>
              </a:lnSpc>
              <a:spcBef>
                <a:spcPts val="1200"/>
              </a:spcBef>
              <a:spcAft>
                <a:spcPts val="1200"/>
              </a:spcAft>
              <a:buNone/>
              <a:tabLst>
                <a:tab pos="342900" algn="l"/>
              </a:tabLst>
            </a:pPr>
            <a:r>
              <a:rPr lang="en-IN" sz="1800" dirty="0">
                <a:solidFill>
                  <a:srgbClr val="00000A"/>
                </a:solidFill>
                <a:effectLst/>
                <a:latin typeface="Times New Roman" panose="02020603050405020304" pitchFamily="18" charset="0"/>
                <a:ea typeface="Times New Roman" panose="02020603050405020304" pitchFamily="18" charset="0"/>
              </a:rPr>
              <a:t>[1] Dr. Selva Kumar S., </a:t>
            </a:r>
            <a:r>
              <a:rPr lang="en-IN" sz="1800" dirty="0" err="1">
                <a:solidFill>
                  <a:srgbClr val="00000A"/>
                </a:solidFill>
                <a:effectLst/>
                <a:latin typeface="Times New Roman" panose="02020603050405020304" pitchFamily="18" charset="0"/>
                <a:ea typeface="Times New Roman" panose="02020603050405020304" pitchFamily="18" charset="0"/>
              </a:rPr>
              <a:t>Imadh</a:t>
            </a:r>
            <a:r>
              <a:rPr lang="en-IN" sz="1800" dirty="0">
                <a:solidFill>
                  <a:srgbClr val="00000A"/>
                </a:solidFill>
                <a:effectLst/>
                <a:latin typeface="Times New Roman" panose="02020603050405020304" pitchFamily="18" charset="0"/>
                <a:ea typeface="Times New Roman" panose="02020603050405020304" pitchFamily="18" charset="0"/>
              </a:rPr>
              <a:t> Ajaz Banday, Vibha Venkatesh Shanbhag, Afifah Khan Mohammed Ajmal Khan and Manikantha Gada, “Overcoming LLM Challenges Using RAG-Driven Precision in Coffee Leaf Disease Remediation,” </a:t>
            </a:r>
            <a:r>
              <a:rPr lang="en-IN" sz="1800" i="1" dirty="0">
                <a:solidFill>
                  <a:srgbClr val="00000A"/>
                </a:solidFill>
                <a:effectLst/>
                <a:latin typeface="Times New Roman" panose="02020603050405020304" pitchFamily="18" charset="0"/>
                <a:ea typeface="Times New Roman" panose="02020603050405020304" pitchFamily="18" charset="0"/>
              </a:rPr>
              <a:t>IEEE International Conference on Emerging Technologies in Computer Science</a:t>
            </a:r>
            <a:r>
              <a:rPr lang="en-IN" sz="1800" dirty="0">
                <a:solidFill>
                  <a:srgbClr val="00000A"/>
                </a:solidFill>
                <a:effectLst/>
                <a:latin typeface="Times New Roman" panose="02020603050405020304" pitchFamily="18" charset="0"/>
                <a:ea typeface="Times New Roman" panose="02020603050405020304" pitchFamily="18" charset="0"/>
              </a:rPr>
              <a:t>, 2024.</a:t>
            </a:r>
            <a:endParaRPr lang="en-US" sz="1800" dirty="0">
              <a:effectLst/>
              <a:latin typeface="Times New Roman" panose="02020603050405020304" pitchFamily="18" charset="0"/>
              <a:ea typeface="Times New Roman" panose="02020603050405020304" pitchFamily="18" charset="0"/>
            </a:endParaRPr>
          </a:p>
          <a:p>
            <a:pPr marL="0" marR="0" algn="just">
              <a:lnSpc>
                <a:spcPct val="150000"/>
              </a:lnSpc>
              <a:spcBef>
                <a:spcPts val="1200"/>
              </a:spcBef>
              <a:spcAft>
                <a:spcPts val="1200"/>
              </a:spcAft>
              <a:buNone/>
              <a:tabLst>
                <a:tab pos="342900" algn="l"/>
              </a:tabLst>
            </a:pPr>
            <a:r>
              <a:rPr lang="en-IN" sz="1800" dirty="0">
                <a:solidFill>
                  <a:srgbClr val="00000A"/>
                </a:solidFill>
                <a:effectLst/>
                <a:latin typeface="Times New Roman" panose="02020603050405020304" pitchFamily="18" charset="0"/>
                <a:ea typeface="Times New Roman" panose="02020603050405020304" pitchFamily="18" charset="0"/>
              </a:rPr>
              <a:t>[2] X. Zhao et al., “Implementation of Large Language Models and Agricultural Knowledge Graphs for Efficient Plant Disease Detection,” </a:t>
            </a:r>
            <a:r>
              <a:rPr lang="en-IN" sz="1800" i="1" dirty="0">
                <a:solidFill>
                  <a:srgbClr val="00000A"/>
                </a:solidFill>
                <a:effectLst/>
                <a:latin typeface="Times New Roman" panose="02020603050405020304" pitchFamily="18" charset="0"/>
                <a:ea typeface="Times New Roman" panose="02020603050405020304" pitchFamily="18" charset="0"/>
              </a:rPr>
              <a:t>Agriculture</a:t>
            </a:r>
            <a:r>
              <a:rPr lang="en-IN" sz="1800" dirty="0">
                <a:solidFill>
                  <a:srgbClr val="00000A"/>
                </a:solidFill>
                <a:effectLst/>
                <a:latin typeface="Times New Roman" panose="02020603050405020304" pitchFamily="18" charset="0"/>
                <a:ea typeface="Times New Roman" panose="02020603050405020304" pitchFamily="18" charset="0"/>
              </a:rPr>
              <a:t>, vol. 14, no. 8, 2024.</a:t>
            </a:r>
            <a:endParaRPr lang="en-US" sz="1800" dirty="0">
              <a:effectLst/>
              <a:latin typeface="Times New Roman" panose="02020603050405020304" pitchFamily="18" charset="0"/>
              <a:ea typeface="Times New Roman" panose="02020603050405020304" pitchFamily="18" charset="0"/>
            </a:endParaRPr>
          </a:p>
          <a:p>
            <a:pPr marL="0" marR="0" algn="just">
              <a:lnSpc>
                <a:spcPct val="150000"/>
              </a:lnSpc>
              <a:spcBef>
                <a:spcPts val="1200"/>
              </a:spcBef>
              <a:spcAft>
                <a:spcPts val="1200"/>
              </a:spcAft>
              <a:buNone/>
              <a:tabLst>
                <a:tab pos="342900" algn="l"/>
              </a:tabLst>
            </a:pPr>
            <a:r>
              <a:rPr lang="en-IN" sz="1800" dirty="0">
                <a:solidFill>
                  <a:srgbClr val="00000A"/>
                </a:solidFill>
                <a:effectLst/>
                <a:latin typeface="Times New Roman" panose="02020603050405020304" pitchFamily="18" charset="0"/>
                <a:ea typeface="Times New Roman" panose="02020603050405020304" pitchFamily="18" charset="0"/>
              </a:rPr>
              <a:t>[3] A. K. S. et al., “Coffee Leaf Disease Detection Using Convolution Neural Network,” </a:t>
            </a:r>
            <a:r>
              <a:rPr lang="en-IN" sz="1800" i="1" dirty="0" err="1">
                <a:solidFill>
                  <a:srgbClr val="00000A"/>
                </a:solidFill>
                <a:effectLst/>
                <a:latin typeface="Times New Roman" panose="02020603050405020304" pitchFamily="18" charset="0"/>
                <a:ea typeface="Times New Roman" panose="02020603050405020304" pitchFamily="18" charset="0"/>
              </a:rPr>
              <a:t>Grenze</a:t>
            </a:r>
            <a:r>
              <a:rPr lang="en-IN" sz="1800" i="1" dirty="0">
                <a:solidFill>
                  <a:srgbClr val="00000A"/>
                </a:solidFill>
                <a:effectLst/>
                <a:latin typeface="Times New Roman" panose="02020603050405020304" pitchFamily="18" charset="0"/>
                <a:ea typeface="Times New Roman" panose="02020603050405020304" pitchFamily="18" charset="0"/>
              </a:rPr>
              <a:t> International Journal of Engineering and Technology</a:t>
            </a:r>
            <a:r>
              <a:rPr lang="en-IN" sz="1800" dirty="0">
                <a:solidFill>
                  <a:srgbClr val="00000A"/>
                </a:solidFill>
                <a:effectLst/>
                <a:latin typeface="Times New Roman" panose="02020603050405020304" pitchFamily="18" charset="0"/>
                <a:ea typeface="Times New Roman" panose="02020603050405020304" pitchFamily="18" charset="0"/>
              </a:rPr>
              <a:t>, 2024.</a:t>
            </a:r>
            <a:endParaRPr lang="en-US" sz="1800" dirty="0">
              <a:effectLst/>
              <a:latin typeface="Times New Roman" panose="02020603050405020304" pitchFamily="18" charset="0"/>
              <a:ea typeface="Times New Roman" panose="02020603050405020304" pitchFamily="18" charset="0"/>
            </a:endParaRPr>
          </a:p>
          <a:p>
            <a:pPr marL="0" marR="0" algn="just">
              <a:lnSpc>
                <a:spcPct val="150000"/>
              </a:lnSpc>
              <a:spcBef>
                <a:spcPts val="1200"/>
              </a:spcBef>
              <a:spcAft>
                <a:spcPts val="1200"/>
              </a:spcAft>
              <a:buNone/>
              <a:tabLst>
                <a:tab pos="342900" algn="l"/>
              </a:tabLst>
            </a:pPr>
            <a:r>
              <a:rPr lang="en-IN" sz="1800" dirty="0">
                <a:solidFill>
                  <a:srgbClr val="00000A"/>
                </a:solidFill>
                <a:effectLst/>
                <a:latin typeface="Times New Roman" panose="02020603050405020304" pitchFamily="18" charset="0"/>
                <a:ea typeface="Times New Roman" panose="02020603050405020304" pitchFamily="18" charset="0"/>
              </a:rPr>
              <a:t>[4] R. Sapkota et al., “Multi-Modal LLMs in Agriculture: A Comprehensive Review,” </a:t>
            </a:r>
            <a:r>
              <a:rPr lang="en-IN" sz="1800" i="1" dirty="0">
                <a:solidFill>
                  <a:srgbClr val="00000A"/>
                </a:solidFill>
                <a:effectLst/>
                <a:latin typeface="Times New Roman" panose="02020603050405020304" pitchFamily="18" charset="0"/>
                <a:ea typeface="Times New Roman" panose="02020603050405020304" pitchFamily="18" charset="0"/>
              </a:rPr>
              <a:t>IEEE Transactions on Automation Science and Engineering</a:t>
            </a:r>
            <a:r>
              <a:rPr lang="en-IN" sz="1800" dirty="0">
                <a:solidFill>
                  <a:srgbClr val="00000A"/>
                </a:solidFill>
                <a:effectLst/>
                <a:latin typeface="Times New Roman" panose="02020603050405020304" pitchFamily="18" charset="0"/>
                <a:ea typeface="Times New Roman" panose="02020603050405020304" pitchFamily="18" charset="0"/>
              </a:rPr>
              <a:t>, 2024.</a:t>
            </a:r>
            <a:endParaRPr lang="en-US" sz="1800" dirty="0">
              <a:effectLst/>
              <a:latin typeface="Times New Roman" panose="02020603050405020304" pitchFamily="18" charset="0"/>
              <a:ea typeface="Times New Roman" panose="02020603050405020304" pitchFamily="18" charset="0"/>
            </a:endParaRPr>
          </a:p>
          <a:p>
            <a:pPr marL="0" marR="0" algn="just">
              <a:lnSpc>
                <a:spcPct val="150000"/>
              </a:lnSpc>
              <a:spcBef>
                <a:spcPts val="1200"/>
              </a:spcBef>
              <a:spcAft>
                <a:spcPts val="1200"/>
              </a:spcAft>
              <a:buNone/>
              <a:tabLst>
                <a:tab pos="342900" algn="l"/>
              </a:tabLst>
            </a:pPr>
            <a:r>
              <a:rPr lang="en-IN" sz="1800" dirty="0">
                <a:solidFill>
                  <a:srgbClr val="00000A"/>
                </a:solidFill>
                <a:effectLst/>
                <a:latin typeface="Times New Roman" panose="02020603050405020304" pitchFamily="18" charset="0"/>
                <a:ea typeface="Times New Roman" panose="02020603050405020304" pitchFamily="18" charset="0"/>
              </a:rPr>
              <a:t>[5] N. Singh et al., “</a:t>
            </a:r>
            <a:r>
              <a:rPr lang="en-IN" sz="1800" dirty="0" err="1">
                <a:solidFill>
                  <a:srgbClr val="00000A"/>
                </a:solidFill>
                <a:effectLst/>
                <a:latin typeface="Times New Roman" panose="02020603050405020304" pitchFamily="18" charset="0"/>
                <a:ea typeface="Times New Roman" panose="02020603050405020304" pitchFamily="18" charset="0"/>
              </a:rPr>
              <a:t>Farmer.Chat</a:t>
            </a:r>
            <a:r>
              <a:rPr lang="en-IN" sz="1800" dirty="0">
                <a:solidFill>
                  <a:srgbClr val="00000A"/>
                </a:solidFill>
                <a:effectLst/>
                <a:latin typeface="Times New Roman" panose="02020603050405020304" pitchFamily="18" charset="0"/>
                <a:ea typeface="Times New Roman" panose="02020603050405020304" pitchFamily="18" charset="0"/>
              </a:rPr>
              <a:t>: Scaling AI-Powered Agricultural Services for Smallholder Farmers,” </a:t>
            </a:r>
            <a:r>
              <a:rPr lang="en-IN" sz="1800" i="1" dirty="0">
                <a:solidFill>
                  <a:srgbClr val="00000A"/>
                </a:solidFill>
                <a:effectLst/>
                <a:latin typeface="Times New Roman" panose="02020603050405020304" pitchFamily="18" charset="0"/>
                <a:ea typeface="Times New Roman" panose="02020603050405020304" pitchFamily="18" charset="0"/>
              </a:rPr>
              <a:t>ACM Proceedings</a:t>
            </a:r>
            <a:r>
              <a:rPr lang="en-IN" sz="1800" dirty="0">
                <a:solidFill>
                  <a:srgbClr val="00000A"/>
                </a:solidFill>
                <a:effectLst/>
                <a:latin typeface="Times New Roman" panose="02020603050405020304" pitchFamily="18" charset="0"/>
                <a:ea typeface="Times New Roman" panose="02020603050405020304" pitchFamily="18" charset="0"/>
              </a:rPr>
              <a:t>, 2024.</a:t>
            </a:r>
            <a:endParaRPr lang="en-US" sz="1800" dirty="0">
              <a:effectLst/>
              <a:latin typeface="Times New Roman" panose="02020603050405020304" pitchFamily="18" charset="0"/>
              <a:ea typeface="Times New Roman" panose="02020603050405020304" pitchFamily="18" charset="0"/>
            </a:endParaRPr>
          </a:p>
          <a:p>
            <a:pPr marL="0" marR="0" algn="just">
              <a:lnSpc>
                <a:spcPct val="150000"/>
              </a:lnSpc>
              <a:spcBef>
                <a:spcPts val="1200"/>
              </a:spcBef>
              <a:spcAft>
                <a:spcPts val="1200"/>
              </a:spcAft>
              <a:buNone/>
              <a:tabLst>
                <a:tab pos="342900" algn="l"/>
              </a:tabLst>
            </a:pPr>
            <a:r>
              <a:rPr lang="en-IN" sz="1800" dirty="0">
                <a:solidFill>
                  <a:srgbClr val="00000A"/>
                </a:solidFill>
                <a:effectLst/>
                <a:latin typeface="Times New Roman" panose="02020603050405020304" pitchFamily="18" charset="0"/>
                <a:ea typeface="Times New Roman" panose="02020603050405020304" pitchFamily="18" charset="0"/>
              </a:rPr>
              <a:t>[6] C. S. Santhosha and K. K. Umesh, “An Ensemble Approach for Coffee Crop Yield Prediction Based on Agronomic Factors,” </a:t>
            </a:r>
            <a:r>
              <a:rPr lang="en-IN" sz="1800" i="1" dirty="0">
                <a:solidFill>
                  <a:srgbClr val="00000A"/>
                </a:solidFill>
                <a:effectLst/>
                <a:latin typeface="Times New Roman" panose="02020603050405020304" pitchFamily="18" charset="0"/>
                <a:ea typeface="Times New Roman" panose="02020603050405020304" pitchFamily="18" charset="0"/>
              </a:rPr>
              <a:t>ASEAN Engineering Journal</a:t>
            </a:r>
            <a:r>
              <a:rPr lang="en-IN" sz="1800" dirty="0">
                <a:solidFill>
                  <a:srgbClr val="00000A"/>
                </a:solidFill>
                <a:effectLst/>
                <a:latin typeface="Times New Roman" panose="02020603050405020304" pitchFamily="18" charset="0"/>
                <a:ea typeface="Times New Roman" panose="02020603050405020304" pitchFamily="18" charset="0"/>
              </a:rPr>
              <a:t>, vol. 13, no. 3, 2023.</a:t>
            </a:r>
            <a:endParaRPr lang="en-US" sz="1800" dirty="0">
              <a:effectLst/>
              <a:latin typeface="Times New Roman" panose="02020603050405020304" pitchFamily="18" charset="0"/>
              <a:ea typeface="Times New Roman" panose="02020603050405020304" pitchFamily="18" charset="0"/>
            </a:endParaRPr>
          </a:p>
          <a:p>
            <a:pPr marL="0" marR="0" algn="just">
              <a:lnSpc>
                <a:spcPct val="150000"/>
              </a:lnSpc>
              <a:spcBef>
                <a:spcPts val="1200"/>
              </a:spcBef>
              <a:spcAft>
                <a:spcPts val="1200"/>
              </a:spcAft>
              <a:buNone/>
              <a:tabLst>
                <a:tab pos="342900" algn="l"/>
              </a:tabLst>
            </a:pPr>
            <a:r>
              <a:rPr lang="en-IN" sz="1800" dirty="0">
                <a:solidFill>
                  <a:srgbClr val="00000A"/>
                </a:solidFill>
                <a:effectLst/>
                <a:latin typeface="Times New Roman" panose="02020603050405020304" pitchFamily="18" charset="0"/>
                <a:ea typeface="Times New Roman" panose="02020603050405020304" pitchFamily="18" charset="0"/>
              </a:rPr>
              <a:t>[7] S. Patil et al., “Influence of Elevation and Rainfall on Leaf Growth, Bean Characteristics and Yield Components of Coffee Under Changing Climatic Conditions in Karnataka, India,” </a:t>
            </a:r>
            <a:r>
              <a:rPr lang="en-IN" sz="1800" i="1" dirty="0">
                <a:solidFill>
                  <a:srgbClr val="00000A"/>
                </a:solidFill>
                <a:effectLst/>
                <a:latin typeface="Times New Roman" panose="02020603050405020304" pitchFamily="18" charset="0"/>
                <a:ea typeface="Times New Roman" panose="02020603050405020304" pitchFamily="18" charset="0"/>
              </a:rPr>
              <a:t>Journal of Plantation Crops</a:t>
            </a:r>
            <a:r>
              <a:rPr lang="en-IN" sz="1800" dirty="0">
                <a:solidFill>
                  <a:srgbClr val="00000A"/>
                </a:solidFill>
                <a:effectLst/>
                <a:latin typeface="Times New Roman" panose="02020603050405020304" pitchFamily="18" charset="0"/>
                <a:ea typeface="Times New Roman" panose="02020603050405020304" pitchFamily="18" charset="0"/>
              </a:rPr>
              <a:t>, vol. 50, no. 2, pp. 78–84, 2022.</a:t>
            </a:r>
            <a:endParaRPr lang="en-US" sz="1800" dirty="0">
              <a:effectLst/>
              <a:latin typeface="Times New Roman" panose="02020603050405020304" pitchFamily="18" charset="0"/>
              <a:ea typeface="Times New Roman" panose="02020603050405020304" pitchFamily="18" charset="0"/>
            </a:endParaRPr>
          </a:p>
        </p:txBody>
      </p:sp>
      <p:sp>
        <p:nvSpPr>
          <p:cNvPr id="4" name="Rectangle 3">
            <a:extLst>
              <a:ext uri="{FF2B5EF4-FFF2-40B4-BE49-F238E27FC236}">
                <a16:creationId xmlns:a16="http://schemas.microsoft.com/office/drawing/2014/main" id="{6E50DEB8-BD71-E61B-450C-FAA267731C41}"/>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9795785-DD0B-3A02-DFAA-3C7DEDBAA8BA}"/>
              </a:ext>
            </a:extLst>
          </p:cNvPr>
          <p:cNvSpPr txBox="1"/>
          <p:nvPr/>
        </p:nvSpPr>
        <p:spPr>
          <a:xfrm>
            <a:off x="110358" y="346842"/>
            <a:ext cx="7397968" cy="752257"/>
          </a:xfrm>
          <a:prstGeom prst="rect">
            <a:avLst/>
          </a:prstGeom>
          <a:noFill/>
        </p:spPr>
        <p:txBody>
          <a:bodyPr wrap="square">
            <a:spAutoFit/>
          </a:bodyPr>
          <a:lstStyle/>
          <a:p>
            <a:pPr marL="0" indent="0" algn="l">
              <a:lnSpc>
                <a:spcPts val="5550"/>
              </a:lnSpc>
              <a:buNone/>
            </a:pPr>
            <a:r>
              <a:rPr lang="en-US" sz="3600" dirty="0">
                <a:solidFill>
                  <a:srgbClr val="3A3A3A"/>
                </a:solidFill>
                <a:latin typeface="Noto Serif Medium" pitchFamily="34" charset="0"/>
                <a:ea typeface="Noto Serif Medium" pitchFamily="34" charset="-122"/>
                <a:cs typeface="Noto Serif Medium" pitchFamily="34" charset="-120"/>
              </a:rPr>
              <a:t>References</a:t>
            </a:r>
            <a:endParaRPr lang="en-US" sz="1800" dirty="0"/>
          </a:p>
        </p:txBody>
      </p:sp>
    </p:spTree>
    <p:extLst>
      <p:ext uri="{BB962C8B-B14F-4D97-AF65-F5344CB8AC3E}">
        <p14:creationId xmlns:p14="http://schemas.microsoft.com/office/powerpoint/2010/main" val="926896309"/>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3227427"/>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Thank You</a:t>
            </a:r>
            <a:endParaRPr lang="en-US" sz="4450" dirty="0"/>
          </a:p>
        </p:txBody>
      </p:sp>
      <p:sp>
        <p:nvSpPr>
          <p:cNvPr id="3" name="Text 1"/>
          <p:cNvSpPr/>
          <p:nvPr/>
        </p:nvSpPr>
        <p:spPr>
          <a:xfrm>
            <a:off x="793790" y="427636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PlantIQ represents a farmer-first approach to agricultural AI combining cutting-edge technology with practical design decisions tailored for real world constraints and academic excellence.</a:t>
            </a:r>
            <a:endParaRPr lang="en-US" sz="1750" dirty="0"/>
          </a:p>
        </p:txBody>
      </p:sp>
      <p:sp>
        <p:nvSpPr>
          <p:cNvPr id="4" name="Rectangle 3">
            <a:extLst>
              <a:ext uri="{FF2B5EF4-FFF2-40B4-BE49-F238E27FC236}">
                <a16:creationId xmlns:a16="http://schemas.microsoft.com/office/drawing/2014/main" id="{2BCE4C51-AFA9-7FFD-46AC-95D4536EBD89}"/>
              </a:ext>
            </a:extLst>
          </p:cNvPr>
          <p:cNvSpPr/>
          <p:nvPr/>
        </p:nvSpPr>
        <p:spPr>
          <a:xfrm>
            <a:off x="12841014" y="7748752"/>
            <a:ext cx="1694793" cy="386255"/>
          </a:xfrm>
          <a:prstGeom prst="rect">
            <a:avLst/>
          </a:prstGeom>
          <a:solidFill>
            <a:srgbClr val="FD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med">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919</TotalTime>
  <Words>1877</Words>
  <Application>Microsoft Office PowerPoint</Application>
  <PresentationFormat>Custom</PresentationFormat>
  <Paragraphs>213</Paragraphs>
  <Slides>25</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Noto Serif</vt:lpstr>
      <vt:lpstr>Noto Serif Medium</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KernelOS</dc:creator>
  <cp:lastModifiedBy>EC S&amp;H 2I NADA JEEL BHIKHUBHAI</cp:lastModifiedBy>
  <cp:revision>23</cp:revision>
  <dcterms:created xsi:type="dcterms:W3CDTF">2026-02-15T17:41:40Z</dcterms:created>
  <dcterms:modified xsi:type="dcterms:W3CDTF">2026-02-26T03:56:35Z</dcterms:modified>
</cp:coreProperties>
</file>